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25"/>
  </p:notesMasterIdLst>
  <p:handoutMasterIdLst>
    <p:handoutMasterId r:id="rId26"/>
  </p:handout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30"/>
  </p:normalViewPr>
  <p:slideViewPr>
    <p:cSldViewPr showGuides="1">
      <p:cViewPr varScale="1">
        <p:scale>
          <a:sx n="84" d="100"/>
          <a:sy n="84" d="100"/>
        </p:scale>
        <p:origin x="65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7/31/2026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7/31/2026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7/31/2026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7/31/2026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7/31/2026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7/31/2026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7/31/2026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7/31/2026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7/31/2026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7/31/2026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7/31/2026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7/31/2026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7/31/2026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7/31/2026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7/31/2026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7/31/2026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7/31/2026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7/31/2026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7/31/2026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7/31/2026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7/31/2026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7/31/2026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7/31/2026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7/31/2026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7/31/2026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7/31/2026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7/31/2026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7/31/2026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/>
              <a:t>Apache</a:t>
            </a:r>
            <a:br>
              <a:rPr lang="en-US" dirty="0"/>
            </a:br>
            <a:r>
              <a:rPr lang="en-US" dirty="0"/>
              <a:t>spark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Lê Anh Quân</a:t>
            </a:r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9717F-D143-D3B6-8CDE-5152C4E1A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lục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C2CC8-7428-2DD7-0D45-9BBE00649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47801"/>
            <a:ext cx="10963656" cy="4724399"/>
          </a:xfrm>
        </p:spPr>
        <p:txBody>
          <a:bodyPr/>
          <a:lstStyle/>
          <a:p>
            <a:r>
              <a:rPr lang="en-US" dirty="0"/>
              <a:t>I.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Apache Spark</a:t>
            </a:r>
            <a:br>
              <a:rPr lang="en-US" dirty="0"/>
            </a:br>
            <a:r>
              <a:rPr lang="en-US" dirty="0"/>
              <a:t>	1. Apache Spark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/>
              <a:t>	2.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Apache Spark</a:t>
            </a:r>
            <a:br>
              <a:rPr lang="en-US" dirty="0"/>
            </a:br>
            <a:r>
              <a:rPr lang="en-US" dirty="0"/>
              <a:t>	3. Spark Context/Spark Session</a:t>
            </a:r>
            <a:br>
              <a:rPr lang="en-US" dirty="0"/>
            </a:br>
            <a:r>
              <a:rPr lang="en-US" dirty="0"/>
              <a:t>	4. Tiến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job </a:t>
            </a:r>
            <a:r>
              <a:rPr lang="en-US" dirty="0" err="1"/>
              <a:t>của</a:t>
            </a:r>
            <a:r>
              <a:rPr lang="en-US" dirty="0"/>
              <a:t> Apache Spark</a:t>
            </a:r>
          </a:p>
          <a:p>
            <a:r>
              <a:rPr lang="en-US" dirty="0"/>
              <a:t>II.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&amp;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core</a:t>
            </a:r>
            <a:br>
              <a:rPr lang="en-US" dirty="0"/>
            </a:br>
            <a:r>
              <a:rPr lang="en-US" dirty="0"/>
              <a:t>	1. RDD</a:t>
            </a:r>
            <a:br>
              <a:rPr lang="en-US" dirty="0"/>
            </a:br>
            <a:r>
              <a:rPr lang="en-US" dirty="0"/>
              <a:t>	2. Transformation vs Action</a:t>
            </a:r>
            <a:br>
              <a:rPr lang="en-US" dirty="0"/>
            </a:br>
            <a:r>
              <a:rPr lang="en-US" dirty="0"/>
              <a:t>	3. Lazy Execution</a:t>
            </a:r>
            <a:br>
              <a:rPr lang="en-US" dirty="0"/>
            </a:br>
            <a:r>
              <a:rPr lang="en-US" dirty="0"/>
              <a:t>	4. DAG</a:t>
            </a:r>
            <a:br>
              <a:rPr lang="en-US" dirty="0"/>
            </a:br>
            <a:r>
              <a:rPr lang="en-US" dirty="0"/>
              <a:t>	5. Spark SQL/</a:t>
            </a:r>
            <a:r>
              <a:rPr lang="en-US" dirty="0" err="1"/>
              <a:t>DataFrame</a:t>
            </a:r>
            <a:r>
              <a:rPr lang="en-US" dirty="0"/>
              <a:t>/Dataset</a:t>
            </a:r>
            <a:br>
              <a:rPr lang="en-US" dirty="0"/>
            </a:br>
            <a:r>
              <a:rPr lang="en-US" dirty="0"/>
              <a:t>	6. Broadcast Variables &amp; Accumulators</a:t>
            </a:r>
          </a:p>
          <a:p>
            <a:r>
              <a:rPr lang="en-US" dirty="0"/>
              <a:t>III.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&amp;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br>
              <a:rPr lang="en-US" dirty="0"/>
            </a:br>
            <a:r>
              <a:rPr lang="en-US" dirty="0"/>
              <a:t>	1. Data Partitioning</a:t>
            </a:r>
            <a:br>
              <a:rPr lang="en-US" dirty="0"/>
            </a:br>
            <a:r>
              <a:rPr lang="en-US" dirty="0"/>
              <a:t>	2. Shuffling</a:t>
            </a:r>
            <a:br>
              <a:rPr lang="en-US" dirty="0"/>
            </a:br>
            <a:r>
              <a:rPr lang="en-US" dirty="0"/>
              <a:t>	3.Data Skew</a:t>
            </a:r>
            <a:br>
              <a:rPr lang="en-US" dirty="0"/>
            </a:br>
            <a:r>
              <a:rPr lang="en-US" dirty="0"/>
              <a:t>	4. Memory Spill</a:t>
            </a:r>
          </a:p>
          <a:p>
            <a:r>
              <a:rPr lang="en-US" dirty="0"/>
              <a:t>IV. Spark Streaming</a:t>
            </a:r>
            <a:br>
              <a:rPr lang="en-US" dirty="0"/>
            </a:br>
            <a:r>
              <a:rPr lang="en-US" dirty="0"/>
              <a:t>	1. Spark Streaming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/>
              <a:t>	2. </a:t>
            </a:r>
            <a:r>
              <a:rPr lang="en-US" dirty="0" err="1"/>
              <a:t>Dstream</a:t>
            </a:r>
            <a:r>
              <a:rPr lang="en-US" dirty="0"/>
              <a:t> vs Structured Streaming</a:t>
            </a:r>
            <a:br>
              <a:rPr lang="en-US" dirty="0"/>
            </a:br>
            <a:r>
              <a:rPr lang="en-US" dirty="0"/>
              <a:t>	3.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streaming</a:t>
            </a:r>
          </a:p>
        </p:txBody>
      </p:sp>
    </p:spTree>
    <p:extLst>
      <p:ext uri="{BB962C8B-B14F-4D97-AF65-F5344CB8AC3E}">
        <p14:creationId xmlns:p14="http://schemas.microsoft.com/office/powerpoint/2010/main" val="3284297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92907-DE31-6B95-62BA-599C622B7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spark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EB0A9-93B1-14D0-885E-4E0980482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	Apache Spark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framework </a:t>
            </a:r>
            <a:r>
              <a:rPr lang="en-ID" dirty="0" err="1"/>
              <a:t>mã</a:t>
            </a:r>
            <a:r>
              <a:rPr lang="en-ID" dirty="0"/>
              <a:t> </a:t>
            </a:r>
            <a:r>
              <a:rPr lang="en-ID" dirty="0" err="1"/>
              <a:t>nguồn</a:t>
            </a:r>
            <a:r>
              <a:rPr lang="en-ID" dirty="0"/>
              <a:t> </a:t>
            </a:r>
            <a:r>
              <a:rPr lang="en-ID" dirty="0" err="1"/>
              <a:t>mở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toán</a:t>
            </a:r>
            <a:r>
              <a:rPr lang="en-ID" dirty="0"/>
              <a:t> </a:t>
            </a:r>
            <a:r>
              <a:rPr lang="en-ID" dirty="0" err="1"/>
              <a:t>cụm</a:t>
            </a:r>
            <a:r>
              <a:rPr lang="en-ID" dirty="0"/>
              <a:t>. </a:t>
            </a:r>
            <a:r>
              <a:rPr lang="en-ID" dirty="0" err="1"/>
              <a:t>Tốc</a:t>
            </a:r>
            <a:r>
              <a:rPr lang="en-ID" dirty="0"/>
              <a:t> </a:t>
            </a:r>
            <a:r>
              <a:rPr lang="en-ID" dirty="0" err="1"/>
              <a:t>độ</a:t>
            </a:r>
            <a:r>
              <a:rPr lang="en-ID" dirty="0"/>
              <a:t> </a:t>
            </a:r>
            <a:r>
              <a:rPr lang="en-ID" dirty="0" err="1"/>
              <a:t>xử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Spark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do </a:t>
            </a:r>
            <a:r>
              <a:rPr lang="en-ID" dirty="0" err="1"/>
              <a:t>việc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toán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ở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nhớ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(in-memories) hay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hoàn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RAM. Spark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phép</a:t>
            </a:r>
            <a:r>
              <a:rPr lang="en-ID" dirty="0"/>
              <a:t> </a:t>
            </a:r>
            <a:r>
              <a:rPr lang="en-ID" dirty="0" err="1"/>
              <a:t>xử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theo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gian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, </a:t>
            </a:r>
            <a:r>
              <a:rPr lang="en-ID" dirty="0" err="1"/>
              <a:t>vừa</a:t>
            </a:r>
            <a:r>
              <a:rPr lang="en-ID" dirty="0"/>
              <a:t> </a:t>
            </a:r>
            <a:r>
              <a:rPr lang="en-ID" dirty="0" err="1"/>
              <a:t>nhận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từ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nguồn</a:t>
            </a:r>
            <a:r>
              <a:rPr lang="en-ID" dirty="0"/>
              <a:t> </a:t>
            </a:r>
            <a:r>
              <a:rPr lang="en-ID" dirty="0" err="1"/>
              <a:t>khác</a:t>
            </a:r>
            <a:r>
              <a:rPr lang="en-ID" dirty="0"/>
              <a:t> </a:t>
            </a:r>
            <a:r>
              <a:rPr lang="en-ID" dirty="0" err="1"/>
              <a:t>nhau</a:t>
            </a:r>
            <a:r>
              <a:rPr lang="en-ID" dirty="0"/>
              <a:t> </a:t>
            </a:r>
            <a:r>
              <a:rPr lang="en-ID" dirty="0" err="1"/>
              <a:t>đồng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ngay</a:t>
            </a:r>
            <a:r>
              <a:rPr lang="en-ID" dirty="0"/>
              <a:t> </a:t>
            </a:r>
            <a:r>
              <a:rPr lang="en-ID" dirty="0" err="1"/>
              <a:t>việc</a:t>
            </a:r>
            <a:r>
              <a:rPr lang="en-ID" dirty="0"/>
              <a:t> </a:t>
            </a:r>
            <a:r>
              <a:rPr lang="en-ID" dirty="0" err="1"/>
              <a:t>xử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vừa</a:t>
            </a:r>
            <a:r>
              <a:rPr lang="en-ID" dirty="0"/>
              <a:t> </a:t>
            </a:r>
            <a:r>
              <a:rPr lang="en-ID" dirty="0" err="1"/>
              <a:t>nhận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(Spark Streaming).</a:t>
            </a:r>
          </a:p>
          <a:p>
            <a:r>
              <a:rPr lang="en-ID" dirty="0"/>
              <a:t>	Spark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file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riêng</a:t>
            </a:r>
            <a:r>
              <a:rPr lang="en-ID" dirty="0"/>
              <a:t> </a:t>
            </a:r>
            <a:r>
              <a:rPr lang="en-ID" dirty="0" err="1"/>
              <a:t>mình</a:t>
            </a:r>
            <a:r>
              <a:rPr lang="en-ID" dirty="0"/>
              <a:t>,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sử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file </a:t>
            </a:r>
            <a:r>
              <a:rPr lang="en-ID" dirty="0" err="1"/>
              <a:t>khác</a:t>
            </a:r>
            <a:r>
              <a:rPr lang="en-ID" dirty="0"/>
              <a:t> </a:t>
            </a:r>
            <a:r>
              <a:rPr lang="en-ID" dirty="0" err="1"/>
              <a:t>nhau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: HDFS, Cassandra, S3,... Spark </a:t>
            </a:r>
            <a:r>
              <a:rPr lang="en-ID" dirty="0" err="1"/>
              <a:t>hỗ</a:t>
            </a:r>
            <a:r>
              <a:rPr lang="en-ID" dirty="0"/>
              <a:t> </a:t>
            </a:r>
            <a:r>
              <a:rPr lang="en-ID" dirty="0" err="1"/>
              <a:t>trợ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kiểu</a:t>
            </a:r>
            <a:r>
              <a:rPr lang="en-ID" dirty="0"/>
              <a:t> </a:t>
            </a:r>
            <a:r>
              <a:rPr lang="en-ID" dirty="0" err="1"/>
              <a:t>định</a:t>
            </a:r>
            <a:r>
              <a:rPr lang="en-ID" dirty="0"/>
              <a:t> </a:t>
            </a:r>
            <a:r>
              <a:rPr lang="en-ID" dirty="0" err="1"/>
              <a:t>dạng</a:t>
            </a:r>
            <a:r>
              <a:rPr lang="en-ID" dirty="0"/>
              <a:t> file </a:t>
            </a:r>
            <a:r>
              <a:rPr lang="en-ID" dirty="0" err="1"/>
              <a:t>khác</a:t>
            </a:r>
            <a:r>
              <a:rPr lang="en-ID" dirty="0"/>
              <a:t> </a:t>
            </a:r>
            <a:r>
              <a:rPr lang="en-ID" dirty="0" err="1"/>
              <a:t>nhau</a:t>
            </a:r>
            <a:r>
              <a:rPr lang="en-ID" dirty="0"/>
              <a:t> (test, csv, </a:t>
            </a:r>
            <a:r>
              <a:rPr lang="en-ID" dirty="0" err="1"/>
              <a:t>json</a:t>
            </a:r>
            <a:r>
              <a:rPr lang="en-ID" dirty="0"/>
              <a:t>…) </a:t>
            </a:r>
            <a:r>
              <a:rPr lang="en-ID" dirty="0" err="1"/>
              <a:t>đồng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hoàn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phụ</a:t>
            </a:r>
            <a:r>
              <a:rPr lang="en-ID" dirty="0"/>
              <a:t> </a:t>
            </a:r>
            <a:r>
              <a:rPr lang="en-ID" dirty="0" err="1"/>
              <a:t>thuộc</a:t>
            </a:r>
            <a:r>
              <a:rPr lang="en-ID" dirty="0"/>
              <a:t> </a:t>
            </a:r>
            <a:r>
              <a:rPr lang="en-ID" dirty="0" err="1"/>
              <a:t>vào</a:t>
            </a:r>
            <a:r>
              <a:rPr lang="en-ID" dirty="0"/>
              <a:t> </a:t>
            </a:r>
            <a:r>
              <a:rPr lang="en-ID" dirty="0" err="1"/>
              <a:t>bất</a:t>
            </a:r>
            <a:r>
              <a:rPr lang="en-ID" dirty="0"/>
              <a:t> </a:t>
            </a:r>
            <a:r>
              <a:rPr lang="en-ID" dirty="0" err="1"/>
              <a:t>cứ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file </a:t>
            </a:r>
            <a:r>
              <a:rPr lang="en-ID" dirty="0" err="1"/>
              <a:t>nào</a:t>
            </a:r>
            <a:r>
              <a:rPr lang="en-ID" dirty="0"/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8C677E-06BD-2081-F396-23E414EC9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850" y="3429000"/>
            <a:ext cx="5421250" cy="304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040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49BE5-EE71-BC63-3159-A873B7BAD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apache</a:t>
            </a:r>
            <a:r>
              <a:rPr lang="en-US" dirty="0"/>
              <a:t> spark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22CC7F-DA9E-09DE-91E7-17C25697BB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0" y="2057400"/>
            <a:ext cx="8792726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667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3AA1DF-782A-9760-C08B-A9B1B97AD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57200"/>
            <a:ext cx="10963655" cy="1133170"/>
          </a:xfrm>
        </p:spPr>
        <p:txBody>
          <a:bodyPr/>
          <a:lstStyle/>
          <a:p>
            <a:r>
              <a:rPr lang="en-US" dirty="0"/>
              <a:t>Spark context vs session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3FD12-72DB-501D-9F96-52F3D395A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649966"/>
            <a:ext cx="5074920" cy="559834"/>
          </a:xfrm>
        </p:spPr>
        <p:txBody>
          <a:bodyPr/>
          <a:lstStyle/>
          <a:p>
            <a:r>
              <a:rPr lang="en-US" dirty="0"/>
              <a:t>Spark context</a:t>
            </a:r>
            <a:endParaRPr lang="en-ID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E468BE-2763-BDBE-07F1-4B0DAABDFC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649966"/>
            <a:ext cx="5075556" cy="559834"/>
          </a:xfrm>
        </p:spPr>
        <p:txBody>
          <a:bodyPr/>
          <a:lstStyle/>
          <a:p>
            <a:r>
              <a:rPr lang="en-US" dirty="0"/>
              <a:t>Spark session</a:t>
            </a:r>
            <a:endParaRPr lang="en-ID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BDC3D5-E04F-9110-070B-7EA3C39F16F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286000"/>
            <a:ext cx="5075238" cy="3659188"/>
          </a:xfrm>
        </p:spPr>
        <p:txBody>
          <a:bodyPr/>
          <a:lstStyle/>
          <a:p>
            <a:r>
              <a:rPr lang="en-ID" dirty="0" err="1"/>
              <a:t>SparkContext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cổng</a:t>
            </a:r>
            <a:r>
              <a:rPr lang="en-ID" dirty="0"/>
              <a:t> </a:t>
            </a:r>
            <a:r>
              <a:rPr lang="en-ID" dirty="0" err="1"/>
              <a:t>kết</a:t>
            </a:r>
            <a:r>
              <a:rPr lang="en-ID" dirty="0"/>
              <a:t> </a:t>
            </a:r>
            <a:r>
              <a:rPr lang="en-ID" dirty="0" err="1"/>
              <a:t>nối</a:t>
            </a:r>
            <a:r>
              <a:rPr lang="en-ID" dirty="0"/>
              <a:t> </a:t>
            </a:r>
            <a:r>
              <a:rPr lang="en-ID" dirty="0" err="1"/>
              <a:t>chính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ứng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Apache Spark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cụm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chủ</a:t>
            </a:r>
            <a:r>
              <a:rPr lang="en-ID" dirty="0"/>
              <a:t>, </a:t>
            </a:r>
            <a:r>
              <a:rPr lang="en-ID" dirty="0" err="1"/>
              <a:t>giúp</a:t>
            </a:r>
            <a:r>
              <a:rPr lang="en-ID" dirty="0"/>
              <a:t> </a:t>
            </a:r>
            <a:r>
              <a:rPr lang="en-ID" dirty="0" err="1"/>
              <a:t>điều</a:t>
            </a:r>
            <a:r>
              <a:rPr lang="en-ID" dirty="0"/>
              <a:t> </a:t>
            </a:r>
            <a:r>
              <a:rPr lang="en-ID" dirty="0" err="1"/>
              <a:t>phối</a:t>
            </a:r>
            <a:r>
              <a:rPr lang="en-ID" dirty="0"/>
              <a:t> </a:t>
            </a:r>
            <a:r>
              <a:rPr lang="en-ID" dirty="0" err="1"/>
              <a:t>tài</a:t>
            </a:r>
            <a:r>
              <a:rPr lang="en-ID" dirty="0"/>
              <a:t> </a:t>
            </a:r>
            <a:r>
              <a:rPr lang="en-ID" dirty="0" err="1"/>
              <a:t>nguyên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tạo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tập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tán</a:t>
            </a:r>
            <a:r>
              <a:rPr lang="en-ID" dirty="0"/>
              <a:t> (RDD). </a:t>
            </a:r>
            <a:r>
              <a:rPr lang="en-ID" dirty="0" err="1"/>
              <a:t>Chức</a:t>
            </a:r>
            <a:r>
              <a:rPr lang="en-ID" dirty="0"/>
              <a:t> </a:t>
            </a:r>
            <a:r>
              <a:rPr lang="en-ID" dirty="0" err="1"/>
              <a:t>năng</a:t>
            </a:r>
            <a:r>
              <a:rPr lang="en-ID" dirty="0"/>
              <a:t> </a:t>
            </a:r>
            <a:r>
              <a:rPr lang="en-ID" dirty="0" err="1"/>
              <a:t>chính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SparkContext</a:t>
            </a:r>
            <a:r>
              <a:rPr lang="en-ID" dirty="0"/>
              <a:t> bao </a:t>
            </a:r>
            <a:r>
              <a:rPr lang="en-ID" dirty="0" err="1"/>
              <a:t>gồm</a:t>
            </a:r>
            <a:r>
              <a:rPr lang="en-ID" dirty="0"/>
              <a:t>: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Cổng</a:t>
            </a:r>
            <a:r>
              <a:rPr lang="en-ID" dirty="0"/>
              <a:t> </a:t>
            </a:r>
            <a:r>
              <a:rPr lang="en-ID" dirty="0" err="1"/>
              <a:t>kết</a:t>
            </a:r>
            <a:r>
              <a:rPr lang="en-ID" dirty="0"/>
              <a:t> </a:t>
            </a:r>
            <a:r>
              <a:rPr lang="en-ID" dirty="0" err="1"/>
              <a:t>nối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chủ</a:t>
            </a:r>
            <a:r>
              <a:rPr lang="en-ID" dirty="0"/>
              <a:t> </a:t>
            </a:r>
            <a:r>
              <a:rPr lang="en-ID" dirty="0" err="1"/>
              <a:t>duy</a:t>
            </a:r>
            <a:r>
              <a:rPr lang="en-ID" dirty="0"/>
              <a:t> </a:t>
            </a:r>
            <a:r>
              <a:rPr lang="en-ID" dirty="0" err="1"/>
              <a:t>nhất</a:t>
            </a:r>
            <a:endParaRPr lang="en-ID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Quản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tài</a:t>
            </a:r>
            <a:r>
              <a:rPr lang="en-ID" dirty="0"/>
              <a:t> </a:t>
            </a:r>
            <a:r>
              <a:rPr lang="en-ID" dirty="0" err="1"/>
              <a:t>nguyên</a:t>
            </a:r>
            <a:endParaRPr lang="en-ID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Tạo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quản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RDD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Quản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biến</a:t>
            </a:r>
            <a:r>
              <a:rPr lang="en-ID" dirty="0"/>
              <a:t> chia </a:t>
            </a:r>
            <a:r>
              <a:rPr lang="en-ID" dirty="0" err="1"/>
              <a:t>sẻ</a:t>
            </a:r>
            <a:endParaRPr lang="en-ID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4EDF3E-CFB7-4753-4C5D-0CC79DFCC9C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286000"/>
            <a:ext cx="5075556" cy="3659188"/>
          </a:xfrm>
        </p:spPr>
        <p:txBody>
          <a:bodyPr/>
          <a:lstStyle/>
          <a:p>
            <a:r>
              <a:rPr lang="en-ID" dirty="0" err="1"/>
              <a:t>Xuất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cùng</a:t>
            </a:r>
            <a:r>
              <a:rPr lang="en-ID" dirty="0"/>
              <a:t>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phiên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Spark 2.0, </a:t>
            </a:r>
            <a:r>
              <a:rPr lang="en-ID" dirty="0" err="1"/>
              <a:t>SparkSession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điểm</a:t>
            </a:r>
            <a:r>
              <a:rPr lang="en-ID" dirty="0"/>
              <a:t>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cập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(Unified Entry Point)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mọi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năng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Apache Spark.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đóng</a:t>
            </a:r>
            <a:r>
              <a:rPr lang="en-ID" dirty="0"/>
              <a:t> </a:t>
            </a:r>
            <a:r>
              <a:rPr lang="en-ID" dirty="0" err="1"/>
              <a:t>vai</a:t>
            </a:r>
            <a:r>
              <a:rPr lang="en-ID" dirty="0"/>
              <a:t> </a:t>
            </a:r>
            <a:r>
              <a:rPr lang="en-ID" dirty="0" err="1"/>
              <a:t>trò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giao</a:t>
            </a:r>
            <a:r>
              <a:rPr lang="en-ID" dirty="0"/>
              <a:t> </a:t>
            </a:r>
            <a:r>
              <a:rPr lang="en-ID" dirty="0" err="1"/>
              <a:t>diện</a:t>
            </a:r>
            <a:r>
              <a:rPr lang="en-ID" dirty="0"/>
              <a:t> </a:t>
            </a:r>
            <a:r>
              <a:rPr lang="en-ID" dirty="0" err="1"/>
              <a:t>lập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 </a:t>
            </a:r>
            <a:r>
              <a:rPr lang="en-ID" dirty="0" err="1"/>
              <a:t>cấp</a:t>
            </a:r>
            <a:r>
              <a:rPr lang="en-ID" dirty="0"/>
              <a:t> </a:t>
            </a:r>
            <a:r>
              <a:rPr lang="en-ID" dirty="0" err="1"/>
              <a:t>cao</a:t>
            </a:r>
            <a:r>
              <a:rPr lang="en-ID" dirty="0"/>
              <a:t> </a:t>
            </a:r>
            <a:r>
              <a:rPr lang="en-ID" dirty="0" err="1"/>
              <a:t>giúp</a:t>
            </a:r>
            <a:r>
              <a:rPr lang="en-ID" dirty="0"/>
              <a:t> </a:t>
            </a:r>
            <a:r>
              <a:rPr lang="en-ID" dirty="0" err="1"/>
              <a:t>người</a:t>
            </a:r>
            <a:r>
              <a:rPr lang="en-ID" dirty="0"/>
              <a:t> </a:t>
            </a:r>
            <a:r>
              <a:rPr lang="en-ID" dirty="0" err="1"/>
              <a:t>dùng</a:t>
            </a:r>
            <a:r>
              <a:rPr lang="en-ID" dirty="0"/>
              <a:t> </a:t>
            </a:r>
            <a:r>
              <a:rPr lang="en-ID" dirty="0" err="1"/>
              <a:t>tương</a:t>
            </a:r>
            <a:r>
              <a:rPr lang="en-ID" dirty="0"/>
              <a:t> </a:t>
            </a:r>
            <a:r>
              <a:rPr lang="en-ID" dirty="0" err="1"/>
              <a:t>tác</a:t>
            </a:r>
            <a:r>
              <a:rPr lang="en-ID" dirty="0"/>
              <a:t> </a:t>
            </a:r>
            <a:r>
              <a:rPr lang="en-ID" dirty="0" err="1"/>
              <a:t>trực</a:t>
            </a:r>
            <a:r>
              <a:rPr lang="en-ID" dirty="0"/>
              <a:t> </a:t>
            </a:r>
            <a:r>
              <a:rPr lang="en-ID" dirty="0" err="1"/>
              <a:t>tiếp</a:t>
            </a:r>
            <a:r>
              <a:rPr lang="en-ID" dirty="0"/>
              <a:t>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cấu</a:t>
            </a:r>
            <a:r>
              <a:rPr lang="en-ID" dirty="0"/>
              <a:t> </a:t>
            </a:r>
            <a:r>
              <a:rPr lang="en-ID" dirty="0" err="1"/>
              <a:t>trúc</a:t>
            </a:r>
            <a:r>
              <a:rPr lang="en-ID" dirty="0"/>
              <a:t> </a:t>
            </a:r>
            <a:r>
              <a:rPr lang="en-ID" dirty="0" err="1"/>
              <a:t>thông</a:t>
            </a:r>
            <a:r>
              <a:rPr lang="en-ID" dirty="0"/>
              <a:t> qua </a:t>
            </a:r>
            <a:r>
              <a:rPr lang="en-ID" dirty="0" err="1"/>
              <a:t>DataFrame</a:t>
            </a:r>
            <a:r>
              <a:rPr lang="en-ID" dirty="0"/>
              <a:t>, Dataset,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câu</a:t>
            </a:r>
            <a:r>
              <a:rPr lang="en-ID" dirty="0"/>
              <a:t> </a:t>
            </a:r>
            <a:r>
              <a:rPr lang="en-ID" dirty="0" err="1"/>
              <a:t>lệnh</a:t>
            </a:r>
            <a:r>
              <a:rPr lang="en-ID" dirty="0"/>
              <a:t> Spark SQL,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 Hive.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6820DC-9896-D677-65A1-74F0A205B7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689" y="3962400"/>
            <a:ext cx="7113535" cy="225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866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280B678-65AF-2181-6E57-FE28BF983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Tiến </a:t>
            </a:r>
            <a:r>
              <a:rPr lang="en-US" dirty="0" err="1"/>
              <a:t>trình</a:t>
            </a:r>
            <a:r>
              <a:rPr lang="en-US" dirty="0"/>
              <a:t> job </a:t>
            </a:r>
            <a:r>
              <a:rPr lang="en-US" dirty="0" err="1"/>
              <a:t>của</a:t>
            </a:r>
            <a:r>
              <a:rPr lang="en-US" dirty="0"/>
              <a:t> spark</a:t>
            </a:r>
            <a:endParaRPr lang="en-ID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0B231F7-CD45-9C41-BEF0-A5E1AC3065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2286000"/>
            <a:ext cx="10899753" cy="275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283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4BD62-FBB0-1455-C245-4C16A5F38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rdd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1C665-9D34-3A10-6345-53FAFF8AC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RDD (Resilient Distributed Dataset)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cấu</a:t>
            </a:r>
            <a:r>
              <a:rPr lang="en-ID" dirty="0"/>
              <a:t> </a:t>
            </a:r>
            <a:r>
              <a:rPr lang="en-ID" dirty="0" err="1"/>
              <a:t>trúc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cốt</a:t>
            </a:r>
            <a:r>
              <a:rPr lang="en-ID" dirty="0"/>
              <a:t> </a:t>
            </a:r>
            <a:r>
              <a:rPr lang="en-ID" dirty="0" err="1"/>
              <a:t>lõi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Apache Spark -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tập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</a:t>
            </a:r>
            <a:r>
              <a:rPr lang="en-ID" dirty="0" err="1"/>
              <a:t>phần</a:t>
            </a:r>
            <a:r>
              <a:rPr lang="en-ID" dirty="0"/>
              <a:t> </a:t>
            </a:r>
            <a:r>
              <a:rPr lang="en-ID" dirty="0" err="1"/>
              <a:t>tử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tán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cluster,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phép</a:t>
            </a:r>
            <a:r>
              <a:rPr lang="en-ID" dirty="0"/>
              <a:t> </a:t>
            </a:r>
            <a:r>
              <a:rPr lang="en-ID" dirty="0" err="1"/>
              <a:t>xử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song </a:t>
            </a:r>
            <a:r>
              <a:rPr lang="en-ID" dirty="0" err="1"/>
              <a:t>song</a:t>
            </a:r>
            <a:r>
              <a:rPr lang="en-ID" dirty="0"/>
              <a:t>. </a:t>
            </a:r>
            <a:r>
              <a:rPr lang="en-ID" dirty="0" err="1"/>
              <a:t>Về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chất</a:t>
            </a:r>
            <a:r>
              <a:rPr lang="en-ID" dirty="0"/>
              <a:t>, RDD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chứa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thật</a:t>
            </a:r>
            <a:r>
              <a:rPr lang="en-ID" dirty="0"/>
              <a:t> </a:t>
            </a:r>
            <a:r>
              <a:rPr lang="en-ID" dirty="0" err="1"/>
              <a:t>ngay</a:t>
            </a:r>
            <a:r>
              <a:rPr lang="en-ID" dirty="0"/>
              <a:t> </a:t>
            </a:r>
            <a:r>
              <a:rPr lang="en-ID" dirty="0" err="1"/>
              <a:t>lúc</a:t>
            </a:r>
            <a:r>
              <a:rPr lang="en-ID" dirty="0"/>
              <a:t> </a:t>
            </a:r>
            <a:r>
              <a:rPr lang="en-ID" dirty="0" err="1"/>
              <a:t>khai</a:t>
            </a:r>
            <a:r>
              <a:rPr lang="en-ID" dirty="0"/>
              <a:t> </a:t>
            </a:r>
            <a:r>
              <a:rPr lang="en-ID" dirty="0" err="1"/>
              <a:t>báo</a:t>
            </a:r>
            <a:r>
              <a:rPr lang="en-ID" dirty="0"/>
              <a:t>, </a:t>
            </a:r>
            <a:r>
              <a:rPr lang="en-ID" dirty="0" err="1"/>
              <a:t>mà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công</a:t>
            </a:r>
            <a:r>
              <a:rPr lang="en-ID" dirty="0"/>
              <a:t> </a:t>
            </a:r>
            <a:r>
              <a:rPr lang="en-ID" dirty="0" err="1"/>
              <a:t>thức</a:t>
            </a:r>
            <a:r>
              <a:rPr lang="en-ID" dirty="0"/>
              <a:t> </a:t>
            </a: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tả</a:t>
            </a:r>
            <a:r>
              <a:rPr lang="en-ID" dirty="0"/>
              <a:t> </a:t>
            </a:r>
            <a:r>
              <a:rPr lang="en-ID" dirty="0" err="1"/>
              <a:t>cách</a:t>
            </a:r>
            <a:r>
              <a:rPr lang="en-ID" dirty="0"/>
              <a:t> </a:t>
            </a:r>
            <a:r>
              <a:rPr lang="en-ID" dirty="0" err="1"/>
              <a:t>tạo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đó</a:t>
            </a:r>
            <a:r>
              <a:rPr lang="en-ID" dirty="0"/>
              <a:t> (</a:t>
            </a:r>
            <a:r>
              <a:rPr lang="en-ID" dirty="0" err="1"/>
              <a:t>đọc</a:t>
            </a:r>
            <a:r>
              <a:rPr lang="en-ID" dirty="0"/>
              <a:t> </a:t>
            </a:r>
            <a:r>
              <a:rPr lang="en-ID" dirty="0" err="1"/>
              <a:t>từ</a:t>
            </a:r>
            <a:r>
              <a:rPr lang="en-ID" dirty="0"/>
              <a:t> </a:t>
            </a:r>
            <a:r>
              <a:rPr lang="en-ID" dirty="0" err="1"/>
              <a:t>đâu</a:t>
            </a:r>
            <a:r>
              <a:rPr lang="en-ID" dirty="0"/>
              <a:t>, </a:t>
            </a:r>
            <a:r>
              <a:rPr lang="en-ID" dirty="0" err="1"/>
              <a:t>biến</a:t>
            </a:r>
            <a:r>
              <a:rPr lang="en-ID" dirty="0"/>
              <a:t> </a:t>
            </a:r>
            <a:r>
              <a:rPr lang="en-ID" dirty="0" err="1"/>
              <a:t>đổi</a:t>
            </a:r>
            <a:r>
              <a:rPr lang="en-ID" dirty="0"/>
              <a:t> qua </a:t>
            </a:r>
            <a:r>
              <a:rPr lang="en-ID" dirty="0" err="1"/>
              <a:t>những</a:t>
            </a:r>
            <a:r>
              <a:rPr lang="en-ID" dirty="0"/>
              <a:t> </a:t>
            </a:r>
            <a:r>
              <a:rPr lang="en-ID" dirty="0" err="1"/>
              <a:t>bước</a:t>
            </a:r>
            <a:r>
              <a:rPr lang="en-ID" dirty="0"/>
              <a:t> </a:t>
            </a:r>
            <a:r>
              <a:rPr lang="en-ID" dirty="0" err="1"/>
              <a:t>nào</a:t>
            </a:r>
            <a:r>
              <a:rPr lang="en-ID" dirty="0"/>
              <a:t>). Các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chất</a:t>
            </a:r>
            <a:r>
              <a:rPr lang="en-ID" dirty="0"/>
              <a:t> </a:t>
            </a:r>
            <a:r>
              <a:rPr lang="en-ID" dirty="0" err="1"/>
              <a:t>cốt</a:t>
            </a:r>
            <a:r>
              <a:rPr lang="en-ID" dirty="0"/>
              <a:t> </a:t>
            </a:r>
            <a:r>
              <a:rPr lang="en-ID" dirty="0" err="1"/>
              <a:t>lõi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RDD bao </a:t>
            </a:r>
            <a:r>
              <a:rPr lang="en-ID" dirty="0" err="1"/>
              <a:t>gồm</a:t>
            </a:r>
            <a:r>
              <a:rPr lang="en-ID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Bất</a:t>
            </a:r>
            <a:r>
              <a:rPr lang="en-ID" dirty="0"/>
              <a:t> </a:t>
            </a:r>
            <a:r>
              <a:rPr lang="en-ID" dirty="0" err="1"/>
              <a:t>biến</a:t>
            </a:r>
            <a:r>
              <a:rPr lang="en-ID" dirty="0"/>
              <a:t> (Immutable)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mảnh</a:t>
            </a:r>
            <a:r>
              <a:rPr lang="en-ID" dirty="0"/>
              <a:t> (Partitioned)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Fault-tolerance </a:t>
            </a:r>
            <a:r>
              <a:rPr lang="en-ID" dirty="0" err="1"/>
              <a:t>nhờ</a:t>
            </a:r>
            <a:r>
              <a:rPr lang="en-ID" dirty="0"/>
              <a:t> Lineage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Trì</a:t>
            </a:r>
            <a:r>
              <a:rPr lang="en-ID" dirty="0"/>
              <a:t> </a:t>
            </a:r>
            <a:r>
              <a:rPr lang="en-ID" dirty="0" err="1"/>
              <a:t>hoãn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thi</a:t>
            </a:r>
            <a:r>
              <a:rPr lang="en-ID" dirty="0"/>
              <a:t> (Lazy)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FAAD31-CE85-0E87-30B8-6757812B0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667000"/>
            <a:ext cx="6815221" cy="36846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87FA5D-FD7A-4E80-F8B3-357801D0B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429" y="2667000"/>
            <a:ext cx="7145992" cy="368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754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174AE3-12B3-A0DB-E421-D0B363343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Transformation vs Actions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D536B2-6043-1C6F-A7FF-8578400AA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Transformation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A84673-9F82-7964-DB82-F57FEFAD48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/>
            <a:r>
              <a:rPr lang="en-ID" dirty="0"/>
              <a:t>Actions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162611-DD51-6A63-E869-9B65AB48395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3228180" cy="3659188"/>
          </a:xfrm>
        </p:spPr>
        <p:txBody>
          <a:bodyPr/>
          <a:lstStyle/>
          <a:p>
            <a:r>
              <a:rPr lang="en-ID" dirty="0"/>
              <a:t>Transformation (</a:t>
            </a:r>
            <a:r>
              <a:rPr lang="en-ID" dirty="0" err="1"/>
              <a:t>phép</a:t>
            </a:r>
            <a:r>
              <a:rPr lang="en-ID" dirty="0"/>
              <a:t> </a:t>
            </a:r>
            <a:r>
              <a:rPr lang="en-ID" dirty="0" err="1"/>
              <a:t>biến</a:t>
            </a:r>
            <a:r>
              <a:rPr lang="en-ID" dirty="0"/>
              <a:t> </a:t>
            </a:r>
            <a:r>
              <a:rPr lang="en-ID" dirty="0" err="1"/>
              <a:t>đổi</a:t>
            </a:r>
            <a:r>
              <a:rPr lang="en-ID" dirty="0"/>
              <a:t>) </a:t>
            </a:r>
            <a:r>
              <a:rPr lang="en-ID" dirty="0" err="1"/>
              <a:t>trong</a:t>
            </a:r>
            <a:r>
              <a:rPr lang="en-ID" dirty="0"/>
              <a:t> Spark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câu</a:t>
            </a:r>
            <a:r>
              <a:rPr lang="en-ID" dirty="0"/>
              <a:t> </a:t>
            </a:r>
            <a:r>
              <a:rPr lang="en-ID" dirty="0" err="1"/>
              <a:t>lệnh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dùng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xây</a:t>
            </a:r>
            <a:r>
              <a:rPr lang="en-ID" dirty="0"/>
              <a:t> </a:t>
            </a:r>
            <a:r>
              <a:rPr lang="en-ID" dirty="0" err="1"/>
              <a:t>dựng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RDD </a:t>
            </a:r>
            <a:r>
              <a:rPr lang="en-ID" dirty="0" err="1"/>
              <a:t>mới</a:t>
            </a:r>
            <a:r>
              <a:rPr lang="en-ID" dirty="0"/>
              <a:t> </a:t>
            </a:r>
            <a:r>
              <a:rPr lang="en-ID" dirty="0" err="1"/>
              <a:t>từ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RDD ban </a:t>
            </a:r>
            <a:r>
              <a:rPr lang="en-ID" dirty="0" err="1"/>
              <a:t>đầu</a:t>
            </a:r>
            <a:r>
              <a:rPr lang="en-ID" dirty="0"/>
              <a:t>. </a:t>
            </a:r>
            <a:r>
              <a:rPr lang="en-ID" dirty="0" err="1"/>
              <a:t>Đặc</a:t>
            </a:r>
            <a:r>
              <a:rPr lang="en-ID" dirty="0"/>
              <a:t> </a:t>
            </a:r>
            <a:r>
              <a:rPr lang="en-ID" dirty="0" err="1"/>
              <a:t>trưng</a:t>
            </a:r>
            <a:r>
              <a:rPr lang="en-ID" dirty="0"/>
              <a:t> </a:t>
            </a:r>
            <a:r>
              <a:rPr lang="en-ID" dirty="0" err="1"/>
              <a:t>cốt</a:t>
            </a:r>
            <a:r>
              <a:rPr lang="en-ID" dirty="0"/>
              <a:t> </a:t>
            </a:r>
            <a:r>
              <a:rPr lang="en-ID" dirty="0" err="1"/>
              <a:t>lõi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Transformation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chế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thi</a:t>
            </a:r>
            <a:r>
              <a:rPr lang="en-ID" dirty="0"/>
              <a:t> </a:t>
            </a:r>
            <a:r>
              <a:rPr lang="en-ID" dirty="0" err="1"/>
              <a:t>lười</a:t>
            </a:r>
            <a:r>
              <a:rPr lang="en-ID" dirty="0"/>
              <a:t> </a:t>
            </a:r>
            <a:r>
              <a:rPr lang="en-ID" dirty="0" err="1"/>
              <a:t>biếng</a:t>
            </a:r>
            <a:r>
              <a:rPr lang="en-ID" dirty="0"/>
              <a:t> (Lazy Evaluation). Transformation </a:t>
            </a:r>
            <a:r>
              <a:rPr lang="en-ID" dirty="0" err="1"/>
              <a:t>được</a:t>
            </a:r>
            <a:r>
              <a:rPr lang="en-ID" dirty="0"/>
              <a:t> chia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thành</a:t>
            </a:r>
            <a:r>
              <a:rPr lang="en-ID" dirty="0"/>
              <a:t> Narrow Transition </a:t>
            </a:r>
            <a:r>
              <a:rPr lang="en-ID" dirty="0" err="1"/>
              <a:t>hoặc</a:t>
            </a:r>
            <a:r>
              <a:rPr lang="en-ID" dirty="0"/>
              <a:t> Wide Transition </a:t>
            </a:r>
            <a:r>
              <a:rPr lang="en-ID" dirty="0" err="1"/>
              <a:t>dựa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cách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di </a:t>
            </a:r>
            <a:r>
              <a:rPr lang="en-ID" dirty="0" err="1"/>
              <a:t>chuyển</a:t>
            </a:r>
            <a:r>
              <a:rPr lang="en-ID" dirty="0"/>
              <a:t> </a:t>
            </a:r>
            <a:r>
              <a:rPr lang="en-ID" dirty="0" err="1"/>
              <a:t>giữa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vùng</a:t>
            </a:r>
            <a:r>
              <a:rPr lang="en-ID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49B692-39E2-2B6F-C43F-2FD02AF5B3F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54222" y="2514600"/>
            <a:ext cx="3218906" cy="3659188"/>
          </a:xfrm>
        </p:spPr>
        <p:txBody>
          <a:bodyPr/>
          <a:lstStyle/>
          <a:p>
            <a:pPr algn="r"/>
            <a:r>
              <a:rPr lang="en-ID" dirty="0"/>
              <a:t>Action (</a:t>
            </a:r>
            <a:r>
              <a:rPr lang="en-ID" dirty="0" err="1"/>
              <a:t>hành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thao</a:t>
            </a:r>
            <a:r>
              <a:rPr lang="en-ID" dirty="0"/>
              <a:t> </a:t>
            </a:r>
            <a:r>
              <a:rPr lang="en-ID" dirty="0" err="1"/>
              <a:t>tác</a:t>
            </a:r>
            <a:r>
              <a:rPr lang="en-ID" dirty="0"/>
              <a:t> </a:t>
            </a:r>
            <a:r>
              <a:rPr lang="en-ID" dirty="0" err="1"/>
              <a:t>kích</a:t>
            </a:r>
            <a:r>
              <a:rPr lang="en-ID" dirty="0"/>
              <a:t> </a:t>
            </a:r>
            <a:r>
              <a:rPr lang="en-ID" dirty="0" err="1"/>
              <a:t>hoạt</a:t>
            </a:r>
            <a:r>
              <a:rPr lang="en-ID" dirty="0"/>
              <a:t> </a:t>
            </a:r>
            <a:r>
              <a:rPr lang="en-ID" dirty="0" err="1"/>
              <a:t>quá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thi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tế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chuỗi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phép</a:t>
            </a:r>
            <a:r>
              <a:rPr lang="en-ID" dirty="0"/>
              <a:t> </a:t>
            </a:r>
            <a:r>
              <a:rPr lang="en-ID" dirty="0" err="1"/>
              <a:t>biến</a:t>
            </a:r>
            <a:r>
              <a:rPr lang="en-ID" dirty="0"/>
              <a:t> </a:t>
            </a:r>
            <a:r>
              <a:rPr lang="en-ID" dirty="0" err="1"/>
              <a:t>đổi</a:t>
            </a:r>
            <a:r>
              <a:rPr lang="en-ID" dirty="0"/>
              <a:t> (transformation) </a:t>
            </a:r>
            <a:r>
              <a:rPr lang="en-ID" dirty="0" err="1"/>
              <a:t>trước</a:t>
            </a:r>
            <a:r>
              <a:rPr lang="en-ID" dirty="0"/>
              <a:t> </a:t>
            </a:r>
            <a:r>
              <a:rPr lang="en-ID" dirty="0" err="1"/>
              <a:t>đó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trả</a:t>
            </a:r>
            <a:r>
              <a:rPr lang="en-ID" dirty="0"/>
              <a:t> </a:t>
            </a:r>
            <a:r>
              <a:rPr lang="en-ID" dirty="0" err="1"/>
              <a:t>về</a:t>
            </a:r>
            <a:r>
              <a:rPr lang="en-ID" dirty="0"/>
              <a:t> </a:t>
            </a:r>
            <a:r>
              <a:rPr lang="en-ID" dirty="0" err="1"/>
              <a:t>kết</a:t>
            </a:r>
            <a:r>
              <a:rPr lang="en-ID" dirty="0"/>
              <a:t> </a:t>
            </a:r>
            <a:r>
              <a:rPr lang="en-ID" dirty="0" err="1"/>
              <a:t>quả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chương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 </a:t>
            </a:r>
            <a:r>
              <a:rPr lang="en-ID" dirty="0" err="1"/>
              <a:t>điều</a:t>
            </a:r>
            <a:r>
              <a:rPr lang="en-ID" dirty="0"/>
              <a:t> </a:t>
            </a:r>
            <a:r>
              <a:rPr lang="en-ID" dirty="0" err="1"/>
              <a:t>khiển</a:t>
            </a:r>
            <a:r>
              <a:rPr lang="en-ID" dirty="0"/>
              <a:t> (driver)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ghi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. </a:t>
            </a:r>
            <a:r>
              <a:rPr lang="en-ID" dirty="0" err="1"/>
              <a:t>Khác</a:t>
            </a:r>
            <a:r>
              <a:rPr lang="en-ID" dirty="0"/>
              <a:t> </a:t>
            </a:r>
            <a:r>
              <a:rPr lang="en-ID" dirty="0" err="1"/>
              <a:t>với</a:t>
            </a:r>
            <a:r>
              <a:rPr lang="en-ID" dirty="0"/>
              <a:t> Transformation, Action </a:t>
            </a:r>
            <a:r>
              <a:rPr lang="en-ID" dirty="0" err="1"/>
              <a:t>buộc</a:t>
            </a:r>
            <a:r>
              <a:rPr lang="en-ID" dirty="0"/>
              <a:t> Spark </a:t>
            </a:r>
            <a:r>
              <a:rPr lang="en-ID" dirty="0" err="1"/>
              <a:t>phải</a:t>
            </a:r>
            <a:r>
              <a:rPr lang="en-ID" dirty="0"/>
              <a:t> </a:t>
            </a:r>
            <a:r>
              <a:rPr lang="en-ID" dirty="0" err="1"/>
              <a:t>xây</a:t>
            </a:r>
            <a:r>
              <a:rPr lang="en-ID" dirty="0"/>
              <a:t> </a:t>
            </a:r>
            <a:r>
              <a:rPr lang="en-ID" dirty="0" err="1"/>
              <a:t>dựng</a:t>
            </a:r>
            <a:r>
              <a:rPr lang="en-ID" dirty="0"/>
              <a:t> </a:t>
            </a:r>
            <a:r>
              <a:rPr lang="en-ID" dirty="0" err="1"/>
              <a:t>biểu</a:t>
            </a:r>
            <a:r>
              <a:rPr lang="en-ID" dirty="0"/>
              <a:t> </a:t>
            </a:r>
            <a:r>
              <a:rPr lang="en-ID" dirty="0" err="1"/>
              <a:t>đồ</a:t>
            </a:r>
            <a:r>
              <a:rPr lang="en-ID" dirty="0"/>
              <a:t> DAG, chia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stage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chạy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task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cụm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76453C-4F03-6531-D3B1-99DE90A00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7371" y="2602400"/>
            <a:ext cx="4506851" cy="243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045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7D974-4D2D-AEC8-8600-319B7D64C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evaluation</a:t>
            </a:r>
            <a:endParaRPr lang="en-ID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D04234A-58FD-2B7F-1678-5CC7FD4E8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6854953" cy="4343400"/>
          </a:xfrm>
        </p:spPr>
        <p:txBody>
          <a:bodyPr/>
          <a:lstStyle/>
          <a:p>
            <a:r>
              <a:rPr lang="en-ID" dirty="0"/>
              <a:t>Lazy Execution (hay lazy evaluation) </a:t>
            </a:r>
            <a:r>
              <a:rPr lang="en-ID" dirty="0" err="1"/>
              <a:t>trong</a:t>
            </a:r>
            <a:r>
              <a:rPr lang="en-ID" dirty="0"/>
              <a:t> Apache Spark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chế</a:t>
            </a:r>
            <a:r>
              <a:rPr lang="en-ID" dirty="0"/>
              <a:t> </a:t>
            </a:r>
            <a:r>
              <a:rPr lang="en-ID" dirty="0" err="1"/>
              <a:t>trì</a:t>
            </a:r>
            <a:r>
              <a:rPr lang="en-ID" dirty="0"/>
              <a:t> </a:t>
            </a:r>
            <a:r>
              <a:rPr lang="en-ID" dirty="0" err="1"/>
              <a:t>hoãn</a:t>
            </a:r>
            <a:r>
              <a:rPr lang="en-ID" dirty="0"/>
              <a:t> </a:t>
            </a:r>
            <a:r>
              <a:rPr lang="en-ID" dirty="0" err="1"/>
              <a:t>việc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thi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lệnh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toán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đến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xuất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hành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(Action). Thay </a:t>
            </a:r>
            <a:r>
              <a:rPr lang="en-ID" dirty="0" err="1"/>
              <a:t>vì</a:t>
            </a:r>
            <a:r>
              <a:rPr lang="en-ID" dirty="0"/>
              <a:t> </a:t>
            </a:r>
            <a:r>
              <a:rPr lang="en-ID" dirty="0" err="1"/>
              <a:t>chạy</a:t>
            </a:r>
            <a:r>
              <a:rPr lang="en-ID" dirty="0"/>
              <a:t> </a:t>
            </a:r>
            <a:r>
              <a:rPr lang="en-ID" dirty="0" err="1"/>
              <a:t>ngay</a:t>
            </a:r>
            <a:r>
              <a:rPr lang="en-ID" dirty="0"/>
              <a:t>, Spark </a:t>
            </a:r>
            <a:r>
              <a:rPr lang="en-ID" dirty="0" err="1"/>
              <a:t>ghi</a:t>
            </a:r>
            <a:r>
              <a:rPr lang="en-ID" dirty="0"/>
              <a:t> </a:t>
            </a:r>
            <a:r>
              <a:rPr lang="en-ID" dirty="0" err="1"/>
              <a:t>nhận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bước</a:t>
            </a:r>
            <a:r>
              <a:rPr lang="en-ID" dirty="0"/>
              <a:t> </a:t>
            </a:r>
            <a:r>
              <a:rPr lang="en-ID" dirty="0" err="1"/>
              <a:t>biến</a:t>
            </a:r>
            <a:r>
              <a:rPr lang="en-ID" dirty="0"/>
              <a:t> </a:t>
            </a:r>
            <a:r>
              <a:rPr lang="en-ID" dirty="0" err="1"/>
              <a:t>đổi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(Transformation)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sơ</a:t>
            </a:r>
            <a:r>
              <a:rPr lang="en-ID" dirty="0"/>
              <a:t> </a:t>
            </a:r>
            <a:r>
              <a:rPr lang="en-ID" dirty="0" err="1"/>
              <a:t>đồ</a:t>
            </a:r>
            <a:r>
              <a:rPr lang="en-ID" dirty="0"/>
              <a:t> logic </a:t>
            </a:r>
            <a:r>
              <a:rPr lang="en-ID" dirty="0" err="1"/>
              <a:t>gọi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DAG (Directed Acyclic Graph)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tối</a:t>
            </a:r>
            <a:r>
              <a:rPr lang="en-ID" dirty="0"/>
              <a:t> </a:t>
            </a:r>
            <a:r>
              <a:rPr lang="en-ID" dirty="0" err="1"/>
              <a:t>ưu</a:t>
            </a:r>
            <a:r>
              <a:rPr lang="en-ID" dirty="0"/>
              <a:t> </a:t>
            </a:r>
            <a:r>
              <a:rPr lang="en-ID" dirty="0" err="1"/>
              <a:t>hóa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quá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 </a:t>
            </a:r>
            <a:r>
              <a:rPr lang="en-ID" dirty="0" err="1"/>
              <a:t>trước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chạy</a:t>
            </a:r>
            <a:r>
              <a:rPr lang="en-ID" dirty="0"/>
              <a:t>. Các </a:t>
            </a:r>
            <a:r>
              <a:rPr lang="en-ID" dirty="0" err="1"/>
              <a:t>lợi</a:t>
            </a:r>
            <a:r>
              <a:rPr lang="en-ID" dirty="0"/>
              <a:t> </a:t>
            </a:r>
            <a:r>
              <a:rPr lang="en-ID" dirty="0" err="1"/>
              <a:t>ích</a:t>
            </a:r>
            <a:r>
              <a:rPr lang="en-ID" dirty="0"/>
              <a:t> Lazy Execution mang </a:t>
            </a:r>
            <a:r>
              <a:rPr lang="en-ID" dirty="0" err="1"/>
              <a:t>lại</a:t>
            </a:r>
            <a:r>
              <a:rPr lang="en-ID" dirty="0"/>
              <a:t> bao </a:t>
            </a:r>
            <a:r>
              <a:rPr lang="en-ID" dirty="0" err="1"/>
              <a:t>gồm</a:t>
            </a:r>
            <a:r>
              <a:rPr lang="en-ID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Tối</a:t>
            </a:r>
            <a:r>
              <a:rPr lang="en-ID" dirty="0"/>
              <a:t> </a:t>
            </a:r>
            <a:r>
              <a:rPr lang="en-ID" dirty="0" err="1"/>
              <a:t>ưu</a:t>
            </a:r>
            <a:r>
              <a:rPr lang="en-ID" dirty="0"/>
              <a:t> </a:t>
            </a:r>
            <a:r>
              <a:rPr lang="en-ID" dirty="0" err="1"/>
              <a:t>hóa</a:t>
            </a:r>
            <a:r>
              <a:rPr lang="en-ID" dirty="0"/>
              <a:t> </a:t>
            </a:r>
            <a:r>
              <a:rPr lang="en-ID" dirty="0" err="1"/>
              <a:t>hiệu</a:t>
            </a:r>
            <a:r>
              <a:rPr lang="en-ID" dirty="0"/>
              <a:t> </a:t>
            </a:r>
            <a:r>
              <a:rPr lang="en-ID" dirty="0" err="1"/>
              <a:t>năng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Tiết</a:t>
            </a:r>
            <a:r>
              <a:rPr lang="en-ID" dirty="0"/>
              <a:t> </a:t>
            </a:r>
            <a:r>
              <a:rPr lang="en-ID" dirty="0" err="1"/>
              <a:t>kiệm</a:t>
            </a:r>
            <a:r>
              <a:rPr lang="en-ID" dirty="0"/>
              <a:t> </a:t>
            </a:r>
            <a:r>
              <a:rPr lang="en-ID" dirty="0" err="1"/>
              <a:t>tài</a:t>
            </a:r>
            <a:r>
              <a:rPr lang="en-ID" dirty="0"/>
              <a:t> </a:t>
            </a:r>
            <a:r>
              <a:rPr lang="en-ID" dirty="0" err="1"/>
              <a:t>nguyên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Khả</a:t>
            </a:r>
            <a:r>
              <a:rPr lang="en-ID" dirty="0"/>
              <a:t> </a:t>
            </a:r>
            <a:r>
              <a:rPr lang="en-ID" dirty="0" err="1"/>
              <a:t>năng</a:t>
            </a:r>
            <a:r>
              <a:rPr lang="en-ID" dirty="0"/>
              <a:t> </a:t>
            </a:r>
            <a:r>
              <a:rPr lang="en-ID" dirty="0" err="1"/>
              <a:t>chịu</a:t>
            </a:r>
            <a:r>
              <a:rPr lang="en-ID" dirty="0"/>
              <a:t> </a:t>
            </a:r>
            <a:r>
              <a:rPr lang="en-ID" dirty="0" err="1"/>
              <a:t>lỗi</a:t>
            </a:r>
            <a:r>
              <a:rPr lang="en-ID" dirty="0"/>
              <a:t> </a:t>
            </a:r>
            <a:r>
              <a:rPr lang="en-ID" dirty="0" err="1"/>
              <a:t>cao</a:t>
            </a:r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4A059F-9324-1034-B8AD-D2A658505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7037"/>
          <a:stretch>
            <a:fillRect/>
          </a:stretch>
        </p:blipFill>
        <p:spPr>
          <a:xfrm>
            <a:off x="7768213" y="0"/>
            <a:ext cx="441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245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2C247-8998-D613-7730-92F55F74C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BD29C-DA52-D696-3A51-77E42B4F4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DAG </a:t>
            </a:r>
            <a:r>
              <a:rPr lang="en-ID" dirty="0" err="1"/>
              <a:t>dịch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tiếng</a:t>
            </a:r>
            <a:r>
              <a:rPr lang="en-ID" dirty="0"/>
              <a:t> </a:t>
            </a:r>
            <a:r>
              <a:rPr lang="en-ID" dirty="0" err="1"/>
              <a:t>việt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đồ</a:t>
            </a:r>
            <a:r>
              <a:rPr lang="en-ID" dirty="0"/>
              <a:t> </a:t>
            </a:r>
            <a:r>
              <a:rPr lang="en-ID" dirty="0" err="1"/>
              <a:t>thị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hướng</a:t>
            </a:r>
            <a:r>
              <a:rPr lang="en-ID" dirty="0"/>
              <a:t> </a:t>
            </a:r>
            <a:r>
              <a:rPr lang="en-ID" dirty="0" err="1"/>
              <a:t>không</a:t>
            </a:r>
            <a:r>
              <a:rPr lang="en-ID" dirty="0"/>
              <a:t> chu </a:t>
            </a:r>
            <a:r>
              <a:rPr lang="en-ID" dirty="0" err="1"/>
              <a:t>trình</a:t>
            </a:r>
            <a:r>
              <a:rPr lang="en-ID" dirty="0"/>
              <a:t>. </a:t>
            </a:r>
            <a:r>
              <a:rPr lang="en-ID" dirty="0" err="1"/>
              <a:t>Đồ</a:t>
            </a:r>
            <a:r>
              <a:rPr lang="en-ID" dirty="0"/>
              <a:t> </a:t>
            </a:r>
            <a:r>
              <a:rPr lang="en-ID" dirty="0" err="1"/>
              <a:t>thị</a:t>
            </a:r>
            <a:r>
              <a:rPr lang="en-ID" dirty="0"/>
              <a:t>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Spark </a:t>
            </a:r>
            <a:r>
              <a:rPr lang="en-ID" dirty="0" err="1"/>
              <a:t>biểu</a:t>
            </a:r>
            <a:r>
              <a:rPr lang="en-ID" dirty="0"/>
              <a:t> </a:t>
            </a:r>
            <a:r>
              <a:rPr lang="en-ID" dirty="0" err="1"/>
              <a:t>diễn</a:t>
            </a:r>
            <a:r>
              <a:rPr lang="en-ID" dirty="0"/>
              <a:t> </a:t>
            </a:r>
            <a:r>
              <a:rPr lang="en-ID" dirty="0" err="1"/>
              <a:t>chuỗi</a:t>
            </a:r>
            <a:r>
              <a:rPr lang="en-ID" dirty="0"/>
              <a:t> logic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phép</a:t>
            </a:r>
            <a:r>
              <a:rPr lang="en-ID" dirty="0"/>
              <a:t> </a:t>
            </a:r>
            <a:r>
              <a:rPr lang="en-ID" dirty="0" err="1"/>
              <a:t>toán</a:t>
            </a:r>
            <a:r>
              <a:rPr lang="en-ID" dirty="0"/>
              <a:t> </a:t>
            </a:r>
            <a:r>
              <a:rPr lang="en-ID" dirty="0" err="1"/>
              <a:t>chuyển</a:t>
            </a:r>
            <a:r>
              <a:rPr lang="en-ID" dirty="0"/>
              <a:t> </a:t>
            </a:r>
            <a:r>
              <a:rPr lang="en-ID" dirty="0" err="1"/>
              <a:t>đổi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(Transformations) </a:t>
            </a:r>
            <a:r>
              <a:rPr lang="en-ID" dirty="0" err="1"/>
              <a:t>trên</a:t>
            </a:r>
            <a:r>
              <a:rPr lang="en-ID" dirty="0"/>
              <a:t> RDD/</a:t>
            </a:r>
            <a:r>
              <a:rPr lang="en-ID" dirty="0" err="1"/>
              <a:t>DataFrame</a:t>
            </a:r>
            <a:r>
              <a:rPr lang="en-ID" dirty="0"/>
              <a:t>, </a:t>
            </a:r>
            <a:r>
              <a:rPr lang="en-ID" dirty="0" err="1"/>
              <a:t>đi</a:t>
            </a:r>
            <a:r>
              <a:rPr lang="en-ID" dirty="0"/>
              <a:t> </a:t>
            </a:r>
            <a:r>
              <a:rPr lang="en-ID" dirty="0" err="1"/>
              <a:t>từ</a:t>
            </a:r>
            <a:r>
              <a:rPr lang="en-ID" dirty="0"/>
              <a:t> </a:t>
            </a:r>
            <a:r>
              <a:rPr lang="en-ID" dirty="0" err="1"/>
              <a:t>nguồn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ban </a:t>
            </a:r>
            <a:r>
              <a:rPr lang="en-ID" dirty="0" err="1"/>
              <a:t>đầu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đến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gặp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lệnh</a:t>
            </a:r>
            <a:r>
              <a:rPr lang="en-ID" dirty="0"/>
              <a:t> </a:t>
            </a:r>
            <a:r>
              <a:rPr lang="en-ID" dirty="0" err="1"/>
              <a:t>hành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(Action). Khi </a:t>
            </a:r>
            <a:r>
              <a:rPr lang="en-ID" dirty="0" err="1"/>
              <a:t>một</a:t>
            </a:r>
            <a:r>
              <a:rPr lang="en-ID" dirty="0"/>
              <a:t> Action </a:t>
            </a:r>
            <a:r>
              <a:rPr lang="en-ID" dirty="0" err="1"/>
              <a:t>kích</a:t>
            </a:r>
            <a:r>
              <a:rPr lang="en-ID" dirty="0"/>
              <a:t> </a:t>
            </a:r>
            <a:r>
              <a:rPr lang="en-ID" dirty="0" err="1"/>
              <a:t>hoạt</a:t>
            </a:r>
            <a:r>
              <a:rPr lang="en-ID" dirty="0"/>
              <a:t> DAG, </a:t>
            </a:r>
            <a:r>
              <a:rPr lang="en-ID" dirty="0" err="1"/>
              <a:t>DAGScheduler</a:t>
            </a:r>
            <a:r>
              <a:rPr lang="en-ID" dirty="0"/>
              <a:t> </a:t>
            </a:r>
            <a:r>
              <a:rPr lang="en-ID" dirty="0" err="1"/>
              <a:t>sẽ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rã</a:t>
            </a:r>
            <a:r>
              <a:rPr lang="en-ID" dirty="0"/>
              <a:t> </a:t>
            </a:r>
            <a:r>
              <a:rPr lang="en-ID" dirty="0" err="1"/>
              <a:t>đồ</a:t>
            </a:r>
            <a:r>
              <a:rPr lang="en-ID" dirty="0"/>
              <a:t> </a:t>
            </a:r>
            <a:r>
              <a:rPr lang="en-ID" dirty="0" err="1"/>
              <a:t>thị</a:t>
            </a:r>
            <a:r>
              <a:rPr lang="en-ID" dirty="0"/>
              <a:t>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phần</a:t>
            </a:r>
            <a:r>
              <a:rPr lang="en-ID" dirty="0"/>
              <a:t> </a:t>
            </a:r>
            <a:r>
              <a:rPr lang="en-ID" dirty="0" err="1"/>
              <a:t>nhỏ</a:t>
            </a:r>
            <a:r>
              <a:rPr lang="en-ID" dirty="0"/>
              <a:t> </a:t>
            </a:r>
            <a:r>
              <a:rPr lang="en-ID" dirty="0" err="1"/>
              <a:t>hơn</a:t>
            </a:r>
            <a:r>
              <a:rPr lang="en-ID" dirty="0"/>
              <a:t> </a:t>
            </a:r>
            <a:r>
              <a:rPr lang="en-ID" dirty="0" err="1"/>
              <a:t>theo</a:t>
            </a:r>
            <a:r>
              <a:rPr lang="en-ID" dirty="0"/>
              <a:t> </a:t>
            </a:r>
            <a:r>
              <a:rPr lang="en-ID" dirty="0" err="1"/>
              <a:t>thứ</a:t>
            </a:r>
            <a:r>
              <a:rPr lang="en-ID" dirty="0"/>
              <a:t> </a:t>
            </a:r>
            <a:r>
              <a:rPr lang="en-ID" dirty="0" err="1"/>
              <a:t>tự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cấp</a:t>
            </a:r>
            <a:r>
              <a:rPr lang="en-ID" dirty="0"/>
              <a:t>: DAG =&gt; Stages =&gt; Tasks.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D58D2-A489-9541-84DF-DC9BC7BEA7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47" b="25081"/>
          <a:stretch>
            <a:fillRect/>
          </a:stretch>
        </p:blipFill>
        <p:spPr>
          <a:xfrm>
            <a:off x="1985010" y="2819400"/>
            <a:ext cx="822198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31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4BA2C-A08C-4F41-CBAD-3243E1753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</a:t>
            </a:r>
            <a:r>
              <a:rPr lang="en-US" dirty="0" err="1"/>
              <a:t>Sql</a:t>
            </a:r>
            <a:r>
              <a:rPr lang="en-US" dirty="0"/>
              <a:t>/</a:t>
            </a:r>
            <a:r>
              <a:rPr lang="en-US" dirty="0" err="1"/>
              <a:t>Dataframe</a:t>
            </a:r>
            <a:r>
              <a:rPr lang="en-US" dirty="0"/>
              <a:t>/dataset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937D7-2BC6-B3E2-D9CB-C01974EF5BC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2590800"/>
            <a:ext cx="5074920" cy="3570923"/>
          </a:xfrm>
        </p:spPr>
        <p:txBody>
          <a:bodyPr/>
          <a:lstStyle/>
          <a:p>
            <a:r>
              <a:rPr lang="en-ID" b="1" dirty="0"/>
              <a:t>Catalyst Optimizer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não</a:t>
            </a:r>
            <a:r>
              <a:rPr lang="en-ID" dirty="0"/>
              <a:t> </a:t>
            </a:r>
            <a:r>
              <a:rPr lang="en-ID" dirty="0" err="1"/>
              <a:t>tối</a:t>
            </a:r>
            <a:r>
              <a:rPr lang="en-ID" dirty="0"/>
              <a:t> </a:t>
            </a:r>
            <a:r>
              <a:rPr lang="en-ID" dirty="0" err="1"/>
              <a:t>ưu</a:t>
            </a:r>
            <a:r>
              <a:rPr lang="en-ID" dirty="0"/>
              <a:t> </a:t>
            </a:r>
            <a:r>
              <a:rPr lang="en-ID" dirty="0" err="1"/>
              <a:t>cốt</a:t>
            </a:r>
            <a:r>
              <a:rPr lang="en-ID" dirty="0"/>
              <a:t> </a:t>
            </a:r>
            <a:r>
              <a:rPr lang="en-ID" dirty="0" err="1"/>
              <a:t>lõi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Spark SQL, </a:t>
            </a:r>
            <a:r>
              <a:rPr lang="en-ID" dirty="0" err="1"/>
              <a:t>DataFrame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Dataset.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chất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 </a:t>
            </a:r>
            <a:r>
              <a:rPr lang="en-ID" dirty="0" err="1"/>
              <a:t>tối</a:t>
            </a:r>
            <a:r>
              <a:rPr lang="en-ID" dirty="0"/>
              <a:t> </a:t>
            </a:r>
            <a:r>
              <a:rPr lang="en-ID" dirty="0" err="1"/>
              <a:t>ưu</a:t>
            </a:r>
            <a:r>
              <a:rPr lang="en-ID" dirty="0"/>
              <a:t> </a:t>
            </a:r>
            <a:r>
              <a:rPr lang="en-ID" dirty="0" err="1"/>
              <a:t>hóa</a:t>
            </a:r>
            <a:r>
              <a:rPr lang="en-ID" dirty="0"/>
              <a:t>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vấn</a:t>
            </a:r>
            <a:r>
              <a:rPr lang="en-ID" dirty="0"/>
              <a:t> (Query Optimizer)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nhiệm</a:t>
            </a:r>
            <a:r>
              <a:rPr lang="en-ID" dirty="0"/>
              <a:t> </a:t>
            </a:r>
            <a:r>
              <a:rPr lang="en-ID" dirty="0" err="1"/>
              <a:t>vụ</a:t>
            </a:r>
            <a:r>
              <a:rPr lang="en-ID" dirty="0"/>
              <a:t> </a:t>
            </a:r>
            <a:r>
              <a:rPr lang="en-ID" dirty="0" err="1"/>
              <a:t>tự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</a:t>
            </a:r>
            <a:r>
              <a:rPr lang="en-ID" dirty="0" err="1"/>
              <a:t>chuyển</a:t>
            </a:r>
            <a:r>
              <a:rPr lang="en-ID" dirty="0"/>
              <a:t> </a:t>
            </a:r>
            <a:r>
              <a:rPr lang="en-ID" dirty="0" err="1"/>
              <a:t>đổi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câu</a:t>
            </a:r>
            <a:r>
              <a:rPr lang="en-ID" dirty="0"/>
              <a:t> </a:t>
            </a:r>
            <a:r>
              <a:rPr lang="en-ID" dirty="0" err="1"/>
              <a:t>lệnh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viết</a:t>
            </a:r>
            <a:r>
              <a:rPr lang="en-ID" dirty="0"/>
              <a:t>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kế</a:t>
            </a:r>
            <a:r>
              <a:rPr lang="en-ID" dirty="0"/>
              <a:t> </a:t>
            </a:r>
            <a:r>
              <a:rPr lang="en-ID" dirty="0" err="1"/>
              <a:t>hoạch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thi</a:t>
            </a:r>
            <a:r>
              <a:rPr lang="en-ID" dirty="0"/>
              <a:t> </a:t>
            </a:r>
            <a:r>
              <a:rPr lang="en-ID" dirty="0" err="1"/>
              <a:t>bằng</a:t>
            </a:r>
            <a:r>
              <a:rPr lang="en-ID" dirty="0"/>
              <a:t> </a:t>
            </a:r>
            <a:r>
              <a:rPr lang="en-ID" dirty="0" err="1"/>
              <a:t>mã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(Java Bytecode) </a:t>
            </a:r>
            <a:r>
              <a:rPr lang="en-ID" dirty="0" err="1"/>
              <a:t>sao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tốn</a:t>
            </a:r>
            <a:r>
              <a:rPr lang="en-ID" dirty="0"/>
              <a:t> </a:t>
            </a:r>
            <a:r>
              <a:rPr lang="en-ID" dirty="0" err="1"/>
              <a:t>ít</a:t>
            </a:r>
            <a:r>
              <a:rPr lang="en-ID" dirty="0"/>
              <a:t> </a:t>
            </a:r>
            <a:r>
              <a:rPr lang="en-ID" dirty="0" err="1"/>
              <a:t>tài</a:t>
            </a:r>
            <a:r>
              <a:rPr lang="en-ID" dirty="0"/>
              <a:t> </a:t>
            </a:r>
            <a:r>
              <a:rPr lang="en-ID" dirty="0" err="1"/>
              <a:t>nguyên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chạy</a:t>
            </a:r>
            <a:r>
              <a:rPr lang="en-ID" dirty="0"/>
              <a:t> </a:t>
            </a:r>
            <a:r>
              <a:rPr lang="en-ID" dirty="0" err="1"/>
              <a:t>nhanh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thể</a:t>
            </a:r>
            <a:r>
              <a:rPr lang="en-ID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A3AE1BA-5D5D-AC25-7EBE-F74A8DAEBEB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2590800"/>
            <a:ext cx="5075237" cy="3570923"/>
          </a:xfrm>
        </p:spPr>
        <p:txBody>
          <a:bodyPr/>
          <a:lstStyle/>
          <a:p>
            <a:r>
              <a:rPr lang="en-ID" dirty="0" err="1"/>
              <a:t>Nếu</a:t>
            </a:r>
            <a:r>
              <a:rPr lang="en-ID" dirty="0"/>
              <a:t> Catalyst Optimizer </a:t>
            </a:r>
            <a:r>
              <a:rPr lang="en-ID" dirty="0" err="1"/>
              <a:t>đóng</a:t>
            </a:r>
            <a:r>
              <a:rPr lang="en-ID" dirty="0"/>
              <a:t> </a:t>
            </a:r>
            <a:r>
              <a:rPr lang="en-ID" dirty="0" err="1"/>
              <a:t>vai</a:t>
            </a:r>
            <a:r>
              <a:rPr lang="en-ID" dirty="0"/>
              <a:t> </a:t>
            </a:r>
            <a:r>
              <a:rPr lang="en-ID" dirty="0" err="1"/>
              <a:t>trò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não</a:t>
            </a:r>
            <a:r>
              <a:rPr lang="en-ID" dirty="0"/>
              <a:t> </a:t>
            </a:r>
            <a:r>
              <a:rPr lang="en-ID" dirty="0" err="1"/>
              <a:t>thì</a:t>
            </a:r>
            <a:r>
              <a:rPr lang="en-ID" dirty="0"/>
              <a:t> </a:t>
            </a:r>
            <a:r>
              <a:rPr lang="en-ID" b="1" dirty="0"/>
              <a:t>Project Tungsten</a:t>
            </a:r>
            <a:r>
              <a:rPr lang="en-ID" dirty="0"/>
              <a:t> </a:t>
            </a:r>
            <a:r>
              <a:rPr lang="en-ID" dirty="0" err="1"/>
              <a:t>chính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bắp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Spark. </a:t>
            </a:r>
            <a:r>
              <a:rPr lang="en-ID" dirty="0" err="1"/>
              <a:t>Tập</a:t>
            </a:r>
            <a:r>
              <a:rPr lang="en-ID" dirty="0"/>
              <a:t> </a:t>
            </a:r>
            <a:r>
              <a:rPr lang="en-ID" dirty="0" err="1"/>
              <a:t>trung</a:t>
            </a:r>
            <a:r>
              <a:rPr lang="en-ID" dirty="0"/>
              <a:t> </a:t>
            </a:r>
            <a:r>
              <a:rPr lang="en-ID" dirty="0" err="1"/>
              <a:t>hoàn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vào</a:t>
            </a:r>
            <a:r>
              <a:rPr lang="en-ID" dirty="0"/>
              <a:t> </a:t>
            </a:r>
            <a:r>
              <a:rPr lang="en-ID" dirty="0" err="1"/>
              <a:t>việc</a:t>
            </a:r>
            <a:r>
              <a:rPr lang="en-ID" dirty="0"/>
              <a:t> </a:t>
            </a:r>
            <a:r>
              <a:rPr lang="en-ID" dirty="0" err="1"/>
              <a:t>tối</a:t>
            </a:r>
            <a:r>
              <a:rPr lang="en-ID" dirty="0"/>
              <a:t> </a:t>
            </a:r>
            <a:r>
              <a:rPr lang="en-ID" dirty="0" err="1"/>
              <a:t>ưu</a:t>
            </a:r>
            <a:r>
              <a:rPr lang="en-ID" dirty="0"/>
              <a:t> </a:t>
            </a:r>
            <a:r>
              <a:rPr lang="en-ID" dirty="0" err="1"/>
              <a:t>hóa</a:t>
            </a:r>
            <a:r>
              <a:rPr lang="en-ID" dirty="0"/>
              <a:t> </a:t>
            </a:r>
            <a:r>
              <a:rPr lang="en-ID" dirty="0" err="1"/>
              <a:t>hiệu</a:t>
            </a:r>
            <a:r>
              <a:rPr lang="en-ID" dirty="0"/>
              <a:t> </a:t>
            </a:r>
            <a:r>
              <a:rPr lang="en-ID" dirty="0" err="1"/>
              <a:t>suất</a:t>
            </a:r>
            <a:r>
              <a:rPr lang="en-ID" dirty="0"/>
              <a:t> </a:t>
            </a:r>
            <a:r>
              <a:rPr lang="en-ID" dirty="0" err="1"/>
              <a:t>phần</a:t>
            </a:r>
            <a:r>
              <a:rPr lang="en-ID" dirty="0"/>
              <a:t> </a:t>
            </a:r>
            <a:r>
              <a:rPr lang="en-ID" dirty="0" err="1"/>
              <a:t>cứng</a:t>
            </a:r>
            <a:r>
              <a:rPr lang="en-ID" dirty="0"/>
              <a:t> </a:t>
            </a:r>
            <a:r>
              <a:rPr lang="en-ID" dirty="0" err="1"/>
              <a:t>xuống</a:t>
            </a:r>
            <a:r>
              <a:rPr lang="en-ID" dirty="0"/>
              <a:t> </a:t>
            </a:r>
            <a:r>
              <a:rPr lang="en-ID" dirty="0" err="1"/>
              <a:t>mức</a:t>
            </a:r>
            <a:r>
              <a:rPr lang="en-ID" dirty="0"/>
              <a:t> </a:t>
            </a:r>
            <a:r>
              <a:rPr lang="en-ID" dirty="0" err="1"/>
              <a:t>thấp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, Project Tungsten </a:t>
            </a:r>
            <a:r>
              <a:rPr lang="en-ID" dirty="0" err="1"/>
              <a:t>sinh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loại</a:t>
            </a:r>
            <a:r>
              <a:rPr lang="en-ID" dirty="0"/>
              <a:t> </a:t>
            </a:r>
            <a:r>
              <a:rPr lang="en-ID" dirty="0" err="1"/>
              <a:t>bỏ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nút</a:t>
            </a:r>
            <a:r>
              <a:rPr lang="en-ID" dirty="0"/>
              <a:t> </a:t>
            </a:r>
            <a:r>
              <a:rPr lang="en-ID" dirty="0" err="1"/>
              <a:t>thắt</a:t>
            </a:r>
            <a:r>
              <a:rPr lang="en-ID" dirty="0"/>
              <a:t> </a:t>
            </a:r>
            <a:r>
              <a:rPr lang="en-ID" dirty="0" err="1"/>
              <a:t>cổ</a:t>
            </a:r>
            <a:r>
              <a:rPr lang="en-ID" dirty="0"/>
              <a:t> chai </a:t>
            </a:r>
            <a:r>
              <a:rPr lang="en-ID" dirty="0" err="1"/>
              <a:t>về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nhớ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CPU.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303D1-24B5-933D-BEBC-83C2A9D47C63}"/>
              </a:ext>
            </a:extLst>
          </p:cNvPr>
          <p:cNvSpPr txBox="1">
            <a:spLocks/>
          </p:cNvSpPr>
          <p:nvPr/>
        </p:nvSpPr>
        <p:spPr>
          <a:xfrm>
            <a:off x="612646" y="1818970"/>
            <a:ext cx="10933559" cy="7718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Trong </a:t>
            </a:r>
            <a:r>
              <a:rPr lang="en-US" dirty="0" err="1"/>
              <a:t>khi</a:t>
            </a:r>
            <a:r>
              <a:rPr lang="en-US" dirty="0"/>
              <a:t> Spark SQL, </a:t>
            </a:r>
            <a:r>
              <a:rPr lang="en-US" dirty="0" err="1"/>
              <a:t>DataFrame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Dataset </a:t>
            </a:r>
            <a:r>
              <a:rPr lang="en-US" dirty="0" err="1"/>
              <a:t>là</a:t>
            </a:r>
            <a:r>
              <a:rPr lang="en-US" dirty="0"/>
              <a:t> 3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, </a:t>
            </a:r>
            <a:r>
              <a:rPr lang="en-US" dirty="0" err="1"/>
              <a:t>với</a:t>
            </a:r>
            <a:r>
              <a:rPr lang="en-US" dirty="0"/>
              <a:t> Spark SQL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, </a:t>
            </a:r>
            <a:r>
              <a:rPr lang="en-US" dirty="0" err="1"/>
              <a:t>DataFrame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Dataset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tán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/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, </a:t>
            </a:r>
            <a:r>
              <a:rPr lang="en-US" dirty="0" err="1"/>
              <a:t>cả</a:t>
            </a:r>
            <a:r>
              <a:rPr lang="en-US" dirty="0"/>
              <a:t> 3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Catalyst Optimizer </a:t>
            </a:r>
            <a:r>
              <a:rPr lang="en-US" dirty="0" err="1"/>
              <a:t>và</a:t>
            </a:r>
            <a:r>
              <a:rPr lang="en-US" dirty="0"/>
              <a:t> Project Tungsten.</a:t>
            </a:r>
            <a:endParaRPr lang="en-ID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FEF96A-747B-3079-AC15-060D07D5B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549" y="4114800"/>
            <a:ext cx="870585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92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9F8F613-7123-CA56-96A7-466EEC375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Broadcast Variables &amp; Accumulators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621D51-46DE-3606-860D-F0F98CF69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Broadcast variables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D20201B-47D9-5D2C-57F8-FC90ECFCF2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accumulators</a:t>
            </a:r>
            <a:endParaRPr lang="en-ID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ECBBE74-3E96-0C33-350E-6D49BD00F1F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ID" dirty="0"/>
              <a:t>Broadcast Variables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biến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phép</a:t>
            </a:r>
            <a:r>
              <a:rPr lang="en-ID" dirty="0"/>
              <a:t> </a:t>
            </a:r>
            <a:r>
              <a:rPr lang="en-ID" dirty="0" err="1"/>
              <a:t>lập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 </a:t>
            </a:r>
            <a:r>
              <a:rPr lang="en-ID" dirty="0" err="1"/>
              <a:t>viên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sao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chỉ</a:t>
            </a:r>
            <a:r>
              <a:rPr lang="en-ID" dirty="0"/>
              <a:t> </a:t>
            </a:r>
            <a:r>
              <a:rPr lang="en-ID" dirty="0" err="1"/>
              <a:t>đọc</a:t>
            </a:r>
            <a:r>
              <a:rPr lang="en-ID" dirty="0"/>
              <a:t> (Read-Only) </a:t>
            </a:r>
            <a:r>
              <a:rPr lang="en-ID" dirty="0" err="1"/>
              <a:t>duy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mỗi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con (Worker Node), </a:t>
            </a:r>
            <a:r>
              <a:rPr lang="en-ID" dirty="0" err="1"/>
              <a:t>thay</a:t>
            </a:r>
            <a:r>
              <a:rPr lang="en-ID" dirty="0"/>
              <a:t> </a:t>
            </a:r>
            <a:r>
              <a:rPr lang="en-ID" dirty="0" err="1"/>
              <a:t>vì</a:t>
            </a:r>
            <a:r>
              <a:rPr lang="en-ID" dirty="0"/>
              <a:t> </a:t>
            </a:r>
            <a:r>
              <a:rPr lang="en-ID" dirty="0" err="1"/>
              <a:t>gửi</a:t>
            </a:r>
            <a:r>
              <a:rPr lang="en-ID" dirty="0"/>
              <a:t> </a:t>
            </a:r>
            <a:r>
              <a:rPr lang="en-ID" dirty="0" err="1"/>
              <a:t>kèm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đó</a:t>
            </a:r>
            <a:r>
              <a:rPr lang="en-ID" dirty="0"/>
              <a:t> </a:t>
            </a:r>
            <a:r>
              <a:rPr lang="en-ID" dirty="0" err="1"/>
              <a:t>cùng</a:t>
            </a:r>
            <a:r>
              <a:rPr lang="en-ID" dirty="0"/>
              <a:t>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mọi</a:t>
            </a:r>
            <a:r>
              <a:rPr lang="en-ID" dirty="0"/>
              <a:t> Task.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95169F-AF28-B2F5-70B3-0322B32EA905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ID" dirty="0"/>
              <a:t>Accumulators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biến</a:t>
            </a:r>
            <a:r>
              <a:rPr lang="en-ID" dirty="0"/>
              <a:t> </a:t>
            </a:r>
            <a:r>
              <a:rPr lang="en-ID" dirty="0" err="1"/>
              <a:t>chỉ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thể</a:t>
            </a:r>
            <a:r>
              <a:rPr lang="en-ID" dirty="0"/>
              <a:t> "</a:t>
            </a:r>
            <a:r>
              <a:rPr lang="en-ID" dirty="0" err="1"/>
              <a:t>cộng</a:t>
            </a:r>
            <a:r>
              <a:rPr lang="en-ID" dirty="0"/>
              <a:t> </a:t>
            </a:r>
            <a:r>
              <a:rPr lang="en-ID" dirty="0" err="1"/>
              <a:t>dồn</a:t>
            </a:r>
            <a:r>
              <a:rPr lang="en-ID" dirty="0"/>
              <a:t>" (Write-Only </a:t>
            </a:r>
            <a:r>
              <a:rPr lang="en-ID" dirty="0" err="1"/>
              <a:t>từ</a:t>
            </a:r>
            <a:r>
              <a:rPr lang="en-ID" dirty="0"/>
              <a:t> </a:t>
            </a:r>
            <a:r>
              <a:rPr lang="en-ID" dirty="0" err="1"/>
              <a:t>phía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con) </a:t>
            </a:r>
            <a:r>
              <a:rPr lang="en-ID" dirty="0" err="1"/>
              <a:t>thông</a:t>
            </a:r>
            <a:r>
              <a:rPr lang="en-ID" dirty="0"/>
              <a:t> qua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phép</a:t>
            </a:r>
            <a:r>
              <a:rPr lang="en-ID" dirty="0"/>
              <a:t> </a:t>
            </a:r>
            <a:r>
              <a:rPr lang="en-ID" dirty="0" err="1"/>
              <a:t>toán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chất</a:t>
            </a:r>
            <a:r>
              <a:rPr lang="en-ID" dirty="0"/>
              <a:t> </a:t>
            </a:r>
            <a:r>
              <a:rPr lang="en-ID" dirty="0" err="1"/>
              <a:t>giao</a:t>
            </a:r>
            <a:r>
              <a:rPr lang="en-ID" dirty="0"/>
              <a:t> </a:t>
            </a:r>
            <a:r>
              <a:rPr lang="en-ID" dirty="0" err="1"/>
              <a:t>hoán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kết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(</a:t>
            </a:r>
            <a:r>
              <a:rPr lang="en-ID" dirty="0" err="1"/>
              <a:t>như</a:t>
            </a:r>
            <a:r>
              <a:rPr lang="en-ID" dirty="0"/>
              <a:t> </a:t>
            </a:r>
            <a:r>
              <a:rPr lang="en-ID" dirty="0" err="1"/>
              <a:t>cộng</a:t>
            </a:r>
            <a:r>
              <a:rPr lang="en-ID" dirty="0"/>
              <a:t>, </a:t>
            </a:r>
            <a:r>
              <a:rPr lang="en-ID" dirty="0" err="1"/>
              <a:t>đếm</a:t>
            </a:r>
            <a:r>
              <a:rPr lang="en-ID" dirty="0"/>
              <a:t>), </a:t>
            </a:r>
            <a:r>
              <a:rPr lang="en-ID" dirty="0" err="1"/>
              <a:t>tương</a:t>
            </a:r>
            <a:r>
              <a:rPr lang="en-ID" dirty="0"/>
              <a:t> </a:t>
            </a:r>
            <a:r>
              <a:rPr lang="en-ID" dirty="0" err="1"/>
              <a:t>tự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 </a:t>
            </a:r>
            <a:r>
              <a:rPr lang="en-ID" dirty="0" err="1"/>
              <a:t>biến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cục</a:t>
            </a:r>
            <a:r>
              <a:rPr lang="en-ID" dirty="0"/>
              <a:t> (Global Variable) </a:t>
            </a:r>
            <a:r>
              <a:rPr lang="en-ID" dirty="0" err="1"/>
              <a:t>nhưng</a:t>
            </a:r>
            <a:r>
              <a:rPr lang="en-ID" dirty="0"/>
              <a:t> </a:t>
            </a:r>
            <a:r>
              <a:rPr lang="en-ID" dirty="0" err="1"/>
              <a:t>hoạt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môi</a:t>
            </a:r>
            <a:r>
              <a:rPr lang="en-ID" dirty="0"/>
              <a:t> </a:t>
            </a:r>
            <a:r>
              <a:rPr lang="en-ID" dirty="0" err="1"/>
              <a:t>trường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tán</a:t>
            </a:r>
            <a:r>
              <a:rPr lang="en-ID" dirty="0"/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20970C-395C-DF64-4DEB-44050CBC9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82" y="3657600"/>
            <a:ext cx="5076056" cy="2971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F8C60A-4274-D66F-03DB-63C06C5120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3649143"/>
            <a:ext cx="5517839" cy="298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008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DBF1030-0D18-71B6-B2B1-741381153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partitioning</a:t>
            </a:r>
            <a:endParaRPr lang="en-ID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48F358C-FF3B-70C3-75E9-F1733B8DD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" y="2895600"/>
            <a:ext cx="3654553" cy="1905000"/>
          </a:xfrm>
        </p:spPr>
        <p:txBody>
          <a:bodyPr/>
          <a:lstStyle/>
          <a:p>
            <a:r>
              <a:rPr lang="en-ID" dirty="0"/>
              <a:t>Data Partitioning </a:t>
            </a:r>
            <a:r>
              <a:rPr lang="en-ID" dirty="0" err="1"/>
              <a:t>trong</a:t>
            </a:r>
            <a:r>
              <a:rPr lang="en-ID" dirty="0"/>
              <a:t> Spark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hành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chia </a:t>
            </a:r>
            <a:r>
              <a:rPr lang="en-ID" dirty="0" err="1"/>
              <a:t>nhỏ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tập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lớn</a:t>
            </a:r>
            <a:r>
              <a:rPr lang="en-ID" dirty="0"/>
              <a:t> (RDD, </a:t>
            </a:r>
            <a:r>
              <a:rPr lang="en-ID" dirty="0" err="1"/>
              <a:t>DataFrame</a:t>
            </a:r>
            <a:r>
              <a:rPr lang="en-ID" dirty="0"/>
              <a:t>)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phần</a:t>
            </a:r>
            <a:r>
              <a:rPr lang="en-ID" dirty="0"/>
              <a:t> </a:t>
            </a:r>
            <a:r>
              <a:rPr lang="en-ID" dirty="0" err="1"/>
              <a:t>nhỏ</a:t>
            </a:r>
            <a:r>
              <a:rPr lang="en-ID" dirty="0"/>
              <a:t> </a:t>
            </a:r>
            <a:r>
              <a:rPr lang="en-ID" dirty="0" err="1"/>
              <a:t>hơn</a:t>
            </a:r>
            <a:r>
              <a:rPr lang="en-ID" dirty="0"/>
              <a:t> (Partitions),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nhớ</a:t>
            </a:r>
            <a:r>
              <a:rPr lang="en-ID" dirty="0"/>
              <a:t> RAM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nút</a:t>
            </a:r>
            <a:r>
              <a:rPr lang="en-ID" dirty="0"/>
              <a:t> </a:t>
            </a:r>
            <a:r>
              <a:rPr lang="en-ID" dirty="0" err="1"/>
              <a:t>khác</a:t>
            </a:r>
            <a:r>
              <a:rPr lang="en-ID" dirty="0"/>
              <a:t> </a:t>
            </a:r>
            <a:r>
              <a:rPr lang="en-ID" dirty="0" err="1"/>
              <a:t>nhau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cụm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thể</a:t>
            </a:r>
            <a:r>
              <a:rPr lang="en-ID" dirty="0"/>
              <a:t> </a:t>
            </a:r>
            <a:r>
              <a:rPr lang="en-ID" dirty="0" err="1"/>
              <a:t>xử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song </a:t>
            </a:r>
            <a:r>
              <a:rPr lang="en-ID" dirty="0" err="1"/>
              <a:t>song</a:t>
            </a:r>
            <a:r>
              <a:rPr lang="en-ID" dirty="0"/>
              <a:t>. </a:t>
            </a:r>
            <a:r>
              <a:rPr lang="en-ID" dirty="0" err="1"/>
              <a:t>Điểm</a:t>
            </a:r>
            <a:r>
              <a:rPr lang="en-ID" dirty="0"/>
              <a:t> </a:t>
            </a:r>
            <a:r>
              <a:rPr lang="en-ID" dirty="0" err="1"/>
              <a:t>mấu</a:t>
            </a:r>
            <a:r>
              <a:rPr lang="en-ID" dirty="0"/>
              <a:t> </a:t>
            </a:r>
            <a:r>
              <a:rPr lang="en-ID" dirty="0" err="1"/>
              <a:t>chốt</a:t>
            </a:r>
            <a:r>
              <a:rPr lang="en-ID" dirty="0"/>
              <a:t> </a:t>
            </a:r>
            <a:r>
              <a:rPr lang="en-ID" dirty="0" err="1"/>
              <a:t>khiến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Spark </a:t>
            </a:r>
            <a:r>
              <a:rPr lang="en-ID" dirty="0" err="1"/>
              <a:t>đặc</a:t>
            </a:r>
            <a:r>
              <a:rPr lang="en-ID" dirty="0"/>
              <a:t> </a:t>
            </a:r>
            <a:r>
              <a:rPr lang="en-ID" dirty="0" err="1"/>
              <a:t>biệt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chất</a:t>
            </a:r>
            <a:r>
              <a:rPr lang="en-ID" dirty="0"/>
              <a:t> In-Memory </a:t>
            </a:r>
            <a:r>
              <a:rPr lang="en-ID" dirty="0" err="1"/>
              <a:t>và</a:t>
            </a:r>
            <a:r>
              <a:rPr lang="en-ID" dirty="0"/>
              <a:t> Ephemeral.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C37E93-EC02-C42B-ED4C-9FDD2BCA6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907" y="1676400"/>
            <a:ext cx="6956396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17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EA6DC-3A5E-78A6-0B9B-C46405E7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shuffling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BC4FD-30F0-24D8-644F-DD25BA878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0" y="3049736"/>
            <a:ext cx="5632703" cy="1600200"/>
          </a:xfrm>
        </p:spPr>
        <p:txBody>
          <a:bodyPr/>
          <a:lstStyle/>
          <a:p>
            <a:r>
              <a:rPr lang="en-ID" dirty="0"/>
              <a:t>Shuffling </a:t>
            </a:r>
            <a:r>
              <a:rPr lang="en-ID" dirty="0" err="1"/>
              <a:t>trong</a:t>
            </a:r>
            <a:r>
              <a:rPr lang="en-ID" dirty="0"/>
              <a:t> Apache Spark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quá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 </a:t>
            </a:r>
            <a:r>
              <a:rPr lang="en-ID" dirty="0" err="1"/>
              <a:t>tái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phối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giữa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vùng</a:t>
            </a:r>
            <a:r>
              <a:rPr lang="en-ID" dirty="0"/>
              <a:t> (Partitions)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cụm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. </a:t>
            </a:r>
            <a:r>
              <a:rPr lang="en-ID" dirty="0" err="1"/>
              <a:t>Đây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hành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di </a:t>
            </a:r>
            <a:r>
              <a:rPr lang="en-ID" dirty="0" err="1"/>
              <a:t>chuyển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qua </a:t>
            </a:r>
            <a:r>
              <a:rPr lang="en-ID" dirty="0" err="1"/>
              <a:t>mạng</a:t>
            </a:r>
            <a:r>
              <a:rPr lang="en-ID" dirty="0"/>
              <a:t> internet </a:t>
            </a:r>
            <a:r>
              <a:rPr lang="en-ID" dirty="0" err="1"/>
              <a:t>giữa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nút</a:t>
            </a:r>
            <a:r>
              <a:rPr lang="en-ID" dirty="0"/>
              <a:t> con (Executors)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gom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ghi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cùng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đặc</a:t>
            </a:r>
            <a:r>
              <a:rPr lang="en-ID" dirty="0"/>
              <a:t> </a:t>
            </a:r>
            <a:r>
              <a:rPr lang="en-ID" dirty="0" err="1"/>
              <a:t>điểm</a:t>
            </a:r>
            <a:r>
              <a:rPr lang="en-ID" dirty="0"/>
              <a:t>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khóa</a:t>
            </a:r>
            <a:r>
              <a:rPr lang="en-ID" dirty="0"/>
              <a:t> </a:t>
            </a:r>
            <a:r>
              <a:rPr lang="en-ID" dirty="0" err="1"/>
              <a:t>về</a:t>
            </a:r>
            <a:r>
              <a:rPr lang="en-ID" dirty="0"/>
              <a:t> </a:t>
            </a:r>
            <a:r>
              <a:rPr lang="en-ID" dirty="0" err="1"/>
              <a:t>cùng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chỗ</a:t>
            </a:r>
            <a:r>
              <a:rPr lang="en-ID" dirty="0"/>
              <a:t>. Shuffling </a:t>
            </a:r>
            <a:r>
              <a:rPr lang="en-ID" dirty="0" err="1"/>
              <a:t>cũng</a:t>
            </a:r>
            <a:r>
              <a:rPr lang="en-ID" dirty="0"/>
              <a:t> </a:t>
            </a:r>
            <a:r>
              <a:rPr lang="en-ID" dirty="0" err="1"/>
              <a:t>chính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ranh</a:t>
            </a:r>
            <a:r>
              <a:rPr lang="en-ID" dirty="0"/>
              <a:t> </a:t>
            </a:r>
            <a:r>
              <a:rPr lang="en-ID" dirty="0" err="1"/>
              <a:t>giới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Spark </a:t>
            </a:r>
            <a:r>
              <a:rPr lang="en-ID" dirty="0" err="1"/>
              <a:t>tách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Stage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đồ</a:t>
            </a:r>
            <a:r>
              <a:rPr lang="en-ID" dirty="0"/>
              <a:t> </a:t>
            </a:r>
            <a:r>
              <a:rPr lang="en-ID" dirty="0" err="1"/>
              <a:t>thị</a:t>
            </a:r>
            <a:r>
              <a:rPr lang="en-ID" dirty="0"/>
              <a:t> DAG, </a:t>
            </a:r>
            <a:r>
              <a:rPr lang="en-ID" dirty="0" err="1"/>
              <a:t>chỉ</a:t>
            </a:r>
            <a:r>
              <a:rPr lang="en-ID" dirty="0"/>
              <a:t> </a:t>
            </a:r>
            <a:r>
              <a:rPr lang="en-ID" dirty="0" err="1"/>
              <a:t>xảy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phép</a:t>
            </a:r>
            <a:r>
              <a:rPr lang="en-ID" dirty="0"/>
              <a:t> </a:t>
            </a:r>
            <a:r>
              <a:rPr lang="en-ID" dirty="0" err="1"/>
              <a:t>toán</a:t>
            </a:r>
            <a:r>
              <a:rPr lang="en-ID" dirty="0"/>
              <a:t> Wide Transformations.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E1770C-663D-6D83-934F-7C5DCA52A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"/>
          <a:stretch>
            <a:fillRect/>
          </a:stretch>
        </p:blipFill>
        <p:spPr>
          <a:xfrm>
            <a:off x="621022" y="1563836"/>
            <a:ext cx="489857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709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6BB19-8914-BB26-034D-4D237A5D3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skew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F978E-5800-36EF-B4B9-115D0E19D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Data Skew </a:t>
            </a:r>
            <a:r>
              <a:rPr lang="en-ID" dirty="0" err="1"/>
              <a:t>thường</a:t>
            </a:r>
            <a:r>
              <a:rPr lang="en-ID" dirty="0"/>
              <a:t> </a:t>
            </a:r>
            <a:r>
              <a:rPr lang="en-ID" dirty="0" err="1"/>
              <a:t>phát</a:t>
            </a:r>
            <a:r>
              <a:rPr lang="en-ID" dirty="0"/>
              <a:t> </a:t>
            </a:r>
            <a:r>
              <a:rPr lang="en-ID" dirty="0" err="1"/>
              <a:t>sinh</a:t>
            </a:r>
            <a:r>
              <a:rPr lang="en-ID" dirty="0"/>
              <a:t> </a:t>
            </a:r>
            <a:r>
              <a:rPr lang="en-ID" dirty="0" err="1"/>
              <a:t>sau</a:t>
            </a:r>
            <a:r>
              <a:rPr lang="en-ID" dirty="0"/>
              <a:t> </a:t>
            </a:r>
            <a:r>
              <a:rPr lang="en-ID" dirty="0" err="1"/>
              <a:t>quá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 Shuffling (</a:t>
            </a:r>
            <a:r>
              <a:rPr lang="en-ID" dirty="0" err="1"/>
              <a:t>Gom</a:t>
            </a:r>
            <a:r>
              <a:rPr lang="en-ID" dirty="0"/>
              <a:t> </a:t>
            </a:r>
            <a:r>
              <a:rPr lang="en-ID" dirty="0" err="1"/>
              <a:t>nhóm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qua </a:t>
            </a:r>
            <a:r>
              <a:rPr lang="en-ID" dirty="0" err="1"/>
              <a:t>mạng</a:t>
            </a:r>
            <a:r>
              <a:rPr lang="en-ID" dirty="0"/>
              <a:t>). Khi Spark </a:t>
            </a:r>
            <a:r>
              <a:rPr lang="en-ID" dirty="0" err="1"/>
              <a:t>dùng</a:t>
            </a:r>
            <a:r>
              <a:rPr lang="en-ID" dirty="0"/>
              <a:t> </a:t>
            </a:r>
            <a:r>
              <a:rPr lang="en-ID" dirty="0" err="1"/>
              <a:t>hàm</a:t>
            </a:r>
            <a:r>
              <a:rPr lang="en-ID" dirty="0"/>
              <a:t> Hash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gom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cùng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Từ</a:t>
            </a:r>
            <a:r>
              <a:rPr lang="en-ID" dirty="0"/>
              <a:t> </a:t>
            </a:r>
            <a:r>
              <a:rPr lang="en-ID" dirty="0" err="1"/>
              <a:t>khóa</a:t>
            </a:r>
            <a:r>
              <a:rPr lang="en-ID" dirty="0"/>
              <a:t> (Key) </a:t>
            </a:r>
            <a:r>
              <a:rPr lang="en-ID" dirty="0" err="1"/>
              <a:t>về</a:t>
            </a:r>
            <a:r>
              <a:rPr lang="en-ID" dirty="0"/>
              <a:t> </a:t>
            </a:r>
            <a:r>
              <a:rPr lang="en-ID" dirty="0" err="1"/>
              <a:t>chung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chỗ</a:t>
            </a:r>
            <a:r>
              <a:rPr lang="en-ID" dirty="0"/>
              <a:t>, </a:t>
            </a:r>
            <a:r>
              <a:rPr lang="en-ID" dirty="0" err="1"/>
              <a:t>nếu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Key </a:t>
            </a:r>
            <a:r>
              <a:rPr lang="en-ID" dirty="0" err="1"/>
              <a:t>xuất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quá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lần</a:t>
            </a:r>
            <a:r>
              <a:rPr lang="en-ID" dirty="0"/>
              <a:t>,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vùng</a:t>
            </a:r>
            <a:r>
              <a:rPr lang="en-ID" dirty="0"/>
              <a:t> </a:t>
            </a:r>
            <a:r>
              <a:rPr lang="en-ID" dirty="0" err="1"/>
              <a:t>chứa</a:t>
            </a:r>
            <a:r>
              <a:rPr lang="en-ID" dirty="0"/>
              <a:t> Key </a:t>
            </a:r>
            <a:r>
              <a:rPr lang="en-ID" dirty="0" err="1"/>
              <a:t>đó</a:t>
            </a:r>
            <a:r>
              <a:rPr lang="en-ID" dirty="0"/>
              <a:t> </a:t>
            </a:r>
            <a:r>
              <a:rPr lang="en-ID" dirty="0" err="1"/>
              <a:t>sẽ</a:t>
            </a:r>
            <a:r>
              <a:rPr lang="en-ID" dirty="0"/>
              <a:t> </a:t>
            </a:r>
            <a:r>
              <a:rPr lang="en-ID" dirty="0" err="1"/>
              <a:t>bị</a:t>
            </a:r>
            <a:r>
              <a:rPr lang="en-ID" dirty="0"/>
              <a:t> </a:t>
            </a:r>
            <a:r>
              <a:rPr lang="en-ID" dirty="0" err="1"/>
              <a:t>phình</a:t>
            </a:r>
            <a:r>
              <a:rPr lang="en-ID" dirty="0"/>
              <a:t> to. Các </a:t>
            </a:r>
            <a:r>
              <a:rPr lang="en-ID" dirty="0" err="1"/>
              <a:t>giải</a:t>
            </a:r>
            <a:r>
              <a:rPr lang="en-ID" dirty="0"/>
              <a:t> </a:t>
            </a:r>
            <a:r>
              <a:rPr lang="en-ID" dirty="0" err="1"/>
              <a:t>pháp</a:t>
            </a:r>
            <a:r>
              <a:rPr lang="en-ID" dirty="0"/>
              <a:t> </a:t>
            </a:r>
            <a:r>
              <a:rPr lang="en-ID" dirty="0" err="1"/>
              <a:t>xử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Data Skew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tế</a:t>
            </a:r>
            <a:r>
              <a:rPr lang="en-ID" dirty="0"/>
              <a:t> bao </a:t>
            </a:r>
            <a:r>
              <a:rPr lang="en-ID" dirty="0" err="1"/>
              <a:t>gồm</a:t>
            </a:r>
            <a:r>
              <a:rPr lang="en-ID" dirty="0"/>
              <a:t> </a:t>
            </a:r>
            <a:r>
              <a:rPr lang="en-ID" dirty="0" err="1"/>
              <a:t>sử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Broadcast Join (</a:t>
            </a:r>
            <a:r>
              <a:rPr lang="en-ID" dirty="0" err="1"/>
              <a:t>nếu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thể</a:t>
            </a:r>
            <a:r>
              <a:rPr lang="en-ID" dirty="0"/>
              <a:t>), </a:t>
            </a:r>
            <a:r>
              <a:rPr lang="en-ID" dirty="0" err="1"/>
              <a:t>kỹ</a:t>
            </a:r>
            <a:r>
              <a:rPr lang="en-ID" dirty="0"/>
              <a:t> </a:t>
            </a:r>
            <a:r>
              <a:rPr lang="en-ID" dirty="0" err="1"/>
              <a:t>thuật</a:t>
            </a:r>
            <a:r>
              <a:rPr lang="en-ID" dirty="0"/>
              <a:t> Salting, </a:t>
            </a:r>
            <a:r>
              <a:rPr lang="en-ID" dirty="0" err="1"/>
              <a:t>loại</a:t>
            </a:r>
            <a:r>
              <a:rPr lang="en-ID" dirty="0"/>
              <a:t> </a:t>
            </a:r>
            <a:r>
              <a:rPr lang="en-ID" dirty="0" err="1"/>
              <a:t>bỏ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giá</a:t>
            </a:r>
            <a:r>
              <a:rPr lang="en-ID" dirty="0"/>
              <a:t> </a:t>
            </a:r>
            <a:r>
              <a:rPr lang="en-ID" dirty="0" err="1"/>
              <a:t>trị</a:t>
            </a:r>
            <a:r>
              <a:rPr lang="en-ID" dirty="0"/>
              <a:t> Null hay </a:t>
            </a:r>
            <a:r>
              <a:rPr lang="en-ID" dirty="0" err="1"/>
              <a:t>kích</a:t>
            </a:r>
            <a:r>
              <a:rPr lang="en-ID" dirty="0"/>
              <a:t> </a:t>
            </a:r>
            <a:r>
              <a:rPr lang="en-ID" dirty="0" err="1"/>
              <a:t>hoạt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năng</a:t>
            </a:r>
            <a:r>
              <a:rPr lang="en-ID" dirty="0"/>
              <a:t> AQE.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779A99-BA20-B3A1-5924-5590445D6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503" y="3082860"/>
            <a:ext cx="9649943" cy="308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405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F2C5F-6D2E-8170-897E-D5C1C9BED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spill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F8570-4A6B-A1DA-9AB9-F9CFBA62C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744" y="3086099"/>
            <a:ext cx="4797553" cy="1828800"/>
          </a:xfrm>
        </p:spPr>
        <p:txBody>
          <a:bodyPr/>
          <a:lstStyle/>
          <a:p>
            <a:r>
              <a:rPr lang="en-ID" dirty="0"/>
              <a:t>Memory Spill (</a:t>
            </a:r>
            <a:r>
              <a:rPr lang="en-ID" dirty="0" err="1"/>
              <a:t>Tràn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nhớ</a:t>
            </a:r>
            <a:r>
              <a:rPr lang="en-ID" dirty="0"/>
              <a:t>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tượng</a:t>
            </a:r>
            <a:r>
              <a:rPr lang="en-ID" dirty="0"/>
              <a:t> </a:t>
            </a:r>
            <a:r>
              <a:rPr lang="en-ID" dirty="0" err="1"/>
              <a:t>xảy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Partition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tập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trung</a:t>
            </a:r>
            <a:r>
              <a:rPr lang="en-ID" dirty="0"/>
              <a:t> </a:t>
            </a:r>
            <a:r>
              <a:rPr lang="en-ID" dirty="0" err="1"/>
              <a:t>gian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Task </a:t>
            </a:r>
            <a:r>
              <a:rPr lang="en-ID" dirty="0" err="1"/>
              <a:t>quá</a:t>
            </a:r>
            <a:r>
              <a:rPr lang="en-ID" dirty="0"/>
              <a:t> </a:t>
            </a:r>
            <a:r>
              <a:rPr lang="en-ID" dirty="0" err="1"/>
              <a:t>lớn</a:t>
            </a:r>
            <a:r>
              <a:rPr lang="en-ID" dirty="0"/>
              <a:t>, </a:t>
            </a:r>
            <a:r>
              <a:rPr lang="en-ID" dirty="0" err="1"/>
              <a:t>vượt</a:t>
            </a:r>
            <a:r>
              <a:rPr lang="en-ID" dirty="0"/>
              <a:t> </a:t>
            </a:r>
            <a:r>
              <a:rPr lang="en-ID" dirty="0" err="1"/>
              <a:t>quá</a:t>
            </a:r>
            <a:r>
              <a:rPr lang="en-ID" dirty="0"/>
              <a:t> dung </a:t>
            </a:r>
            <a:r>
              <a:rPr lang="en-ID" dirty="0" err="1"/>
              <a:t>lượng</a:t>
            </a:r>
            <a:r>
              <a:rPr lang="en-ID" dirty="0"/>
              <a:t> RAM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cấp</a:t>
            </a:r>
            <a:r>
              <a:rPr lang="en-ID" dirty="0"/>
              <a:t> </a:t>
            </a:r>
            <a:r>
              <a:rPr lang="en-ID" dirty="0" err="1"/>
              <a:t>phát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Task </a:t>
            </a:r>
            <a:r>
              <a:rPr lang="en-ID" dirty="0" err="1"/>
              <a:t>đó</a:t>
            </a:r>
            <a:r>
              <a:rPr lang="en-ID" dirty="0"/>
              <a:t>. Khi RAM </a:t>
            </a:r>
            <a:r>
              <a:rPr lang="en-ID" dirty="0" err="1"/>
              <a:t>bị</a:t>
            </a:r>
            <a:r>
              <a:rPr lang="en-ID" dirty="0"/>
              <a:t> </a:t>
            </a:r>
            <a:r>
              <a:rPr lang="en-ID" dirty="0" err="1"/>
              <a:t>cạn</a:t>
            </a:r>
            <a:r>
              <a:rPr lang="en-ID" dirty="0"/>
              <a:t> </a:t>
            </a:r>
            <a:r>
              <a:rPr lang="en-ID" dirty="0" err="1"/>
              <a:t>kiệt</a:t>
            </a:r>
            <a:r>
              <a:rPr lang="en-ID" dirty="0"/>
              <a:t>,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tránh</a:t>
            </a:r>
            <a:r>
              <a:rPr lang="en-ID" dirty="0"/>
              <a:t> </a:t>
            </a:r>
            <a:r>
              <a:rPr lang="en-ID" dirty="0" err="1"/>
              <a:t>việc</a:t>
            </a:r>
            <a:r>
              <a:rPr lang="en-ID" dirty="0"/>
              <a:t> </a:t>
            </a:r>
            <a:r>
              <a:rPr lang="en-ID" dirty="0" err="1"/>
              <a:t>chương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 </a:t>
            </a:r>
            <a:r>
              <a:rPr lang="en-ID" dirty="0" err="1"/>
              <a:t>bị</a:t>
            </a:r>
            <a:r>
              <a:rPr lang="en-ID" dirty="0"/>
              <a:t> </a:t>
            </a:r>
            <a:r>
              <a:rPr lang="en-ID" dirty="0" err="1"/>
              <a:t>sụp</a:t>
            </a:r>
            <a:r>
              <a:rPr lang="en-ID" dirty="0"/>
              <a:t> </a:t>
            </a:r>
            <a:r>
              <a:rPr lang="en-ID" dirty="0" err="1"/>
              <a:t>đổ</a:t>
            </a:r>
            <a:r>
              <a:rPr lang="en-ID" dirty="0"/>
              <a:t> </a:t>
            </a:r>
            <a:r>
              <a:rPr lang="en-ID" dirty="0" err="1"/>
              <a:t>hoàn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do </a:t>
            </a:r>
            <a:r>
              <a:rPr lang="en-ID" dirty="0" err="1"/>
              <a:t>lỗi</a:t>
            </a:r>
            <a:r>
              <a:rPr lang="en-ID" dirty="0"/>
              <a:t> Out Of Memory (OOM), Spark </a:t>
            </a:r>
            <a:r>
              <a:rPr lang="en-ID" dirty="0" err="1"/>
              <a:t>buộc</a:t>
            </a:r>
            <a:r>
              <a:rPr lang="en-ID" dirty="0"/>
              <a:t> </a:t>
            </a:r>
            <a:r>
              <a:rPr lang="en-ID" dirty="0" err="1"/>
              <a:t>phải</a:t>
            </a:r>
            <a:r>
              <a:rPr lang="en-ID" dirty="0"/>
              <a:t> </a:t>
            </a:r>
            <a:r>
              <a:rPr lang="en-ID" dirty="0" err="1"/>
              <a:t>chọn</a:t>
            </a:r>
            <a:r>
              <a:rPr lang="en-ID" dirty="0"/>
              <a:t> </a:t>
            </a:r>
            <a:r>
              <a:rPr lang="en-ID" dirty="0" err="1"/>
              <a:t>giải</a:t>
            </a:r>
            <a:r>
              <a:rPr lang="en-ID" dirty="0"/>
              <a:t> </a:t>
            </a:r>
            <a:r>
              <a:rPr lang="en-ID" dirty="0" err="1"/>
              <a:t>pháp</a:t>
            </a:r>
            <a:r>
              <a:rPr lang="en-ID" dirty="0"/>
              <a:t> "</a:t>
            </a:r>
            <a:r>
              <a:rPr lang="en-ID" dirty="0" err="1"/>
              <a:t>cứu</a:t>
            </a:r>
            <a:r>
              <a:rPr lang="en-ID" dirty="0"/>
              <a:t> </a:t>
            </a:r>
            <a:r>
              <a:rPr lang="en-ID" dirty="0" err="1"/>
              <a:t>cánh</a:t>
            </a:r>
            <a:r>
              <a:rPr lang="en-ID" dirty="0"/>
              <a:t>": </a:t>
            </a:r>
            <a:r>
              <a:rPr lang="en-ID" dirty="0" err="1"/>
              <a:t>Xả</a:t>
            </a:r>
            <a:r>
              <a:rPr lang="en-ID" dirty="0"/>
              <a:t> </a:t>
            </a:r>
            <a:r>
              <a:rPr lang="en-ID" dirty="0" err="1"/>
              <a:t>bớt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tạm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từ</a:t>
            </a:r>
            <a:r>
              <a:rPr lang="en-ID" dirty="0"/>
              <a:t> RAM </a:t>
            </a:r>
            <a:r>
              <a:rPr lang="en-ID" dirty="0" err="1"/>
              <a:t>xuống</a:t>
            </a:r>
            <a:r>
              <a:rPr lang="en-ID" dirty="0"/>
              <a:t> ổ </a:t>
            </a:r>
            <a:r>
              <a:rPr lang="en-ID" dirty="0" err="1"/>
              <a:t>đĩa</a:t>
            </a:r>
            <a:r>
              <a:rPr lang="en-ID" dirty="0"/>
              <a:t> </a:t>
            </a:r>
            <a:r>
              <a:rPr lang="en-ID" dirty="0" err="1"/>
              <a:t>cứng</a:t>
            </a:r>
            <a:r>
              <a:rPr lang="en-ID" dirty="0"/>
              <a:t> </a:t>
            </a:r>
            <a:r>
              <a:rPr lang="en-ID" dirty="0" err="1"/>
              <a:t>cục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(Local Disk), </a:t>
            </a:r>
            <a:r>
              <a:rPr lang="en-ID" dirty="0" err="1"/>
              <a:t>sau</a:t>
            </a:r>
            <a:r>
              <a:rPr lang="en-ID" dirty="0"/>
              <a:t> </a:t>
            </a:r>
            <a:r>
              <a:rPr lang="en-ID" dirty="0" err="1"/>
              <a:t>đó</a:t>
            </a:r>
            <a:r>
              <a:rPr lang="en-ID" dirty="0"/>
              <a:t> </a:t>
            </a:r>
            <a:r>
              <a:rPr lang="en-ID" dirty="0" err="1"/>
              <a:t>đọc</a:t>
            </a:r>
            <a:r>
              <a:rPr lang="en-ID" dirty="0"/>
              <a:t> </a:t>
            </a:r>
            <a:r>
              <a:rPr lang="en-ID" dirty="0" err="1"/>
              <a:t>ngược</a:t>
            </a:r>
            <a:r>
              <a:rPr lang="en-ID" dirty="0"/>
              <a:t> </a:t>
            </a:r>
            <a:r>
              <a:rPr lang="en-ID" dirty="0" err="1"/>
              <a:t>lại</a:t>
            </a:r>
            <a:r>
              <a:rPr lang="en-ID" dirty="0"/>
              <a:t> </a:t>
            </a:r>
            <a:r>
              <a:rPr lang="en-ID" dirty="0" err="1"/>
              <a:t>lên</a:t>
            </a:r>
            <a:r>
              <a:rPr lang="en-ID" dirty="0"/>
              <a:t> RAM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cần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toán</a:t>
            </a:r>
            <a:r>
              <a:rPr lang="en-ID" dirty="0"/>
              <a:t> </a:t>
            </a:r>
            <a:r>
              <a:rPr lang="en-ID" dirty="0" err="1"/>
              <a:t>tiếp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02C242-E999-6F4E-1B69-612849CE0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2225" y="2006729"/>
            <a:ext cx="5984078" cy="398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544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88849-6B6D-B314-2000-EC5CEC5DD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streaming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17267-33E9-D6E1-68E0-FCBA14A35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Spark Streaming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phần</a:t>
            </a:r>
            <a:r>
              <a:rPr lang="en-ID" dirty="0"/>
              <a:t> </a:t>
            </a:r>
            <a:r>
              <a:rPr lang="en-ID" dirty="0" err="1"/>
              <a:t>mở</a:t>
            </a:r>
            <a:r>
              <a:rPr lang="en-ID" dirty="0"/>
              <a:t> </a:t>
            </a:r>
            <a:r>
              <a:rPr lang="en-ID" dirty="0" err="1"/>
              <a:t>rộng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lõi</a:t>
            </a:r>
            <a:r>
              <a:rPr lang="en-ID" dirty="0"/>
              <a:t> Apache Spark,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phép</a:t>
            </a:r>
            <a:r>
              <a:rPr lang="en-ID" dirty="0"/>
              <a:t> </a:t>
            </a:r>
            <a:r>
              <a:rPr lang="en-ID" dirty="0" err="1"/>
              <a:t>xử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luồng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trực</a:t>
            </a:r>
            <a:r>
              <a:rPr lang="en-ID" dirty="0"/>
              <a:t> </a:t>
            </a:r>
            <a:r>
              <a:rPr lang="en-ID" dirty="0" err="1"/>
              <a:t>tiếp</a:t>
            </a:r>
            <a:r>
              <a:rPr lang="en-ID" dirty="0"/>
              <a:t> (live data streams) </a:t>
            </a:r>
            <a:r>
              <a:rPr lang="en-ID" dirty="0" err="1"/>
              <a:t>theo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chế</a:t>
            </a:r>
            <a:r>
              <a:rPr lang="en-ID" dirty="0"/>
              <a:t> micro-batch: </a:t>
            </a:r>
            <a:r>
              <a:rPr lang="en-ID" dirty="0" err="1"/>
              <a:t>thay</a:t>
            </a:r>
            <a:r>
              <a:rPr lang="en-ID" dirty="0"/>
              <a:t> </a:t>
            </a:r>
            <a:r>
              <a:rPr lang="en-ID" dirty="0" err="1"/>
              <a:t>vì</a:t>
            </a:r>
            <a:r>
              <a:rPr lang="en-ID" dirty="0"/>
              <a:t> </a:t>
            </a:r>
            <a:r>
              <a:rPr lang="en-ID" dirty="0" err="1"/>
              <a:t>xử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từng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ghi</a:t>
            </a:r>
            <a:r>
              <a:rPr lang="en-ID" dirty="0"/>
              <a:t> </a:t>
            </a:r>
            <a:r>
              <a:rPr lang="en-ID" dirty="0" err="1"/>
              <a:t>ngay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đến</a:t>
            </a:r>
            <a:r>
              <a:rPr lang="en-ID" dirty="0"/>
              <a:t>, Spark </a:t>
            </a:r>
            <a:r>
              <a:rPr lang="en-ID" dirty="0" err="1"/>
              <a:t>gom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khoảng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gian</a:t>
            </a:r>
            <a:r>
              <a:rPr lang="en-ID" dirty="0"/>
              <a:t> </a:t>
            </a:r>
            <a:r>
              <a:rPr lang="en-ID" dirty="0" err="1"/>
              <a:t>ngắn</a:t>
            </a:r>
            <a:r>
              <a:rPr lang="en-ID" dirty="0"/>
              <a:t> </a:t>
            </a:r>
            <a:r>
              <a:rPr lang="en-ID" dirty="0" err="1"/>
              <a:t>gọi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batch interval (</a:t>
            </a:r>
            <a:r>
              <a:rPr lang="en-ID" dirty="0" err="1"/>
              <a:t>ví</a:t>
            </a:r>
            <a:r>
              <a:rPr lang="en-ID" dirty="0"/>
              <a:t> </a:t>
            </a:r>
            <a:r>
              <a:rPr lang="en-ID" dirty="0" err="1"/>
              <a:t>dụ</a:t>
            </a:r>
            <a:r>
              <a:rPr lang="en-ID" dirty="0"/>
              <a:t> </a:t>
            </a:r>
            <a:r>
              <a:rPr lang="en-ID" dirty="0" err="1"/>
              <a:t>mỗi</a:t>
            </a:r>
            <a:r>
              <a:rPr lang="en-ID" dirty="0"/>
              <a:t> 1 </a:t>
            </a:r>
            <a:r>
              <a:rPr lang="en-ID" dirty="0" err="1"/>
              <a:t>giây</a:t>
            </a:r>
            <a:r>
              <a:rPr lang="en-ID" dirty="0"/>
              <a:t>), </a:t>
            </a:r>
            <a:r>
              <a:rPr lang="en-ID" dirty="0" err="1"/>
              <a:t>sau</a:t>
            </a:r>
            <a:r>
              <a:rPr lang="en-ID" dirty="0"/>
              <a:t> </a:t>
            </a:r>
            <a:r>
              <a:rPr lang="en-ID" dirty="0" err="1"/>
              <a:t>đó</a:t>
            </a:r>
            <a:r>
              <a:rPr lang="en-ID" dirty="0"/>
              <a:t> </a:t>
            </a:r>
            <a:r>
              <a:rPr lang="en-ID" dirty="0" err="1"/>
              <a:t>xử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cả</a:t>
            </a:r>
            <a:r>
              <a:rPr lang="en-ID" dirty="0"/>
              <a:t> </a:t>
            </a:r>
            <a:r>
              <a:rPr lang="en-ID" dirty="0" err="1"/>
              <a:t>khoảng</a:t>
            </a:r>
            <a:r>
              <a:rPr lang="en-ID" dirty="0"/>
              <a:t> </a:t>
            </a:r>
            <a:r>
              <a:rPr lang="en-ID" dirty="0" err="1"/>
              <a:t>đó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batch job </a:t>
            </a:r>
            <a:r>
              <a:rPr lang="en-ID" dirty="0" err="1"/>
              <a:t>nhỏ</a:t>
            </a:r>
            <a:r>
              <a:rPr lang="en-ID" dirty="0"/>
              <a:t>. </a:t>
            </a:r>
            <a:r>
              <a:rPr lang="en-ID" dirty="0" err="1"/>
              <a:t>Nhờ</a:t>
            </a:r>
            <a:r>
              <a:rPr lang="en-ID" dirty="0"/>
              <a:t> </a:t>
            </a:r>
            <a:r>
              <a:rPr lang="en-ID" dirty="0" err="1"/>
              <a:t>vậy</a:t>
            </a:r>
            <a:r>
              <a:rPr lang="en-ID" dirty="0"/>
              <a:t> Spark Streaming </a:t>
            </a:r>
            <a:r>
              <a:rPr lang="en-ID" dirty="0" err="1"/>
              <a:t>vẫn</a:t>
            </a:r>
            <a:r>
              <a:rPr lang="en-ID" dirty="0"/>
              <a:t> </a:t>
            </a:r>
            <a:r>
              <a:rPr lang="en-ID" dirty="0" err="1"/>
              <a:t>tận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engine </a:t>
            </a:r>
            <a:r>
              <a:rPr lang="en-ID" dirty="0" err="1"/>
              <a:t>xử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batch </a:t>
            </a:r>
            <a:r>
              <a:rPr lang="en-ID" dirty="0" err="1"/>
              <a:t>mạnh</a:t>
            </a:r>
            <a:r>
              <a:rPr lang="en-ID" dirty="0"/>
              <a:t> </a:t>
            </a:r>
            <a:r>
              <a:rPr lang="en-ID" dirty="0" err="1"/>
              <a:t>mẽ</a:t>
            </a:r>
            <a:r>
              <a:rPr lang="en-ID" dirty="0"/>
              <a:t> </a:t>
            </a:r>
            <a:r>
              <a:rPr lang="en-ID" dirty="0" err="1"/>
              <a:t>sẵn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Spark, </a:t>
            </a:r>
            <a:r>
              <a:rPr lang="en-ID" dirty="0" err="1"/>
              <a:t>đạt</a:t>
            </a:r>
            <a:r>
              <a:rPr lang="en-ID" dirty="0"/>
              <a:t> </a:t>
            </a:r>
            <a:r>
              <a:rPr lang="en-ID" dirty="0" err="1"/>
              <a:t>độ</a:t>
            </a:r>
            <a:r>
              <a:rPr lang="en-ID" dirty="0"/>
              <a:t> </a:t>
            </a:r>
            <a:r>
              <a:rPr lang="en-ID" dirty="0" err="1"/>
              <a:t>trễ</a:t>
            </a:r>
            <a:r>
              <a:rPr lang="en-ID" dirty="0"/>
              <a:t> </a:t>
            </a:r>
            <a:r>
              <a:rPr lang="en-ID" dirty="0" err="1"/>
              <a:t>thấp</a:t>
            </a:r>
            <a:r>
              <a:rPr lang="en-ID" dirty="0"/>
              <a:t> </a:t>
            </a:r>
            <a:r>
              <a:rPr lang="en-ID" dirty="0" err="1"/>
              <a:t>gần</a:t>
            </a:r>
            <a:r>
              <a:rPr lang="en-ID" dirty="0"/>
              <a:t>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gian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(near real-time) </a:t>
            </a:r>
            <a:r>
              <a:rPr lang="en-ID" dirty="0" err="1"/>
              <a:t>chứ</a:t>
            </a:r>
            <a:r>
              <a:rPr lang="en-ID" dirty="0"/>
              <a:t>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phải</a:t>
            </a:r>
            <a:r>
              <a:rPr lang="en-ID" dirty="0"/>
              <a:t> </a:t>
            </a:r>
            <a:r>
              <a:rPr lang="en-ID" dirty="0" err="1"/>
              <a:t>xử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tức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từng</a:t>
            </a:r>
            <a:r>
              <a:rPr lang="en-ID" dirty="0"/>
              <a:t> </a:t>
            </a:r>
            <a:r>
              <a:rPr lang="en-ID" dirty="0" err="1"/>
              <a:t>sự</a:t>
            </a:r>
            <a:r>
              <a:rPr lang="en-ID" dirty="0"/>
              <a:t> </a:t>
            </a:r>
            <a:r>
              <a:rPr lang="en-ID" dirty="0" err="1"/>
              <a:t>kiện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BB2813-044D-5A7C-FB5F-657893FBC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100" y="3124200"/>
            <a:ext cx="7543800" cy="281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493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51576-F052-8EAD-48D5-74D23610C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DStream</a:t>
            </a:r>
            <a:r>
              <a:rPr lang="en-ID" dirty="0"/>
              <a:t> (Discretized Stream)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6C75A-77E8-130D-734B-6C9107068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Hoạt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</a:t>
            </a:r>
            <a:r>
              <a:rPr lang="en-ID" dirty="0" err="1"/>
              <a:t>theo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chế</a:t>
            </a:r>
            <a:r>
              <a:rPr lang="en-ID" dirty="0"/>
              <a:t> micro-batching </a:t>
            </a:r>
            <a:r>
              <a:rPr lang="en-ID" dirty="0" err="1"/>
              <a:t>đã</a:t>
            </a:r>
            <a:r>
              <a:rPr lang="en-ID" dirty="0"/>
              <a:t> </a:t>
            </a:r>
            <a:r>
              <a:rPr lang="en-ID" dirty="0" err="1"/>
              <a:t>nêu</a:t>
            </a:r>
            <a:r>
              <a:rPr lang="en-ID" dirty="0"/>
              <a:t> ở </a:t>
            </a:r>
            <a:r>
              <a:rPr lang="en-ID" dirty="0" err="1"/>
              <a:t>trên</a:t>
            </a:r>
            <a:r>
              <a:rPr lang="en-ID" dirty="0"/>
              <a:t>, </a:t>
            </a:r>
            <a:r>
              <a:rPr lang="en-ID" dirty="0" err="1"/>
              <a:t>DStream</a:t>
            </a:r>
            <a:r>
              <a:rPr lang="en-ID" dirty="0"/>
              <a:t> API chia </a:t>
            </a:r>
            <a:r>
              <a:rPr lang="en-ID" dirty="0" err="1"/>
              <a:t>nhỏ</a:t>
            </a:r>
            <a:r>
              <a:rPr lang="en-ID" dirty="0"/>
              <a:t> </a:t>
            </a:r>
            <a:r>
              <a:rPr lang="en-ID" dirty="0" err="1"/>
              <a:t>luồng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liên</a:t>
            </a:r>
            <a:r>
              <a:rPr lang="en-ID" dirty="0"/>
              <a:t> </a:t>
            </a:r>
            <a:r>
              <a:rPr lang="en-ID" dirty="0" err="1"/>
              <a:t>tục</a:t>
            </a:r>
            <a:r>
              <a:rPr lang="en-ID" dirty="0"/>
              <a:t> </a:t>
            </a:r>
            <a:r>
              <a:rPr lang="en-ID" dirty="0" err="1"/>
              <a:t>theo</a:t>
            </a:r>
            <a:r>
              <a:rPr lang="en-ID" dirty="0"/>
              <a:t> batch interval, </a:t>
            </a:r>
            <a:r>
              <a:rPr lang="en-ID" dirty="0" err="1"/>
              <a:t>mỗi</a:t>
            </a:r>
            <a:r>
              <a:rPr lang="en-ID" dirty="0"/>
              <a:t> </a:t>
            </a:r>
            <a:r>
              <a:rPr lang="en-ID" dirty="0" err="1"/>
              <a:t>khoảng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nạp</a:t>
            </a:r>
            <a:r>
              <a:rPr lang="en-ID" dirty="0"/>
              <a:t> </a:t>
            </a:r>
            <a:r>
              <a:rPr lang="en-ID" dirty="0" err="1"/>
              <a:t>vào</a:t>
            </a:r>
            <a:r>
              <a:rPr lang="en-ID" dirty="0"/>
              <a:t> Spark </a:t>
            </a:r>
            <a:r>
              <a:rPr lang="en-ID" dirty="0" err="1"/>
              <a:t>dưới</a:t>
            </a:r>
            <a:r>
              <a:rPr lang="en-ID" dirty="0"/>
              <a:t> </a:t>
            </a:r>
            <a:r>
              <a:rPr lang="en-ID" dirty="0" err="1"/>
              <a:t>dạng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tập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RDD </a:t>
            </a:r>
            <a:r>
              <a:rPr lang="en-ID" dirty="0" err="1"/>
              <a:t>thô</a:t>
            </a:r>
            <a:r>
              <a:rPr lang="en-ID" dirty="0"/>
              <a:t>. </a:t>
            </a:r>
            <a:r>
              <a:rPr lang="en-ID" dirty="0" err="1"/>
              <a:t>Vì</a:t>
            </a:r>
            <a:r>
              <a:rPr lang="en-ID" dirty="0"/>
              <a:t> </a:t>
            </a:r>
            <a:r>
              <a:rPr lang="en-ID" dirty="0" err="1"/>
              <a:t>dùng</a:t>
            </a:r>
            <a:r>
              <a:rPr lang="en-ID" dirty="0"/>
              <a:t> RDD </a:t>
            </a:r>
            <a:r>
              <a:rPr lang="en-ID" dirty="0" err="1"/>
              <a:t>nên</a:t>
            </a:r>
            <a:r>
              <a:rPr lang="en-ID" dirty="0"/>
              <a:t>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tận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Catalyst Optimizer </a:t>
            </a:r>
            <a:r>
              <a:rPr lang="en-ID" dirty="0" err="1"/>
              <a:t>và</a:t>
            </a:r>
            <a:r>
              <a:rPr lang="en-ID" dirty="0"/>
              <a:t> Project Tungsten. </a:t>
            </a:r>
            <a:r>
              <a:rPr lang="en-ID" dirty="0" err="1"/>
              <a:t>Ngoài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, </a:t>
            </a:r>
            <a:r>
              <a:rPr lang="en-ID" dirty="0" err="1"/>
              <a:t>DStream</a:t>
            </a:r>
            <a:r>
              <a:rPr lang="en-ID" dirty="0"/>
              <a:t> </a:t>
            </a:r>
            <a:r>
              <a:rPr lang="en-ID" dirty="0" err="1"/>
              <a:t>chỉ</a:t>
            </a:r>
            <a:r>
              <a:rPr lang="en-ID" dirty="0"/>
              <a:t> </a:t>
            </a:r>
            <a:r>
              <a:rPr lang="en-ID" dirty="0" err="1"/>
              <a:t>nhận</a:t>
            </a:r>
            <a:r>
              <a:rPr lang="en-ID" dirty="0"/>
              <a:t> </a:t>
            </a:r>
            <a:r>
              <a:rPr lang="en-ID" dirty="0" err="1"/>
              <a:t>biết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theo</a:t>
            </a:r>
            <a:r>
              <a:rPr lang="en-ID" dirty="0"/>
              <a:t> Processing Time — </a:t>
            </a:r>
            <a:r>
              <a:rPr lang="en-ID" dirty="0" err="1"/>
              <a:t>tức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điểm</a:t>
            </a:r>
            <a:r>
              <a:rPr lang="en-ID" dirty="0"/>
              <a:t> Spark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sự</a:t>
            </a:r>
            <a:r>
              <a:rPr lang="en-ID" dirty="0"/>
              <a:t> </a:t>
            </a:r>
            <a:r>
              <a:rPr lang="en-ID" dirty="0" err="1"/>
              <a:t>nhận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ghi</a:t>
            </a:r>
            <a:r>
              <a:rPr lang="en-ID" dirty="0"/>
              <a:t> — </a:t>
            </a:r>
            <a:r>
              <a:rPr lang="en-ID" dirty="0" err="1"/>
              <a:t>mà</a:t>
            </a:r>
            <a:r>
              <a:rPr lang="en-ID" dirty="0"/>
              <a:t>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biết</a:t>
            </a:r>
            <a:r>
              <a:rPr lang="en-ID" dirty="0"/>
              <a:t> </a:t>
            </a:r>
            <a:r>
              <a:rPr lang="en-ID" dirty="0" err="1"/>
              <a:t>đến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điểm</a:t>
            </a:r>
            <a:r>
              <a:rPr lang="en-ID" dirty="0"/>
              <a:t> </a:t>
            </a:r>
            <a:r>
              <a:rPr lang="en-ID" dirty="0" err="1"/>
              <a:t>sự</a:t>
            </a:r>
            <a:r>
              <a:rPr lang="en-ID" dirty="0"/>
              <a:t> </a:t>
            </a:r>
            <a:r>
              <a:rPr lang="en-ID" dirty="0" err="1"/>
              <a:t>kiện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sự</a:t>
            </a:r>
            <a:r>
              <a:rPr lang="en-ID" dirty="0"/>
              <a:t> </a:t>
            </a:r>
            <a:r>
              <a:rPr lang="en-ID" dirty="0" err="1"/>
              <a:t>xảy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 ở </a:t>
            </a:r>
            <a:r>
              <a:rPr lang="en-ID" dirty="0" err="1"/>
              <a:t>nguồn</a:t>
            </a:r>
            <a:r>
              <a:rPr lang="en-ID" dirty="0"/>
              <a:t>. </a:t>
            </a:r>
            <a:r>
              <a:rPr lang="en-ID" dirty="0" err="1"/>
              <a:t>Điều</a:t>
            </a:r>
            <a:r>
              <a:rPr lang="en-ID" dirty="0"/>
              <a:t>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khiến</a:t>
            </a:r>
            <a:r>
              <a:rPr lang="en-ID" dirty="0"/>
              <a:t> </a:t>
            </a:r>
            <a:r>
              <a:rPr lang="en-ID" dirty="0" err="1"/>
              <a:t>việc</a:t>
            </a:r>
            <a:r>
              <a:rPr lang="en-ID" dirty="0"/>
              <a:t> </a:t>
            </a:r>
            <a:r>
              <a:rPr lang="en-ID" dirty="0" err="1"/>
              <a:t>gom</a:t>
            </a:r>
            <a:r>
              <a:rPr lang="en-ID" dirty="0"/>
              <a:t> </a:t>
            </a:r>
            <a:r>
              <a:rPr lang="en-ID" dirty="0" err="1"/>
              <a:t>nhóm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theo</a:t>
            </a:r>
            <a:r>
              <a:rPr lang="en-ID" dirty="0"/>
              <a:t> </a:t>
            </a:r>
            <a:r>
              <a:rPr lang="en-ID" dirty="0" err="1"/>
              <a:t>cửa</a:t>
            </a:r>
            <a:r>
              <a:rPr lang="en-ID" dirty="0"/>
              <a:t> </a:t>
            </a:r>
            <a:r>
              <a:rPr lang="en-ID" dirty="0" err="1"/>
              <a:t>sổ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gian</a:t>
            </a:r>
            <a:r>
              <a:rPr lang="en-ID" dirty="0"/>
              <a:t> (windowing) </a:t>
            </a:r>
            <a:r>
              <a:rPr lang="en-ID" dirty="0" err="1"/>
              <a:t>dễ</a:t>
            </a:r>
            <a:r>
              <a:rPr lang="en-ID" dirty="0"/>
              <a:t> </a:t>
            </a:r>
            <a:r>
              <a:rPr lang="en-ID" dirty="0" err="1"/>
              <a:t>bị</a:t>
            </a:r>
            <a:r>
              <a:rPr lang="en-ID" dirty="0"/>
              <a:t> </a:t>
            </a:r>
            <a:r>
              <a:rPr lang="en-ID" dirty="0" err="1"/>
              <a:t>sai</a:t>
            </a:r>
            <a:r>
              <a:rPr lang="en-ID" dirty="0"/>
              <a:t> </a:t>
            </a:r>
            <a:r>
              <a:rPr lang="en-ID" dirty="0" err="1"/>
              <a:t>lệch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đến</a:t>
            </a:r>
            <a:r>
              <a:rPr lang="en-ID" dirty="0"/>
              <a:t> </a:t>
            </a:r>
            <a:r>
              <a:rPr lang="en-ID" dirty="0" err="1"/>
              <a:t>trễ</a:t>
            </a:r>
            <a:r>
              <a:rPr lang="en-ID" dirty="0"/>
              <a:t> so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thứ</a:t>
            </a:r>
            <a:r>
              <a:rPr lang="en-ID" dirty="0"/>
              <a:t> </a:t>
            </a:r>
            <a:r>
              <a:rPr lang="en-ID" dirty="0" err="1"/>
              <a:t>tự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tế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1E239-8461-5175-CDF9-5C30DC6462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183" y="3429000"/>
            <a:ext cx="8859634" cy="255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70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88966-CBF6-54E5-9D5B-91AE45644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streaming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38C23-FC9F-C85A-16F5-52B1AFEBC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Ra </a:t>
            </a:r>
            <a:r>
              <a:rPr lang="en-ID" dirty="0" err="1"/>
              <a:t>đời</a:t>
            </a:r>
            <a:r>
              <a:rPr lang="en-ID" dirty="0"/>
              <a:t> </a:t>
            </a:r>
            <a:r>
              <a:rPr lang="en-ID" dirty="0" err="1"/>
              <a:t>từ</a:t>
            </a:r>
            <a:r>
              <a:rPr lang="en-ID" dirty="0"/>
              <a:t> Spark 2.0, </a:t>
            </a: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hình</a:t>
            </a:r>
            <a:r>
              <a:rPr lang="en-ID" dirty="0"/>
              <a:t>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coi</a:t>
            </a:r>
            <a:r>
              <a:rPr lang="en-ID" dirty="0"/>
              <a:t> </a:t>
            </a:r>
            <a:r>
              <a:rPr lang="en-ID" dirty="0" err="1"/>
              <a:t>luồng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trực</a:t>
            </a:r>
            <a:r>
              <a:rPr lang="en-ID" dirty="0"/>
              <a:t> </a:t>
            </a:r>
            <a:r>
              <a:rPr lang="en-ID" dirty="0" err="1"/>
              <a:t>tiếp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mở</a:t>
            </a:r>
            <a:r>
              <a:rPr lang="en-ID" dirty="0"/>
              <a:t> </a:t>
            </a:r>
            <a:r>
              <a:rPr lang="en-ID" dirty="0" err="1"/>
              <a:t>rộng</a:t>
            </a:r>
            <a:r>
              <a:rPr lang="en-ID" dirty="0"/>
              <a:t> </a:t>
            </a:r>
            <a:r>
              <a:rPr lang="en-ID" dirty="0" err="1"/>
              <a:t>vô</a:t>
            </a:r>
            <a:r>
              <a:rPr lang="en-ID" dirty="0"/>
              <a:t> </a:t>
            </a:r>
            <a:r>
              <a:rPr lang="en-ID" dirty="0" err="1"/>
              <a:t>hạn</a:t>
            </a:r>
            <a:r>
              <a:rPr lang="en-ID" dirty="0"/>
              <a:t> (Unbounded Table).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mới</a:t>
            </a:r>
            <a:r>
              <a:rPr lang="en-ID" dirty="0"/>
              <a:t> </a:t>
            </a:r>
            <a:r>
              <a:rPr lang="en-ID" dirty="0" err="1"/>
              <a:t>đến</a:t>
            </a:r>
            <a:r>
              <a:rPr lang="en-ID" dirty="0"/>
              <a:t> </a:t>
            </a:r>
            <a:r>
              <a:rPr lang="en-ID" dirty="0" err="1"/>
              <a:t>sẽ</a:t>
            </a:r>
            <a:r>
              <a:rPr lang="en-ID" dirty="0"/>
              <a:t> </a:t>
            </a:r>
            <a:r>
              <a:rPr lang="en-ID" dirty="0" err="1"/>
              <a:t>liên</a:t>
            </a:r>
            <a:r>
              <a:rPr lang="en-ID" dirty="0"/>
              <a:t> </a:t>
            </a:r>
            <a:r>
              <a:rPr lang="en-ID" dirty="0" err="1"/>
              <a:t>tục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ghi</a:t>
            </a:r>
            <a:r>
              <a:rPr lang="en-ID" dirty="0"/>
              <a:t> </a:t>
            </a:r>
            <a:r>
              <a:rPr lang="en-ID" dirty="0" err="1"/>
              <a:t>thêm</a:t>
            </a:r>
            <a:r>
              <a:rPr lang="en-ID" dirty="0"/>
              <a:t> </a:t>
            </a:r>
            <a:r>
              <a:rPr lang="en-ID" dirty="0" err="1"/>
              <a:t>vào</a:t>
            </a:r>
            <a:r>
              <a:rPr lang="en-ID" dirty="0"/>
              <a:t> </a:t>
            </a:r>
            <a:r>
              <a:rPr lang="en-ID" dirty="0" err="1"/>
              <a:t>dòng</a:t>
            </a:r>
            <a:r>
              <a:rPr lang="en-ID" dirty="0"/>
              <a:t> </a:t>
            </a:r>
            <a:r>
              <a:rPr lang="en-ID" dirty="0" err="1"/>
              <a:t>cuối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(append). </a:t>
            </a:r>
            <a:r>
              <a:rPr lang="en-ID" dirty="0" err="1"/>
              <a:t>Những</a:t>
            </a:r>
            <a:r>
              <a:rPr lang="en-ID" dirty="0"/>
              <a:t> </a:t>
            </a:r>
            <a:r>
              <a:rPr lang="en-ID" dirty="0" err="1"/>
              <a:t>lợi</a:t>
            </a:r>
            <a:r>
              <a:rPr lang="en-ID" dirty="0"/>
              <a:t> </a:t>
            </a:r>
            <a:r>
              <a:rPr lang="en-ID" dirty="0" err="1"/>
              <a:t>ích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sử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Structured Streaming bao </a:t>
            </a:r>
            <a:r>
              <a:rPr lang="en-ID" dirty="0" err="1"/>
              <a:t>gồm</a:t>
            </a:r>
            <a:r>
              <a:rPr lang="en-ID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Sử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</a:t>
            </a:r>
            <a:r>
              <a:rPr lang="en-ID" dirty="0" err="1"/>
              <a:t>chung</a:t>
            </a:r>
            <a:r>
              <a:rPr lang="en-ID" dirty="0"/>
              <a:t> API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DataFrame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Spark 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Tận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Catalyst Optimizer </a:t>
            </a:r>
            <a:r>
              <a:rPr lang="en-ID" dirty="0" err="1"/>
              <a:t>và</a:t>
            </a:r>
            <a:r>
              <a:rPr lang="en-ID" dirty="0"/>
              <a:t> Project Tungsten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Hỗ</a:t>
            </a:r>
            <a:r>
              <a:rPr lang="en-ID" dirty="0"/>
              <a:t> </a:t>
            </a:r>
            <a:r>
              <a:rPr lang="en-ID" dirty="0" err="1"/>
              <a:t>trợ</a:t>
            </a:r>
            <a:r>
              <a:rPr lang="en-ID" dirty="0"/>
              <a:t> </a:t>
            </a:r>
            <a:r>
              <a:rPr lang="en-ID" dirty="0" err="1"/>
              <a:t>xử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đến</a:t>
            </a:r>
            <a:r>
              <a:rPr lang="en-ID" dirty="0"/>
              <a:t> </a:t>
            </a:r>
            <a:r>
              <a:rPr lang="en-ID" dirty="0" err="1"/>
              <a:t>muộn</a:t>
            </a:r>
            <a:r>
              <a:rPr lang="en-ID" dirty="0"/>
              <a:t> (Late Data) </a:t>
            </a:r>
            <a:r>
              <a:rPr lang="en-ID" dirty="0" err="1"/>
              <a:t>bằng</a:t>
            </a:r>
            <a:r>
              <a:rPr lang="en-ID" dirty="0"/>
              <a:t> Watermarking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Continuous Processing mode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C98B56-30DD-719F-3EF3-71507BEF8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891" y="3886200"/>
            <a:ext cx="9087168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277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A463D-314D-3CB7-8997-DD88BB132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219199"/>
            <a:ext cx="10963655" cy="762001"/>
          </a:xfrm>
        </p:spPr>
        <p:txBody>
          <a:bodyPr/>
          <a:lstStyle/>
          <a:p>
            <a:r>
              <a:rPr lang="en-ID" dirty="0" err="1"/>
              <a:t>Khả</a:t>
            </a:r>
            <a:r>
              <a:rPr lang="en-ID" dirty="0"/>
              <a:t> </a:t>
            </a:r>
            <a:r>
              <a:rPr lang="en-ID" dirty="0" err="1"/>
              <a:t>năng</a:t>
            </a:r>
            <a:r>
              <a:rPr lang="en-ID" dirty="0"/>
              <a:t> </a:t>
            </a:r>
            <a:r>
              <a:rPr lang="en-ID" dirty="0" err="1"/>
              <a:t>giải</a:t>
            </a:r>
            <a:r>
              <a:rPr lang="en-ID" dirty="0"/>
              <a:t> </a:t>
            </a:r>
            <a:r>
              <a:rPr lang="en-ID" dirty="0" err="1"/>
              <a:t>quyết</a:t>
            </a:r>
            <a:r>
              <a:rPr lang="en-ID" dirty="0"/>
              <a:t> </a:t>
            </a:r>
            <a:r>
              <a:rPr lang="en-ID" dirty="0" err="1"/>
              <a:t>bài</a:t>
            </a:r>
            <a:r>
              <a:rPr lang="en-ID" dirty="0"/>
              <a:t> </a:t>
            </a:r>
            <a:r>
              <a:rPr lang="en-ID" dirty="0" err="1"/>
              <a:t>toán</a:t>
            </a:r>
            <a:r>
              <a:rPr lang="en-ID" dirty="0"/>
              <a:t> streaming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D2EE8-94F7-B4B4-F5F6-76C12794D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057400"/>
            <a:ext cx="10963656" cy="4114800"/>
          </a:xfrm>
        </p:spPr>
        <p:txBody>
          <a:bodyPr/>
          <a:lstStyle/>
          <a:p>
            <a:r>
              <a:rPr lang="en-ID" dirty="0"/>
              <a:t>Apache Spark </a:t>
            </a:r>
            <a:r>
              <a:rPr lang="en-ID" dirty="0" err="1"/>
              <a:t>giải</a:t>
            </a:r>
            <a:r>
              <a:rPr lang="en-ID" dirty="0"/>
              <a:t> </a:t>
            </a:r>
            <a:r>
              <a:rPr lang="en-ID" dirty="0" err="1"/>
              <a:t>quyết</a:t>
            </a:r>
            <a:r>
              <a:rPr lang="en-ID" dirty="0"/>
              <a:t> </a:t>
            </a:r>
            <a:r>
              <a:rPr lang="en-ID" dirty="0" err="1"/>
              <a:t>bài</a:t>
            </a:r>
            <a:r>
              <a:rPr lang="en-ID" dirty="0"/>
              <a:t> </a:t>
            </a:r>
            <a:r>
              <a:rPr lang="en-ID" dirty="0" err="1"/>
              <a:t>toán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bằng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chế</a:t>
            </a:r>
            <a:r>
              <a:rPr lang="en-ID" dirty="0"/>
              <a:t> micro-batch </a:t>
            </a:r>
            <a:r>
              <a:rPr lang="en-ID" dirty="0" err="1"/>
              <a:t>kết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</a:t>
            </a:r>
            <a:r>
              <a:rPr lang="en-ID" dirty="0" err="1"/>
              <a:t>với</a:t>
            </a:r>
            <a:r>
              <a:rPr lang="en-ID" dirty="0"/>
              <a:t> Continuous Processing, mang </a:t>
            </a:r>
            <a:r>
              <a:rPr lang="en-ID" dirty="0" err="1"/>
              <a:t>lại</a:t>
            </a:r>
            <a:r>
              <a:rPr lang="en-ID" dirty="0"/>
              <a:t> </a:t>
            </a:r>
            <a:r>
              <a:rPr lang="en-ID" dirty="0" err="1"/>
              <a:t>sự</a:t>
            </a:r>
            <a:r>
              <a:rPr lang="en-ID" dirty="0"/>
              <a:t> </a:t>
            </a:r>
            <a:r>
              <a:rPr lang="en-ID" dirty="0" err="1"/>
              <a:t>cân</a:t>
            </a:r>
            <a:r>
              <a:rPr lang="en-ID" dirty="0"/>
              <a:t> </a:t>
            </a:r>
            <a:r>
              <a:rPr lang="en-ID" dirty="0" err="1"/>
              <a:t>bằng</a:t>
            </a:r>
            <a:r>
              <a:rPr lang="en-ID" dirty="0"/>
              <a:t> </a:t>
            </a:r>
            <a:r>
              <a:rPr lang="en-ID" dirty="0" err="1"/>
              <a:t>tối</a:t>
            </a:r>
            <a:r>
              <a:rPr lang="en-ID" dirty="0"/>
              <a:t> </a:t>
            </a:r>
            <a:r>
              <a:rPr lang="en-ID" dirty="0" err="1"/>
              <a:t>ưu</a:t>
            </a:r>
            <a:r>
              <a:rPr lang="en-ID" dirty="0"/>
              <a:t> </a:t>
            </a:r>
            <a:r>
              <a:rPr lang="en-ID" dirty="0" err="1"/>
              <a:t>giữa</a:t>
            </a:r>
            <a:r>
              <a:rPr lang="en-ID" dirty="0"/>
              <a:t> </a:t>
            </a:r>
            <a:r>
              <a:rPr lang="en-ID" dirty="0" err="1"/>
              <a:t>hiệu</a:t>
            </a:r>
            <a:r>
              <a:rPr lang="en-ID" dirty="0"/>
              <a:t> </a:t>
            </a:r>
            <a:r>
              <a:rPr lang="en-ID" dirty="0" err="1"/>
              <a:t>năng</a:t>
            </a:r>
            <a:r>
              <a:rPr lang="en-ID" dirty="0"/>
              <a:t> </a:t>
            </a:r>
            <a:r>
              <a:rPr lang="en-ID" dirty="0" err="1"/>
              <a:t>cao</a:t>
            </a:r>
            <a:r>
              <a:rPr lang="en-ID" dirty="0"/>
              <a:t>, </a:t>
            </a:r>
            <a:r>
              <a:rPr lang="en-ID" dirty="0" err="1"/>
              <a:t>khả</a:t>
            </a:r>
            <a:r>
              <a:rPr lang="en-ID" dirty="0"/>
              <a:t> </a:t>
            </a:r>
            <a:r>
              <a:rPr lang="en-ID" dirty="0" err="1"/>
              <a:t>năng</a:t>
            </a:r>
            <a:r>
              <a:rPr lang="en-ID" dirty="0"/>
              <a:t> </a:t>
            </a:r>
            <a:r>
              <a:rPr lang="en-ID" dirty="0" err="1"/>
              <a:t>chịu</a:t>
            </a:r>
            <a:r>
              <a:rPr lang="en-ID" dirty="0"/>
              <a:t> </a:t>
            </a:r>
            <a:r>
              <a:rPr lang="en-ID" dirty="0" err="1"/>
              <a:t>lỗi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quán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. So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giải</a:t>
            </a:r>
            <a:r>
              <a:rPr lang="en-ID" dirty="0"/>
              <a:t> </a:t>
            </a:r>
            <a:r>
              <a:rPr lang="en-ID" dirty="0" err="1"/>
              <a:t>pháp</a:t>
            </a:r>
            <a:r>
              <a:rPr lang="en-ID" dirty="0"/>
              <a:t> </a:t>
            </a:r>
            <a:r>
              <a:rPr lang="en-ID" dirty="0" err="1"/>
              <a:t>xử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luồng</a:t>
            </a:r>
            <a:r>
              <a:rPr lang="en-ID" dirty="0"/>
              <a:t> </a:t>
            </a:r>
            <a:r>
              <a:rPr lang="en-ID" dirty="0" err="1"/>
              <a:t>chuyên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</a:t>
            </a:r>
            <a:r>
              <a:rPr lang="en-ID" dirty="0" err="1"/>
              <a:t>khác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 Apache Flink, Apache Kafka Streams, hay Storm, Spark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thế</a:t>
            </a:r>
            <a:r>
              <a:rPr lang="en-ID" dirty="0"/>
              <a:t> </a:t>
            </a:r>
            <a:r>
              <a:rPr lang="en-ID" dirty="0" err="1"/>
              <a:t>mạnh</a:t>
            </a:r>
            <a:r>
              <a:rPr lang="en-ID" dirty="0"/>
              <a:t> </a:t>
            </a:r>
            <a:r>
              <a:rPr lang="en-ID" dirty="0" err="1"/>
              <a:t>tuyệt</a:t>
            </a:r>
            <a:r>
              <a:rPr lang="en-ID" dirty="0"/>
              <a:t> </a:t>
            </a:r>
            <a:r>
              <a:rPr lang="en-ID" dirty="0" err="1"/>
              <a:t>đối</a:t>
            </a:r>
            <a:r>
              <a:rPr lang="en-ID" dirty="0"/>
              <a:t> </a:t>
            </a:r>
            <a:r>
              <a:rPr lang="en-ID" dirty="0" err="1"/>
              <a:t>về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sinh</a:t>
            </a:r>
            <a:r>
              <a:rPr lang="en-ID" dirty="0"/>
              <a:t> </a:t>
            </a:r>
            <a:r>
              <a:rPr lang="en-ID" dirty="0" err="1"/>
              <a:t>thái</a:t>
            </a:r>
            <a:r>
              <a:rPr lang="en-ID" dirty="0"/>
              <a:t> </a:t>
            </a:r>
            <a:r>
              <a:rPr lang="en-ID" dirty="0" err="1"/>
              <a:t>tích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</a:t>
            </a:r>
            <a:r>
              <a:rPr lang="en-ID" dirty="0" err="1"/>
              <a:t>nhưng</a:t>
            </a:r>
            <a:r>
              <a:rPr lang="en-ID" dirty="0"/>
              <a:t> </a:t>
            </a:r>
            <a:r>
              <a:rPr lang="en-ID" dirty="0" err="1"/>
              <a:t>lại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độ</a:t>
            </a:r>
            <a:r>
              <a:rPr lang="en-ID" dirty="0"/>
              <a:t> </a:t>
            </a:r>
            <a:r>
              <a:rPr lang="en-ID" dirty="0" err="1"/>
              <a:t>trễ</a:t>
            </a:r>
            <a:r>
              <a:rPr lang="en-ID" dirty="0"/>
              <a:t> </a:t>
            </a:r>
            <a:r>
              <a:rPr lang="en-ID" dirty="0" err="1"/>
              <a:t>cao</a:t>
            </a:r>
            <a:r>
              <a:rPr lang="en-ID" dirty="0"/>
              <a:t> </a:t>
            </a:r>
            <a:r>
              <a:rPr lang="en-ID" dirty="0" err="1"/>
              <a:t>hơn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chút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cấu</a:t>
            </a:r>
            <a:r>
              <a:rPr lang="en-ID" dirty="0"/>
              <a:t> </a:t>
            </a:r>
            <a:r>
              <a:rPr lang="en-ID" dirty="0" err="1"/>
              <a:t>hình</a:t>
            </a:r>
            <a:r>
              <a:rPr lang="en-ID" dirty="0"/>
              <a:t> </a:t>
            </a:r>
            <a:r>
              <a:rPr lang="en-ID" dirty="0" err="1"/>
              <a:t>mặc</a:t>
            </a:r>
            <a:r>
              <a:rPr lang="en-ID" dirty="0"/>
              <a:t> </a:t>
            </a:r>
            <a:r>
              <a:rPr lang="en-ID" dirty="0" err="1"/>
              <a:t>định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726E9E-9537-FFD6-6D5F-BE45F8277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749" y="3048000"/>
            <a:ext cx="702945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242842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{337EB3A2-49CD-431C-8B4F-2480C2DD512E}0f45c1b8-b519-4737-8f12-a18148944ef7-TFfcaeb239-e0ad-43c4-9739-4084ddd7c62fe496f549_win32</Template>
  <TotalTime>203</TotalTime>
  <Words>2035</Words>
  <Application>Microsoft Office PowerPoint</Application>
  <PresentationFormat>Widescreen</PresentationFormat>
  <Paragraphs>69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Bahnschrift SemiLight</vt:lpstr>
      <vt:lpstr>Blockwork elegance</vt:lpstr>
      <vt:lpstr>Apache spark</vt:lpstr>
      <vt:lpstr>Mục lục</vt:lpstr>
      <vt:lpstr>Apache spark là gì?</vt:lpstr>
      <vt:lpstr>Kiến trúc của apache spark</vt:lpstr>
      <vt:lpstr>Spark context vs session</vt:lpstr>
      <vt:lpstr>Tiến trình job của spark</vt:lpstr>
      <vt:lpstr>rdd</vt:lpstr>
      <vt:lpstr>Transformation vs Actions</vt:lpstr>
      <vt:lpstr>Lazy evaluation</vt:lpstr>
      <vt:lpstr>DAG</vt:lpstr>
      <vt:lpstr>Spark Sql/Dataframe/dataset</vt:lpstr>
      <vt:lpstr>Broadcast Variables &amp; Accumulators</vt:lpstr>
      <vt:lpstr>Data partitioning</vt:lpstr>
      <vt:lpstr>shuffling</vt:lpstr>
      <vt:lpstr>Data skew</vt:lpstr>
      <vt:lpstr>Memory spill</vt:lpstr>
      <vt:lpstr>Spark streaming là gì?</vt:lpstr>
      <vt:lpstr>DStream (Discretized Stream)</vt:lpstr>
      <vt:lpstr>Structured streaming</vt:lpstr>
      <vt:lpstr>Khả năng giải quyết bài toán streaming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Anh Quan  (S.CECS)</dc:creator>
  <cp:lastModifiedBy>Le Anh Quan  (S.CECS)</cp:lastModifiedBy>
  <cp:revision>2</cp:revision>
  <dcterms:created xsi:type="dcterms:W3CDTF">2026-07-31T03:43:33Z</dcterms:created>
  <dcterms:modified xsi:type="dcterms:W3CDTF">2026-07-31T07:07:32Z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