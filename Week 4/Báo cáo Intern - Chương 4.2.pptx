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27"/>
  </p:notesMasterIdLst>
  <p:handoutMasterIdLst>
    <p:handoutMasterId r:id="rId28"/>
  </p:handoutMasterIdLst>
  <p:sldIdLst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9" r:id="rId24"/>
    <p:sldId id="277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75" autoAdjust="0"/>
  </p:normalViewPr>
  <p:slideViewPr>
    <p:cSldViewPr showGuides="1">
      <p:cViewPr>
        <p:scale>
          <a:sx n="76" d="100"/>
          <a:sy n="76" d="100"/>
        </p:scale>
        <p:origin x="946" y="2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7/20/2026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7/20/2026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7/20/2026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7/20/2026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7/20/2026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Lưu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tán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Lê Anh Quân</a:t>
            </a:r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46450-4CBA-813D-DCAF-14A41C1B4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lục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D19EB-59DA-9AC5-8AB0-9E28D5B70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I. </a:t>
            </a:r>
            <a:r>
              <a:rPr lang="en-US" sz="2000" dirty="0" err="1"/>
              <a:t>Tổng</a:t>
            </a:r>
            <a:r>
              <a:rPr lang="en-US" sz="2000" dirty="0"/>
              <a:t> </a:t>
            </a:r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về</a:t>
            </a:r>
            <a:r>
              <a:rPr lang="en-US" sz="2000" dirty="0"/>
              <a:t> </a:t>
            </a:r>
            <a:r>
              <a:rPr lang="en-US" sz="2000" dirty="0" err="1"/>
              <a:t>lưu</a:t>
            </a:r>
            <a:r>
              <a:rPr lang="en-US" sz="2000" dirty="0"/>
              <a:t> </a:t>
            </a:r>
            <a:r>
              <a:rPr lang="en-US" sz="2000" dirty="0" err="1"/>
              <a:t>trữ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br>
              <a:rPr lang="en-US" sz="2000" dirty="0"/>
            </a:br>
            <a:r>
              <a:rPr lang="en-US" sz="2000" dirty="0"/>
              <a:t>	1. Lưu </a:t>
            </a:r>
            <a:r>
              <a:rPr lang="en-US" sz="2000" dirty="0" err="1"/>
              <a:t>trữ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gì</a:t>
            </a:r>
            <a:r>
              <a:rPr lang="en-US" sz="2000" dirty="0"/>
              <a:t>?</a:t>
            </a:r>
            <a:br>
              <a:rPr lang="en-US" sz="2000" dirty="0"/>
            </a:br>
            <a:r>
              <a:rPr lang="en-US" sz="2000" dirty="0"/>
              <a:t>	2. Các </a:t>
            </a:r>
            <a:r>
              <a:rPr lang="en-US" sz="2000" dirty="0" err="1"/>
              <a:t>công</a:t>
            </a:r>
            <a:r>
              <a:rPr lang="en-US" sz="2000" dirty="0"/>
              <a:t> </a:t>
            </a:r>
            <a:r>
              <a:rPr lang="en-US" sz="2000" dirty="0" err="1"/>
              <a:t>nghệ</a:t>
            </a:r>
            <a:r>
              <a:rPr lang="en-US" sz="2000" dirty="0"/>
              <a:t> </a:t>
            </a:r>
            <a:r>
              <a:rPr lang="en-US" sz="2000" dirty="0" err="1"/>
              <a:t>lưu</a:t>
            </a:r>
            <a:r>
              <a:rPr lang="en-US" sz="2000" dirty="0"/>
              <a:t> </a:t>
            </a:r>
            <a:r>
              <a:rPr lang="en-US" sz="2000" dirty="0" err="1"/>
              <a:t>trữ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endParaRPr lang="en-US" sz="2000" dirty="0"/>
          </a:p>
          <a:p>
            <a:r>
              <a:rPr lang="en-US" sz="2000" dirty="0"/>
              <a:t>II. </a:t>
            </a:r>
            <a:r>
              <a:rPr lang="en-US" sz="2000" dirty="0" err="1"/>
              <a:t>Kiến</a:t>
            </a:r>
            <a:r>
              <a:rPr lang="en-US" sz="2000" dirty="0"/>
              <a:t> </a:t>
            </a:r>
            <a:r>
              <a:rPr lang="en-US" sz="2000" dirty="0" err="1"/>
              <a:t>trúc</a:t>
            </a:r>
            <a:r>
              <a:rPr lang="en-US" sz="2000" dirty="0"/>
              <a:t> HDFS</a:t>
            </a:r>
            <a:br>
              <a:rPr lang="en-US" sz="2000" dirty="0"/>
            </a:br>
            <a:r>
              <a:rPr lang="en-US" sz="2000" dirty="0"/>
              <a:t>	1. HDFS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thành</a:t>
            </a:r>
            <a:r>
              <a:rPr lang="en-US" sz="2000" dirty="0"/>
              <a:t> </a:t>
            </a:r>
            <a:r>
              <a:rPr lang="en-US" sz="2000" dirty="0" err="1"/>
              <a:t>phần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nó</a:t>
            </a:r>
            <a:br>
              <a:rPr lang="en-US" sz="2000" dirty="0"/>
            </a:br>
            <a:r>
              <a:rPr lang="en-US" sz="2000" dirty="0"/>
              <a:t>	2. </a:t>
            </a:r>
            <a:r>
              <a:rPr lang="en-US" sz="2000" dirty="0" err="1"/>
              <a:t>Cơ</a:t>
            </a:r>
            <a:r>
              <a:rPr lang="en-US" sz="2000" dirty="0"/>
              <a:t> </a:t>
            </a:r>
            <a:r>
              <a:rPr lang="en-US" sz="2000" dirty="0" err="1"/>
              <a:t>chế</a:t>
            </a:r>
            <a:r>
              <a:rPr lang="en-US" sz="2000" dirty="0"/>
              <a:t> </a:t>
            </a:r>
            <a:r>
              <a:rPr lang="en-US" sz="2000" dirty="0" err="1"/>
              <a:t>hoạt</a:t>
            </a:r>
            <a:r>
              <a:rPr lang="en-US" sz="2000" dirty="0"/>
              <a:t> </a:t>
            </a:r>
            <a:r>
              <a:rPr lang="en-US" sz="2000" dirty="0" err="1"/>
              <a:t>động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HDFS</a:t>
            </a:r>
          </a:p>
          <a:p>
            <a:r>
              <a:rPr lang="en-US" sz="2000" dirty="0"/>
              <a:t>III. Các </a:t>
            </a:r>
            <a:r>
              <a:rPr lang="en-US" sz="2000" dirty="0" err="1"/>
              <a:t>đặc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HDFS</a:t>
            </a:r>
          </a:p>
          <a:p>
            <a:r>
              <a:rPr lang="en-US" sz="2000" dirty="0"/>
              <a:t>IV. Apache Hive </a:t>
            </a:r>
            <a:r>
              <a:rPr lang="en-US" sz="2000" dirty="0" err="1"/>
              <a:t>và</a:t>
            </a:r>
            <a:r>
              <a:rPr lang="en-US" sz="2000" dirty="0"/>
              <a:t> Apache Iceberg</a:t>
            </a:r>
            <a:br>
              <a:rPr lang="en-US" sz="2000" dirty="0"/>
            </a:br>
            <a:r>
              <a:rPr lang="en-US" sz="2000" dirty="0"/>
              <a:t>	1. Apache Hive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gì</a:t>
            </a:r>
            <a:r>
              <a:rPr lang="en-US" sz="2000" dirty="0"/>
              <a:t>?</a:t>
            </a:r>
            <a:br>
              <a:rPr lang="en-US" sz="2000" dirty="0"/>
            </a:br>
            <a:r>
              <a:rPr lang="en-US" sz="2000" dirty="0"/>
              <a:t>	2. Apache Iceberg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gì</a:t>
            </a:r>
            <a:r>
              <a:rPr lang="en-US" sz="2000" dirty="0"/>
              <a:t>?</a:t>
            </a:r>
            <a:br>
              <a:rPr lang="en-US" sz="2000" dirty="0"/>
            </a:br>
            <a:r>
              <a:rPr lang="en-US" sz="2000" dirty="0"/>
              <a:t>	3. So </a:t>
            </a:r>
            <a:r>
              <a:rPr lang="en-US" sz="2000" dirty="0" err="1"/>
              <a:t>sánh</a:t>
            </a:r>
            <a:r>
              <a:rPr lang="en-US" sz="2000" dirty="0"/>
              <a:t> Hive </a:t>
            </a:r>
            <a:r>
              <a:rPr lang="en-US" sz="2000" dirty="0" err="1"/>
              <a:t>và</a:t>
            </a:r>
            <a:r>
              <a:rPr lang="en-US" sz="2000" dirty="0"/>
              <a:t> Iceberg</a:t>
            </a:r>
          </a:p>
          <a:p>
            <a:endParaRPr lang="en-ID" sz="2000" dirty="0"/>
          </a:p>
          <a:p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2115720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C0C93-9171-C997-BF9B-0DE820E39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Lưu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EF79C-30B9-F0E4-122A-160BA5EB9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3276600"/>
            <a:ext cx="5076825" cy="1219200"/>
          </a:xfrm>
        </p:spPr>
        <p:txBody>
          <a:bodyPr/>
          <a:lstStyle/>
          <a:p>
            <a:r>
              <a:rPr lang="en-ID" dirty="0"/>
              <a:t>Lưu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(Data Storage)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quá</a:t>
            </a:r>
            <a:r>
              <a:rPr lang="en-ID" dirty="0"/>
              <a:t> </a:t>
            </a:r>
            <a:r>
              <a:rPr lang="en-ID" dirty="0" err="1"/>
              <a:t>trình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tin </a:t>
            </a:r>
            <a:r>
              <a:rPr lang="en-ID" dirty="0" err="1"/>
              <a:t>dưới</a:t>
            </a:r>
            <a:r>
              <a:rPr lang="en-ID" dirty="0"/>
              <a:t> </a:t>
            </a:r>
            <a:r>
              <a:rPr lang="en-ID" dirty="0" err="1"/>
              <a:t>dạng</a:t>
            </a:r>
            <a:r>
              <a:rPr lang="en-ID" dirty="0"/>
              <a:t> </a:t>
            </a:r>
            <a:r>
              <a:rPr lang="en-ID" dirty="0" err="1"/>
              <a:t>kỹ</a:t>
            </a:r>
            <a:r>
              <a:rPr lang="en-ID" dirty="0"/>
              <a:t> </a:t>
            </a:r>
            <a:r>
              <a:rPr lang="en-ID" dirty="0" err="1"/>
              <a:t>thuật</a:t>
            </a:r>
            <a:r>
              <a:rPr lang="en-ID" dirty="0"/>
              <a:t> </a:t>
            </a:r>
            <a:r>
              <a:rPr lang="en-ID" dirty="0" err="1"/>
              <a:t>số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phương</a:t>
            </a:r>
            <a:r>
              <a:rPr lang="en-ID" dirty="0"/>
              <a:t> </a:t>
            </a:r>
            <a:r>
              <a:rPr lang="en-ID" dirty="0" err="1"/>
              <a:t>tiện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bị</a:t>
            </a:r>
            <a:r>
              <a:rPr lang="en-ID" dirty="0"/>
              <a:t>. </a:t>
            </a:r>
            <a:r>
              <a:rPr lang="en-ID" dirty="0" err="1"/>
              <a:t>Đây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nền</a:t>
            </a:r>
            <a:r>
              <a:rPr lang="en-ID" dirty="0"/>
              <a:t> </a:t>
            </a:r>
            <a:r>
              <a:rPr lang="en-ID" dirty="0" err="1"/>
              <a:t>tảng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công</a:t>
            </a:r>
            <a:r>
              <a:rPr lang="en-ID" dirty="0"/>
              <a:t> </a:t>
            </a:r>
            <a:r>
              <a:rPr lang="en-ID" dirty="0" err="1"/>
              <a:t>nghệ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tin,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tin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người</a:t>
            </a:r>
            <a:r>
              <a:rPr lang="en-ID" dirty="0"/>
              <a:t>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xuất</a:t>
            </a:r>
            <a:r>
              <a:rPr lang="en-ID" dirty="0"/>
              <a:t>, </a:t>
            </a:r>
            <a:r>
              <a:rPr lang="en-ID" dirty="0" err="1"/>
              <a:t>chỉnh</a:t>
            </a:r>
            <a:r>
              <a:rPr lang="en-ID" dirty="0"/>
              <a:t> </a:t>
            </a:r>
            <a:r>
              <a:rPr lang="en-ID" dirty="0" err="1"/>
              <a:t>sửa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bất</a:t>
            </a:r>
            <a:r>
              <a:rPr lang="en-ID" dirty="0"/>
              <a:t> </a:t>
            </a:r>
            <a:r>
              <a:rPr lang="en-ID" dirty="0" err="1"/>
              <a:t>cứ</a:t>
            </a:r>
            <a:r>
              <a:rPr lang="en-ID" dirty="0"/>
              <a:t> </a:t>
            </a:r>
            <a:r>
              <a:rPr lang="en-ID" dirty="0" err="1"/>
              <a:t>lúc</a:t>
            </a:r>
            <a:r>
              <a:rPr lang="en-ID" dirty="0"/>
              <a:t> </a:t>
            </a:r>
            <a:r>
              <a:rPr lang="en-ID" dirty="0" err="1"/>
              <a:t>nào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5E9111-7E98-CA0F-6083-B34768F60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44"/>
          <a:stretch>
            <a:fillRect/>
          </a:stretch>
        </p:blipFill>
        <p:spPr>
          <a:xfrm>
            <a:off x="6094475" y="1447801"/>
            <a:ext cx="507682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700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52791-2400-6F1F-ECE2-44A03905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fs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F598C-ED24-B8DE-AC76-824000F86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Trước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tệp</a:t>
            </a:r>
            <a:r>
              <a:rPr lang="en-ID" dirty="0"/>
              <a:t> </a:t>
            </a:r>
            <a:r>
              <a:rPr lang="en-ID" dirty="0" err="1"/>
              <a:t>truyền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(Traditional File System)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đời</a:t>
            </a:r>
            <a:r>
              <a:rPr lang="en-ID" dirty="0"/>
              <a:t>,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đời</a:t>
            </a:r>
            <a:r>
              <a:rPr lang="en-ID" dirty="0"/>
              <a:t> </a:t>
            </a:r>
            <a:r>
              <a:rPr lang="en-ID" dirty="0" err="1"/>
              <a:t>đầu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thô</a:t>
            </a:r>
            <a:r>
              <a:rPr lang="en-ID" dirty="0"/>
              <a:t> (raw data) </a:t>
            </a:r>
            <a:r>
              <a:rPr lang="en-ID" dirty="0" err="1"/>
              <a:t>trực</a:t>
            </a:r>
            <a:r>
              <a:rPr lang="en-ID" dirty="0"/>
              <a:t> </a:t>
            </a:r>
            <a:r>
              <a:rPr lang="en-ID" dirty="0" err="1"/>
              <a:t>tiếp</a:t>
            </a:r>
            <a:r>
              <a:rPr lang="en-ID" dirty="0"/>
              <a:t> </a:t>
            </a:r>
            <a:r>
              <a:rPr lang="en-ID" dirty="0" err="1"/>
              <a:t>lên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bề</a:t>
            </a:r>
            <a:r>
              <a:rPr lang="en-ID" dirty="0"/>
              <a:t> </a:t>
            </a:r>
            <a:r>
              <a:rPr lang="en-ID" dirty="0" err="1"/>
              <a:t>mặt</a:t>
            </a:r>
            <a:r>
              <a:rPr lang="en-ID" dirty="0"/>
              <a:t> </a:t>
            </a:r>
            <a:r>
              <a:rPr lang="en-ID" dirty="0" err="1"/>
              <a:t>đĩa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, </a:t>
            </a:r>
            <a:r>
              <a:rPr lang="en-ID" dirty="0" err="1"/>
              <a:t>gây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bất</a:t>
            </a:r>
            <a:r>
              <a:rPr lang="en-ID" dirty="0"/>
              <a:t> </a:t>
            </a:r>
            <a:r>
              <a:rPr lang="en-ID" dirty="0" err="1"/>
              <a:t>tiện</a:t>
            </a:r>
            <a:r>
              <a:rPr lang="en-ID" dirty="0"/>
              <a:t>. </a:t>
            </a:r>
            <a:r>
              <a:rPr lang="en-ID" dirty="0" err="1"/>
              <a:t>Trước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tệp</a:t>
            </a:r>
            <a:r>
              <a:rPr lang="en-ID" dirty="0"/>
              <a:t> </a:t>
            </a:r>
            <a:r>
              <a:rPr lang="en-ID" dirty="0" err="1"/>
              <a:t>truyền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(Traditional File System)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đời</a:t>
            </a:r>
            <a:r>
              <a:rPr lang="en-ID" dirty="0"/>
              <a:t>,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đời</a:t>
            </a:r>
            <a:r>
              <a:rPr lang="en-ID" dirty="0"/>
              <a:t> </a:t>
            </a:r>
            <a:r>
              <a:rPr lang="en-ID" dirty="0" err="1"/>
              <a:t>đầu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thô</a:t>
            </a:r>
            <a:r>
              <a:rPr lang="en-ID" dirty="0"/>
              <a:t> (raw data) </a:t>
            </a:r>
            <a:r>
              <a:rPr lang="en-ID" dirty="0" err="1"/>
              <a:t>trực</a:t>
            </a:r>
            <a:r>
              <a:rPr lang="en-ID" dirty="0"/>
              <a:t> </a:t>
            </a:r>
            <a:r>
              <a:rPr lang="en-ID" dirty="0" err="1"/>
              <a:t>tiếp</a:t>
            </a:r>
            <a:r>
              <a:rPr lang="en-ID" dirty="0"/>
              <a:t> </a:t>
            </a:r>
            <a:r>
              <a:rPr lang="en-ID" dirty="0" err="1"/>
              <a:t>lên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bề</a:t>
            </a:r>
            <a:r>
              <a:rPr lang="en-ID" dirty="0"/>
              <a:t> </a:t>
            </a:r>
            <a:r>
              <a:rPr lang="en-ID" dirty="0" err="1"/>
              <a:t>mặt</a:t>
            </a:r>
            <a:r>
              <a:rPr lang="en-ID" dirty="0"/>
              <a:t> </a:t>
            </a:r>
            <a:r>
              <a:rPr lang="en-ID" dirty="0" err="1"/>
              <a:t>đĩa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, </a:t>
            </a:r>
            <a:r>
              <a:rPr lang="en-ID" dirty="0" err="1"/>
              <a:t>gây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bất</a:t>
            </a:r>
            <a:r>
              <a:rPr lang="en-ID" dirty="0"/>
              <a:t> </a:t>
            </a:r>
            <a:r>
              <a:rPr lang="en-ID" dirty="0" err="1"/>
              <a:t>tiện</a:t>
            </a:r>
            <a:r>
              <a:rPr lang="en-ID" dirty="0"/>
              <a:t>. </a:t>
            </a:r>
            <a:r>
              <a:rPr lang="en-ID" dirty="0" err="1"/>
              <a:t>Trái</a:t>
            </a:r>
            <a:r>
              <a:rPr lang="en-ID" dirty="0"/>
              <a:t> </a:t>
            </a:r>
            <a:r>
              <a:rPr lang="en-ID" dirty="0" err="1"/>
              <a:t>tim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FS </a:t>
            </a:r>
            <a:r>
              <a:rPr lang="en-ID" dirty="0" err="1"/>
              <a:t>truyền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sơ</a:t>
            </a:r>
            <a:r>
              <a:rPr lang="en-ID" dirty="0"/>
              <a:t> </a:t>
            </a:r>
            <a:r>
              <a:rPr lang="en-ID" dirty="0" err="1"/>
              <a:t>đồ</a:t>
            </a:r>
            <a:r>
              <a:rPr lang="en-ID" dirty="0"/>
              <a:t> </a:t>
            </a:r>
            <a:r>
              <a:rPr lang="en-ID" dirty="0" err="1"/>
              <a:t>lớn</a:t>
            </a:r>
            <a:r>
              <a:rPr lang="en-ID" dirty="0"/>
              <a:t> </a:t>
            </a:r>
            <a:r>
              <a:rPr lang="en-ID" dirty="0" err="1"/>
              <a:t>nằm</a:t>
            </a:r>
            <a:r>
              <a:rPr lang="en-ID" dirty="0"/>
              <a:t> ở </a:t>
            </a:r>
            <a:r>
              <a:rPr lang="en-ID" dirty="0" err="1"/>
              <a:t>vùng</a:t>
            </a:r>
            <a:r>
              <a:rPr lang="en-ID" dirty="0"/>
              <a:t> </a:t>
            </a:r>
            <a:r>
              <a:rPr lang="en-ID" dirty="0" err="1"/>
              <a:t>đầu</a:t>
            </a:r>
            <a:r>
              <a:rPr lang="en-ID" dirty="0"/>
              <a:t> </a:t>
            </a:r>
            <a:r>
              <a:rPr lang="en-ID" dirty="0" err="1"/>
              <a:t>tiên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ổ </a:t>
            </a:r>
            <a:r>
              <a:rPr lang="en-ID" dirty="0" err="1"/>
              <a:t>đĩa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930A35-5175-6C58-CCAC-1B9044CB6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771" y="2977753"/>
            <a:ext cx="7166458" cy="349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48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D56C8-D0A1-E5F6-C423-0AFC086FE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tán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9620C-115C-4465-9CBD-E41E08524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1" y="3238500"/>
            <a:ext cx="4718302" cy="1447800"/>
          </a:xfrm>
        </p:spPr>
        <p:txBody>
          <a:bodyPr/>
          <a:lstStyle/>
          <a:p>
            <a:r>
              <a:rPr lang="en-ID" dirty="0"/>
              <a:t>Lưu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tán</a:t>
            </a:r>
            <a:r>
              <a:rPr lang="en-ID" dirty="0"/>
              <a:t> (distributed storage)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kiến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chủ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nút</a:t>
            </a:r>
            <a:r>
              <a:rPr lang="en-ID" dirty="0"/>
              <a:t> </a:t>
            </a:r>
            <a:r>
              <a:rPr lang="en-ID" dirty="0" err="1"/>
              <a:t>mạng</a:t>
            </a:r>
            <a:r>
              <a:rPr lang="en-ID" dirty="0"/>
              <a:t> </a:t>
            </a:r>
            <a:r>
              <a:rPr lang="en-ID" dirty="0" err="1"/>
              <a:t>vật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(node)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. Thay </a:t>
            </a:r>
            <a:r>
              <a:rPr lang="en-ID" dirty="0" err="1"/>
              <a:t>vì</a:t>
            </a:r>
            <a:r>
              <a:rPr lang="en-ID" dirty="0"/>
              <a:t> </a:t>
            </a:r>
            <a:r>
              <a:rPr lang="en-ID" dirty="0" err="1"/>
              <a:t>tập</a:t>
            </a:r>
            <a:r>
              <a:rPr lang="en-ID" dirty="0"/>
              <a:t> </a:t>
            </a:r>
            <a:r>
              <a:rPr lang="en-ID" dirty="0" err="1"/>
              <a:t>trung</a:t>
            </a:r>
            <a:r>
              <a:rPr lang="en-ID" dirty="0"/>
              <a:t> </a:t>
            </a:r>
            <a:r>
              <a:rPr lang="en-ID" dirty="0" err="1"/>
              <a:t>tại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chủ</a:t>
            </a:r>
            <a:r>
              <a:rPr lang="en-ID" dirty="0"/>
              <a:t> </a:t>
            </a:r>
            <a:r>
              <a:rPr lang="en-ID" dirty="0" err="1"/>
              <a:t>duy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,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mảnh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sao</a:t>
            </a:r>
            <a:r>
              <a:rPr lang="en-ID" dirty="0"/>
              <a:t> </a:t>
            </a:r>
            <a:r>
              <a:rPr lang="en-ID" dirty="0" err="1"/>
              <a:t>chép</a:t>
            </a:r>
            <a:r>
              <a:rPr lang="en-ID" dirty="0"/>
              <a:t>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tăng</a:t>
            </a:r>
            <a:r>
              <a:rPr lang="en-ID" dirty="0"/>
              <a:t> </a:t>
            </a:r>
            <a:r>
              <a:rPr lang="en-ID" dirty="0" err="1"/>
              <a:t>tốc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cập</a:t>
            </a:r>
            <a:r>
              <a:rPr lang="en-ID" dirty="0"/>
              <a:t>, </a:t>
            </a:r>
            <a:r>
              <a:rPr lang="en-ID" dirty="0" err="1"/>
              <a:t>tối</a:t>
            </a:r>
            <a:r>
              <a:rPr lang="en-ID" dirty="0"/>
              <a:t> </a:t>
            </a:r>
            <a:r>
              <a:rPr lang="en-ID" dirty="0" err="1"/>
              <a:t>ưu</a:t>
            </a:r>
            <a:r>
              <a:rPr lang="en-ID" dirty="0"/>
              <a:t> </a:t>
            </a:r>
            <a:r>
              <a:rPr lang="en-ID" dirty="0" err="1"/>
              <a:t>hóa</a:t>
            </a:r>
            <a:r>
              <a:rPr lang="en-ID" dirty="0"/>
              <a:t> </a:t>
            </a:r>
            <a:r>
              <a:rPr lang="en-ID" dirty="0" err="1"/>
              <a:t>khả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mở</a:t>
            </a:r>
            <a:r>
              <a:rPr lang="en-ID" dirty="0"/>
              <a:t> </a:t>
            </a:r>
            <a:r>
              <a:rPr lang="en-ID" dirty="0" err="1"/>
              <a:t>rộng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đảm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an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nếu</a:t>
            </a:r>
            <a:r>
              <a:rPr lang="en-ID" dirty="0"/>
              <a:t> </a:t>
            </a:r>
            <a:r>
              <a:rPr lang="en-ID" dirty="0" err="1"/>
              <a:t>xảy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sự</a:t>
            </a:r>
            <a:r>
              <a:rPr lang="en-ID" dirty="0"/>
              <a:t> </a:t>
            </a:r>
            <a:r>
              <a:rPr lang="en-ID" dirty="0" err="1"/>
              <a:t>cố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5995D-3F2A-8C2B-D918-7D74A7132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2438400"/>
            <a:ext cx="5805714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66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695F3-74AD-C82B-8A5C-CAC1D9EB7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hdfs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F2784-FA3F-C2A8-B77B-F96106B99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HDFS (Hadoop Distributed File System)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cốt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nền</a:t>
            </a:r>
            <a:r>
              <a:rPr lang="en-ID" dirty="0"/>
              <a:t> </a:t>
            </a:r>
            <a:r>
              <a:rPr lang="en-ID" dirty="0" err="1"/>
              <a:t>tảng</a:t>
            </a:r>
            <a:r>
              <a:rPr lang="en-ID" dirty="0"/>
              <a:t> Hadoop.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tệp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khổng</a:t>
            </a:r>
            <a:r>
              <a:rPr lang="en-ID" dirty="0"/>
              <a:t> </a:t>
            </a:r>
            <a:r>
              <a:rPr lang="en-ID" dirty="0" err="1"/>
              <a:t>lồ</a:t>
            </a:r>
            <a:r>
              <a:rPr lang="en-ID" dirty="0"/>
              <a:t> (Big Data) </a:t>
            </a:r>
            <a:r>
              <a:rPr lang="en-ID" dirty="0" err="1"/>
              <a:t>bằng</a:t>
            </a:r>
            <a:r>
              <a:rPr lang="en-ID" dirty="0"/>
              <a:t> </a:t>
            </a:r>
            <a:r>
              <a:rPr lang="en-ID" dirty="0" err="1"/>
              <a:t>cách</a:t>
            </a:r>
            <a:r>
              <a:rPr lang="en-ID" dirty="0"/>
              <a:t> chia </a:t>
            </a:r>
            <a:r>
              <a:rPr lang="en-ID" dirty="0" err="1"/>
              <a:t>nhỏ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tán</a:t>
            </a:r>
            <a:r>
              <a:rPr lang="en-ID" dirty="0"/>
              <a:t> </a:t>
            </a:r>
            <a:r>
              <a:rPr lang="en-ID" dirty="0" err="1"/>
              <a:t>chúng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giá</a:t>
            </a:r>
            <a:r>
              <a:rPr lang="en-ID" dirty="0"/>
              <a:t> </a:t>
            </a:r>
            <a:r>
              <a:rPr lang="en-ID" dirty="0" err="1"/>
              <a:t>rẻ</a:t>
            </a:r>
            <a:r>
              <a:rPr lang="en-ID" dirty="0"/>
              <a:t>, </a:t>
            </a:r>
            <a:r>
              <a:rPr lang="en-ID" dirty="0" err="1"/>
              <a:t>thay</a:t>
            </a:r>
            <a:r>
              <a:rPr lang="en-ID" dirty="0"/>
              <a:t> </a:t>
            </a:r>
            <a:r>
              <a:rPr lang="en-ID" dirty="0" err="1"/>
              <a:t>vì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chủ</a:t>
            </a:r>
            <a:r>
              <a:rPr lang="en-ID" dirty="0"/>
              <a:t> </a:t>
            </a:r>
            <a:r>
              <a:rPr lang="en-ID" dirty="0" err="1"/>
              <a:t>duy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. Khi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tệp</a:t>
            </a:r>
            <a:r>
              <a:rPr lang="en-ID" dirty="0"/>
              <a:t> tin </a:t>
            </a:r>
            <a:r>
              <a:rPr lang="en-ID" dirty="0" err="1"/>
              <a:t>lớn</a:t>
            </a:r>
            <a:r>
              <a:rPr lang="en-ID" dirty="0"/>
              <a:t> (</a:t>
            </a:r>
            <a:r>
              <a:rPr lang="en-ID" dirty="0" err="1"/>
              <a:t>ví</a:t>
            </a:r>
            <a:r>
              <a:rPr lang="en-ID" dirty="0"/>
              <a:t> </a:t>
            </a:r>
            <a:r>
              <a:rPr lang="en-ID" dirty="0" err="1"/>
              <a:t>dụ</a:t>
            </a:r>
            <a:r>
              <a:rPr lang="en-ID" dirty="0"/>
              <a:t>: </a:t>
            </a:r>
            <a:r>
              <a:rPr lang="en-ID" dirty="0" err="1"/>
              <a:t>vài</a:t>
            </a:r>
            <a:r>
              <a:rPr lang="en-ID" dirty="0"/>
              <a:t> </a:t>
            </a:r>
            <a:r>
              <a:rPr lang="en-ID" dirty="0" err="1"/>
              <a:t>trăm</a:t>
            </a:r>
            <a:r>
              <a:rPr lang="en-ID" dirty="0"/>
              <a:t> Gigabyte)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đưa</a:t>
            </a:r>
            <a:r>
              <a:rPr lang="en-ID" dirty="0"/>
              <a:t> </a:t>
            </a:r>
            <a:r>
              <a:rPr lang="en-ID" dirty="0" err="1"/>
              <a:t>vào</a:t>
            </a:r>
            <a:r>
              <a:rPr lang="en-ID" dirty="0"/>
              <a:t> HDFS,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cắt</a:t>
            </a:r>
            <a:r>
              <a:rPr lang="en-ID" dirty="0"/>
              <a:t> </a:t>
            </a:r>
            <a:r>
              <a:rPr lang="en-ID" dirty="0" err="1"/>
              <a:t>nhỏ</a:t>
            </a:r>
            <a:r>
              <a:rPr lang="en-ID" dirty="0"/>
              <a:t> </a:t>
            </a:r>
            <a:r>
              <a:rPr lang="en-ID" dirty="0" err="1"/>
              <a:t>tệp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khối</a:t>
            </a:r>
            <a:r>
              <a:rPr lang="en-ID" dirty="0"/>
              <a:t> (block - </a:t>
            </a:r>
            <a:r>
              <a:rPr lang="en-ID" dirty="0" err="1"/>
              <a:t>thường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128MB </a:t>
            </a:r>
            <a:r>
              <a:rPr lang="en-ID" dirty="0" err="1"/>
              <a:t>hoặc</a:t>
            </a:r>
            <a:r>
              <a:rPr lang="en-ID" dirty="0"/>
              <a:t> 256MB). Các </a:t>
            </a:r>
            <a:r>
              <a:rPr lang="en-ID" dirty="0" err="1"/>
              <a:t>khối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sau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tán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nhân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ngẫu</a:t>
            </a:r>
            <a:r>
              <a:rPr lang="en-ID" dirty="0"/>
              <a:t> </a:t>
            </a:r>
            <a:r>
              <a:rPr lang="en-ID" dirty="0" err="1"/>
              <a:t>nhiên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DataNode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cụm</a:t>
            </a:r>
            <a:r>
              <a:rPr lang="en-ID" dirty="0"/>
              <a:t> (cluster).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63AA6C-082A-0DF4-3DD3-1CEEB964B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048000"/>
            <a:ext cx="5943600" cy="332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87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B0ADE-DBC3-C190-8A60-03C63DAFB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s3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E54C8-A5F3-4F1C-6381-B7089A42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2895600"/>
            <a:ext cx="5330953" cy="1905000"/>
          </a:xfrm>
        </p:spPr>
        <p:txBody>
          <a:bodyPr/>
          <a:lstStyle/>
          <a:p>
            <a:r>
              <a:rPr lang="en-ID" dirty="0"/>
              <a:t>Amazon S3 (Simple Storage Service)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dịch</a:t>
            </a:r>
            <a:r>
              <a:rPr lang="en-ID" dirty="0"/>
              <a:t> </a:t>
            </a:r>
            <a:r>
              <a:rPr lang="en-ID" dirty="0" err="1"/>
              <a:t>vụ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đám</a:t>
            </a:r>
            <a:r>
              <a:rPr lang="en-ID" dirty="0"/>
              <a:t> </a:t>
            </a:r>
            <a:r>
              <a:rPr lang="en-ID" dirty="0" err="1"/>
              <a:t>mây</a:t>
            </a:r>
            <a:r>
              <a:rPr lang="en-ID" dirty="0"/>
              <a:t> </a:t>
            </a:r>
            <a:r>
              <a:rPr lang="en-ID" dirty="0" err="1"/>
              <a:t>dựa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đối</a:t>
            </a:r>
            <a:r>
              <a:rPr lang="en-ID" dirty="0"/>
              <a:t> </a:t>
            </a:r>
            <a:r>
              <a:rPr lang="en-ID" dirty="0" err="1"/>
              <a:t>tượng</a:t>
            </a:r>
            <a:r>
              <a:rPr lang="en-ID" dirty="0"/>
              <a:t> (Object Storage) do Amazon Web Services (AWS) </a:t>
            </a:r>
            <a:r>
              <a:rPr lang="en-ID" dirty="0" err="1"/>
              <a:t>cung</a:t>
            </a:r>
            <a:r>
              <a:rPr lang="en-ID" dirty="0"/>
              <a:t> </a:t>
            </a:r>
            <a:r>
              <a:rPr lang="en-ID" dirty="0" err="1"/>
              <a:t>cấp</a:t>
            </a:r>
            <a:r>
              <a:rPr lang="en-ID" dirty="0"/>
              <a:t>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vệ</a:t>
            </a:r>
            <a:r>
              <a:rPr lang="en-ID" dirty="0"/>
              <a:t> </a:t>
            </a:r>
            <a:r>
              <a:rPr lang="en-ID" dirty="0" err="1"/>
              <a:t>mọi</a:t>
            </a:r>
            <a:r>
              <a:rPr lang="en-ID" dirty="0"/>
              <a:t> </a:t>
            </a:r>
            <a:r>
              <a:rPr lang="en-ID" dirty="0" err="1"/>
              <a:t>lượng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,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bất</a:t>
            </a:r>
            <a:r>
              <a:rPr lang="en-ID" dirty="0"/>
              <a:t> </a:t>
            </a:r>
            <a:r>
              <a:rPr lang="en-ID" dirty="0" err="1"/>
              <a:t>kỳ</a:t>
            </a:r>
            <a:r>
              <a:rPr lang="en-ID" dirty="0"/>
              <a:t> </a:t>
            </a:r>
            <a:r>
              <a:rPr lang="en-ID" dirty="0" err="1"/>
              <a:t>đâu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internet,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</a:t>
            </a:r>
            <a:r>
              <a:rPr lang="en-ID" dirty="0" err="1"/>
              <a:t>bền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khả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mở</a:t>
            </a:r>
            <a:r>
              <a:rPr lang="en-ID" dirty="0"/>
              <a:t> </a:t>
            </a:r>
            <a:r>
              <a:rPr lang="en-ID" dirty="0" err="1"/>
              <a:t>rộng</a:t>
            </a:r>
            <a:r>
              <a:rPr lang="en-ID" dirty="0"/>
              <a:t> </a:t>
            </a:r>
            <a:r>
              <a:rPr lang="en-ID" dirty="0" err="1"/>
              <a:t>cực</a:t>
            </a:r>
            <a:r>
              <a:rPr lang="en-ID" dirty="0"/>
              <a:t> </a:t>
            </a:r>
            <a:r>
              <a:rPr lang="en-ID" dirty="0" err="1"/>
              <a:t>kỳ</a:t>
            </a:r>
            <a:r>
              <a:rPr lang="en-ID" dirty="0"/>
              <a:t> </a:t>
            </a:r>
            <a:r>
              <a:rPr lang="en-ID" dirty="0" err="1"/>
              <a:t>cao</a:t>
            </a:r>
            <a:r>
              <a:rPr lang="en-ID" dirty="0"/>
              <a:t>. Amazon S3 </a:t>
            </a:r>
            <a:r>
              <a:rPr lang="en-ID" dirty="0" err="1"/>
              <a:t>hoạt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hình</a:t>
            </a:r>
            <a:r>
              <a:rPr lang="en-ID" dirty="0"/>
              <a:t> Lưu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đối</a:t>
            </a:r>
            <a:r>
              <a:rPr lang="en-ID" dirty="0"/>
              <a:t> </a:t>
            </a:r>
            <a:r>
              <a:rPr lang="en-ID" dirty="0" err="1"/>
              <a:t>tượng</a:t>
            </a:r>
            <a:r>
              <a:rPr lang="en-ID" dirty="0"/>
              <a:t> (Object Storage),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hoàn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cách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dạng</a:t>
            </a:r>
            <a:r>
              <a:rPr lang="en-ID" dirty="0"/>
              <a:t> </a:t>
            </a:r>
            <a:r>
              <a:rPr lang="en-ID" dirty="0" err="1"/>
              <a:t>cây</a:t>
            </a:r>
            <a:r>
              <a:rPr lang="en-ID" dirty="0"/>
              <a:t> </a:t>
            </a:r>
            <a:r>
              <a:rPr lang="en-ID" dirty="0" err="1"/>
              <a:t>thư</a:t>
            </a:r>
            <a:r>
              <a:rPr lang="en-ID" dirty="0"/>
              <a:t> </a:t>
            </a:r>
            <a:r>
              <a:rPr lang="en-ID" dirty="0" err="1"/>
              <a:t>mục</a:t>
            </a:r>
            <a:r>
              <a:rPr lang="en-ID" dirty="0"/>
              <a:t> (File System)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</a:t>
            </a:r>
            <a:r>
              <a:rPr lang="en-ID" dirty="0" err="1"/>
              <a:t>thường</a:t>
            </a:r>
            <a:r>
              <a:rPr lang="en-ID" dirty="0"/>
              <a:t> hay </a:t>
            </a:r>
            <a:r>
              <a:rPr lang="en-ID" dirty="0" err="1"/>
              <a:t>dạng</a:t>
            </a:r>
            <a:r>
              <a:rPr lang="en-ID" dirty="0"/>
              <a:t> </a:t>
            </a:r>
            <a:r>
              <a:rPr lang="en-ID" dirty="0" err="1"/>
              <a:t>khối</a:t>
            </a:r>
            <a:r>
              <a:rPr lang="en-ID" dirty="0"/>
              <a:t> (Block Storage) </a:t>
            </a:r>
            <a:r>
              <a:rPr lang="en-ID" dirty="0" err="1"/>
              <a:t>của</a:t>
            </a:r>
            <a:r>
              <a:rPr lang="en-ID" dirty="0"/>
              <a:t> ổ </a:t>
            </a:r>
            <a:r>
              <a:rPr lang="en-ID" dirty="0" err="1"/>
              <a:t>cứng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7AD0F1-A2F2-1D91-5A8E-000969AAD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2042231"/>
            <a:ext cx="4800600" cy="361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288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10AEE-4608-8E01-A33C-306AEFB00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hadoop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70DAD-1AB3-F0D3-B9B3-51614DA4F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Apache Hadoop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khung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mềm</a:t>
            </a:r>
            <a:r>
              <a:rPr lang="en-ID" dirty="0"/>
              <a:t> (framework) </a:t>
            </a:r>
            <a:r>
              <a:rPr lang="en-ID" dirty="0" err="1"/>
              <a:t>nguồn</a:t>
            </a:r>
            <a:r>
              <a:rPr lang="en-ID" dirty="0"/>
              <a:t> </a:t>
            </a:r>
            <a:r>
              <a:rPr lang="en-ID" dirty="0" err="1"/>
              <a:t>mở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tập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cực</a:t>
            </a:r>
            <a:r>
              <a:rPr lang="en-ID" dirty="0"/>
              <a:t> </a:t>
            </a:r>
            <a:r>
              <a:rPr lang="en-ID" dirty="0" err="1"/>
              <a:t>kỳ</a:t>
            </a:r>
            <a:r>
              <a:rPr lang="en-ID" dirty="0"/>
              <a:t> </a:t>
            </a:r>
            <a:r>
              <a:rPr lang="en-ID" dirty="0" err="1"/>
              <a:t>lớn</a:t>
            </a:r>
            <a:r>
              <a:rPr lang="en-ID" dirty="0"/>
              <a:t> (Big Data)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cách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tán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cụm</a:t>
            </a:r>
            <a:r>
              <a:rPr lang="en-ID" dirty="0"/>
              <a:t> (cluster) </a:t>
            </a:r>
            <a:r>
              <a:rPr lang="en-ID" dirty="0" err="1"/>
              <a:t>gồm</a:t>
            </a:r>
            <a:r>
              <a:rPr lang="en-ID" dirty="0"/>
              <a:t> </a:t>
            </a:r>
            <a:r>
              <a:rPr lang="en-ID" dirty="0" err="1"/>
              <a:t>hàng</a:t>
            </a:r>
            <a:r>
              <a:rPr lang="en-ID" dirty="0"/>
              <a:t> </a:t>
            </a:r>
            <a:r>
              <a:rPr lang="en-ID" dirty="0" err="1"/>
              <a:t>trăm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hàng</a:t>
            </a:r>
            <a:r>
              <a:rPr lang="en-ID" dirty="0"/>
              <a:t> </a:t>
            </a:r>
            <a:r>
              <a:rPr lang="en-ID" dirty="0" err="1"/>
              <a:t>ngàn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</a:t>
            </a:r>
            <a:r>
              <a:rPr lang="en-ID" dirty="0" err="1"/>
              <a:t>thường</a:t>
            </a:r>
            <a:r>
              <a:rPr lang="en-ID" dirty="0"/>
              <a:t>. Thay </a:t>
            </a:r>
            <a:r>
              <a:rPr lang="en-ID" dirty="0" err="1"/>
              <a:t>vì</a:t>
            </a:r>
            <a:r>
              <a:rPr lang="en-ID" dirty="0"/>
              <a:t>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siêu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đắt</a:t>
            </a:r>
            <a:r>
              <a:rPr lang="en-ID" dirty="0"/>
              <a:t> </a:t>
            </a:r>
            <a:r>
              <a:rPr lang="en-ID" dirty="0" err="1"/>
              <a:t>tiền</a:t>
            </a:r>
            <a:r>
              <a:rPr lang="en-ID" dirty="0"/>
              <a:t>, Hadoop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nối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giá</a:t>
            </a:r>
            <a:r>
              <a:rPr lang="en-ID" dirty="0"/>
              <a:t> </a:t>
            </a:r>
            <a:r>
              <a:rPr lang="en-ID" dirty="0" err="1"/>
              <a:t>rẻ</a:t>
            </a:r>
            <a:r>
              <a:rPr lang="en-ID" dirty="0"/>
              <a:t> </a:t>
            </a:r>
            <a:r>
              <a:rPr lang="en-ID" dirty="0" err="1"/>
              <a:t>lại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tận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sức</a:t>
            </a:r>
            <a:r>
              <a:rPr lang="en-ID" dirty="0"/>
              <a:t> </a:t>
            </a:r>
            <a:r>
              <a:rPr lang="en-ID" dirty="0" err="1"/>
              <a:t>mạnh</a:t>
            </a:r>
            <a:r>
              <a:rPr lang="en-ID" dirty="0"/>
              <a:t> </a:t>
            </a:r>
            <a:r>
              <a:rPr lang="en-ID" dirty="0" err="1"/>
              <a:t>tổng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chúng</a:t>
            </a:r>
            <a:r>
              <a:rPr lang="en-ID" dirty="0"/>
              <a:t>. </a:t>
            </a:r>
          </a:p>
          <a:p>
            <a:r>
              <a:rPr lang="en-ID" dirty="0"/>
              <a:t>Hadoop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phải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mềm</a:t>
            </a:r>
            <a:r>
              <a:rPr lang="en-ID" dirty="0"/>
              <a:t> </a:t>
            </a:r>
            <a:r>
              <a:rPr lang="en-ID" dirty="0" err="1"/>
              <a:t>đơn</a:t>
            </a:r>
            <a:r>
              <a:rPr lang="en-ID" dirty="0"/>
              <a:t> </a:t>
            </a:r>
            <a:r>
              <a:rPr lang="en-ID" dirty="0" err="1"/>
              <a:t>lẻ</a:t>
            </a:r>
            <a:r>
              <a:rPr lang="en-ID" dirty="0"/>
              <a:t> </a:t>
            </a:r>
            <a:r>
              <a:rPr lang="en-ID" dirty="0" err="1"/>
              <a:t>mà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sinh</a:t>
            </a:r>
            <a:r>
              <a:rPr lang="en-ID" dirty="0"/>
              <a:t> </a:t>
            </a:r>
            <a:r>
              <a:rPr lang="en-ID" dirty="0" err="1"/>
              <a:t>thái</a:t>
            </a:r>
            <a:r>
              <a:rPr lang="en-ID" dirty="0"/>
              <a:t>,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3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nền</a:t>
            </a:r>
            <a:r>
              <a:rPr lang="en-ID" dirty="0"/>
              <a:t> </a:t>
            </a:r>
            <a:r>
              <a:rPr lang="en-ID" dirty="0" err="1"/>
              <a:t>tảng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HDFS (Hadoop Distributed File System)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MapReduce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YARN (Yet Another Resource Negotiator)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E48C54-85D6-0D77-4279-F70DC9446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377" y="3043237"/>
            <a:ext cx="6257926" cy="312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359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551666-93C5-2297-C37D-54D40E689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Thành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hdfs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B3B3CC-6268-E38C-EA3E-34F343D48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Namenode</a:t>
            </a:r>
            <a:r>
              <a:rPr lang="en-US" dirty="0"/>
              <a:t> (master)</a:t>
            </a:r>
            <a:endParaRPr lang="en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4E180A-6C6D-AB0F-7A01-D6C205916F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datanode</a:t>
            </a:r>
            <a:r>
              <a:rPr lang="en-US" dirty="0"/>
              <a:t> (slave)</a:t>
            </a:r>
            <a:endParaRPr lang="en-ID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E7FA37-4881-7DEE-4BFF-912EC98BEB97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ID" dirty="0" err="1"/>
              <a:t>NameNode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tệp</a:t>
            </a:r>
            <a:r>
              <a:rPr lang="en-ID" dirty="0"/>
              <a:t> tin (File System Namespace)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điều</a:t>
            </a:r>
            <a:r>
              <a:rPr lang="en-ID" dirty="0"/>
              <a:t> </a:t>
            </a:r>
            <a:r>
              <a:rPr lang="en-ID" dirty="0" err="1"/>
              <a:t>phối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. Các </a:t>
            </a:r>
            <a:r>
              <a:rPr lang="en-ID" dirty="0" err="1"/>
              <a:t>nhiệm</a:t>
            </a:r>
            <a:r>
              <a:rPr lang="en-ID" dirty="0"/>
              <a:t> </a:t>
            </a:r>
            <a:r>
              <a:rPr lang="en-ID" dirty="0" err="1"/>
              <a:t>vụ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Quản </a:t>
            </a:r>
            <a:r>
              <a:rPr lang="en-ID" dirty="0" err="1"/>
              <a:t>lý</a:t>
            </a:r>
            <a:r>
              <a:rPr lang="en-ID" dirty="0"/>
              <a:t> Metadata (</a:t>
            </a:r>
            <a:r>
              <a:rPr lang="en-ID" dirty="0" err="1"/>
              <a:t>Siêu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Lưu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Tệp</a:t>
            </a:r>
            <a:r>
              <a:rPr lang="en-ID" dirty="0"/>
              <a:t> </a:t>
            </a:r>
            <a:r>
              <a:rPr lang="en-ID" dirty="0" err="1"/>
              <a:t>nhật</a:t>
            </a:r>
            <a:r>
              <a:rPr lang="en-ID" dirty="0"/>
              <a:t> </a:t>
            </a:r>
            <a:r>
              <a:rPr lang="en-ID" dirty="0" err="1"/>
              <a:t>ký</a:t>
            </a:r>
            <a:endParaRPr lang="en-ID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B824D43-5CA0-9C7A-8A2F-673BEAFCE587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ID" dirty="0" err="1"/>
              <a:t>DataNode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trạm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tế</a:t>
            </a:r>
            <a:r>
              <a:rPr lang="en-ID" dirty="0"/>
              <a:t> </a:t>
            </a:r>
            <a:r>
              <a:rPr lang="en-ID" dirty="0" err="1"/>
              <a:t>chịu</a:t>
            </a:r>
            <a:r>
              <a:rPr lang="en-ID" dirty="0"/>
              <a:t> </a:t>
            </a:r>
            <a:r>
              <a:rPr lang="en-ID" dirty="0" err="1"/>
              <a:t>trách</a:t>
            </a:r>
            <a:r>
              <a:rPr lang="en-ID" dirty="0"/>
              <a:t> </a:t>
            </a:r>
            <a:r>
              <a:rPr lang="en-ID" dirty="0" err="1"/>
              <a:t>nhiệm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xử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. Các </a:t>
            </a:r>
            <a:r>
              <a:rPr lang="en-ID" dirty="0" err="1"/>
              <a:t>nhiệm</a:t>
            </a:r>
            <a:r>
              <a:rPr lang="en-ID" dirty="0"/>
              <a:t> </a:t>
            </a:r>
            <a:r>
              <a:rPr lang="en-ID" dirty="0" err="1"/>
              <a:t>vụ</a:t>
            </a:r>
            <a:r>
              <a:rPr lang="en-ID" dirty="0"/>
              <a:t> </a:t>
            </a:r>
            <a:r>
              <a:rPr lang="en-ID" dirty="0" err="1"/>
              <a:t>chính</a:t>
            </a:r>
            <a:r>
              <a:rPr lang="en-ID" dirty="0"/>
              <a:t>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Lưu </a:t>
            </a:r>
            <a:r>
              <a:rPr lang="en-ID" dirty="0" err="1"/>
              <a:t>trữ</a:t>
            </a:r>
            <a:r>
              <a:rPr lang="en-ID" dirty="0"/>
              <a:t> Block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lệnh</a:t>
            </a:r>
            <a:r>
              <a:rPr lang="en-ID" dirty="0"/>
              <a:t> </a:t>
            </a:r>
            <a:r>
              <a:rPr lang="en-ID" dirty="0" err="1"/>
              <a:t>đọc</a:t>
            </a:r>
            <a:r>
              <a:rPr lang="en-ID" dirty="0"/>
              <a:t>, </a:t>
            </a:r>
            <a:r>
              <a:rPr lang="en-ID" dirty="0" err="1"/>
              <a:t>ghi</a:t>
            </a:r>
            <a:r>
              <a:rPr lang="en-ID" dirty="0"/>
              <a:t>, </a:t>
            </a:r>
            <a:r>
              <a:rPr lang="en-ID" dirty="0" err="1"/>
              <a:t>tạo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Báo </a:t>
            </a:r>
            <a:r>
              <a:rPr lang="en-ID" dirty="0" err="1"/>
              <a:t>cáo</a:t>
            </a:r>
            <a:r>
              <a:rPr lang="en-ID" dirty="0"/>
              <a:t> </a:t>
            </a:r>
            <a:r>
              <a:rPr lang="en-ID" dirty="0" err="1"/>
              <a:t>trạng</a:t>
            </a:r>
            <a:r>
              <a:rPr lang="en-ID" dirty="0"/>
              <a:t> </a:t>
            </a:r>
            <a:r>
              <a:rPr lang="en-ID" dirty="0" err="1"/>
              <a:t>thái</a:t>
            </a:r>
            <a:r>
              <a:rPr lang="en-ID" dirty="0"/>
              <a:t> (</a:t>
            </a:r>
            <a:r>
              <a:rPr lang="en-ID" dirty="0" err="1"/>
              <a:t>Heartbet</a:t>
            </a:r>
            <a:r>
              <a:rPr lang="en-ID" dirty="0"/>
              <a:t> &amp; Block Report)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921522-DE4C-D22E-6CC2-C57FA9101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975" y="3314700"/>
            <a:ext cx="46577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61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CF20B-7C4D-CAA5-AAEC-A6E031A3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Thành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hdfs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2286D-2574-8954-CADF-3E2B73606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C1A1F-4C88-6814-1081-0C2A7A204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metadata</a:t>
            </a:r>
            <a:endParaRPr lang="en-ID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6D9732-8A35-3D5C-65A7-336390E4302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ID" dirty="0"/>
              <a:t>Block (</a:t>
            </a:r>
            <a:r>
              <a:rPr lang="en-ID" dirty="0" err="1"/>
              <a:t>Khối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đơn</a:t>
            </a:r>
            <a:r>
              <a:rPr lang="en-ID" dirty="0"/>
              <a:t> </a:t>
            </a:r>
            <a:r>
              <a:rPr lang="en-ID" dirty="0" err="1"/>
              <a:t>vị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nhỏ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HDFS. Thay </a:t>
            </a:r>
            <a:r>
              <a:rPr lang="en-ID" dirty="0" err="1"/>
              <a:t>vì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nguyên</a:t>
            </a:r>
            <a:r>
              <a:rPr lang="en-ID" dirty="0"/>
              <a:t> </a:t>
            </a:r>
            <a:r>
              <a:rPr lang="en-ID" dirty="0" err="1"/>
              <a:t>vẹn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tệp</a:t>
            </a:r>
            <a:r>
              <a:rPr lang="en-ID" dirty="0"/>
              <a:t> tin </a:t>
            </a:r>
            <a:r>
              <a:rPr lang="en-ID" dirty="0" err="1"/>
              <a:t>lớn</a:t>
            </a:r>
            <a:r>
              <a:rPr lang="en-ID" dirty="0"/>
              <a:t>, HDFS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chia </a:t>
            </a:r>
            <a:r>
              <a:rPr lang="en-ID" dirty="0" err="1"/>
              <a:t>nhỏ</a:t>
            </a:r>
            <a:r>
              <a:rPr lang="en-ID" dirty="0"/>
              <a:t> </a:t>
            </a:r>
            <a:r>
              <a:rPr lang="en-ID" dirty="0" err="1"/>
              <a:t>tệp</a:t>
            </a:r>
            <a:r>
              <a:rPr lang="en-ID" dirty="0"/>
              <a:t> tin </a:t>
            </a:r>
            <a:r>
              <a:rPr lang="en-ID" dirty="0" err="1"/>
              <a:t>đó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Block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kích</a:t>
            </a:r>
            <a:r>
              <a:rPr lang="en-ID" dirty="0"/>
              <a:t> </a:t>
            </a:r>
            <a:r>
              <a:rPr lang="en-ID" dirty="0" err="1"/>
              <a:t>thước</a:t>
            </a:r>
            <a:r>
              <a:rPr lang="en-ID" dirty="0"/>
              <a:t> </a:t>
            </a:r>
            <a:r>
              <a:rPr lang="en-ID" dirty="0" err="1"/>
              <a:t>bằng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 </a:t>
            </a:r>
            <a:r>
              <a:rPr lang="en-ID" dirty="0" err="1"/>
              <a:t>trước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tán</a:t>
            </a:r>
            <a:r>
              <a:rPr lang="en-ID" dirty="0"/>
              <a:t> </a:t>
            </a:r>
            <a:r>
              <a:rPr lang="en-ID" dirty="0" err="1"/>
              <a:t>chúng</a:t>
            </a:r>
            <a:r>
              <a:rPr lang="en-ID" dirty="0"/>
              <a:t> </a:t>
            </a:r>
            <a:r>
              <a:rPr lang="en-ID" dirty="0" err="1"/>
              <a:t>xuống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trạm</a:t>
            </a:r>
            <a:r>
              <a:rPr lang="en-ID" dirty="0"/>
              <a:t> (</a:t>
            </a:r>
            <a:r>
              <a:rPr lang="en-ID" dirty="0" err="1"/>
              <a:t>DataNode</a:t>
            </a:r>
            <a:r>
              <a:rPr lang="en-ID" dirty="0"/>
              <a:t>). Trong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phiên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Hadoop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đại</a:t>
            </a:r>
            <a:r>
              <a:rPr lang="en-ID" dirty="0"/>
              <a:t> (Hadoop 2.x </a:t>
            </a:r>
            <a:r>
              <a:rPr lang="en-ID" dirty="0" err="1"/>
              <a:t>và</a:t>
            </a:r>
            <a:r>
              <a:rPr lang="en-ID" dirty="0"/>
              <a:t> 3.x), </a:t>
            </a:r>
            <a:r>
              <a:rPr lang="en-ID" dirty="0" err="1"/>
              <a:t>kích</a:t>
            </a:r>
            <a:r>
              <a:rPr lang="en-ID" dirty="0"/>
              <a:t> </a:t>
            </a:r>
            <a:r>
              <a:rPr lang="en-ID" dirty="0" err="1"/>
              <a:t>thước</a:t>
            </a:r>
            <a:r>
              <a:rPr lang="en-ID" dirty="0"/>
              <a:t> </a:t>
            </a:r>
            <a:r>
              <a:rPr lang="en-ID" dirty="0" err="1"/>
              <a:t>mặc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Block </a:t>
            </a:r>
            <a:r>
              <a:rPr lang="en-ID" dirty="0" err="1"/>
              <a:t>là</a:t>
            </a:r>
            <a:r>
              <a:rPr lang="en-ID" dirty="0"/>
              <a:t> 128MB </a:t>
            </a:r>
            <a:r>
              <a:rPr lang="en-ID" dirty="0" err="1"/>
              <a:t>hoặc</a:t>
            </a:r>
            <a:r>
              <a:rPr lang="en-ID" dirty="0"/>
              <a:t> 256MB.</a:t>
            </a:r>
          </a:p>
          <a:p>
            <a:br>
              <a:rPr lang="en-ID" dirty="0"/>
            </a:b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842A0A-B173-CF42-F367-050562D073A3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ID" dirty="0"/>
              <a:t>Trong HDFS, Metadata (</a:t>
            </a:r>
            <a:r>
              <a:rPr lang="en-ID" dirty="0" err="1"/>
              <a:t>Siêu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) </a:t>
            </a:r>
            <a:r>
              <a:rPr lang="en-ID" dirty="0" err="1"/>
              <a:t>đóng</a:t>
            </a:r>
            <a:r>
              <a:rPr lang="en-ID" dirty="0"/>
              <a:t> </a:t>
            </a:r>
            <a:r>
              <a:rPr lang="en-ID" dirty="0" err="1"/>
              <a:t>vai</a:t>
            </a:r>
            <a:r>
              <a:rPr lang="en-ID" dirty="0"/>
              <a:t> </a:t>
            </a:r>
            <a:r>
              <a:rPr lang="en-ID" dirty="0" err="1"/>
              <a:t>trò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"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đồ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 </a:t>
            </a:r>
            <a:r>
              <a:rPr lang="en-ID" dirty="0" err="1"/>
              <a:t>vị</a:t>
            </a:r>
            <a:r>
              <a:rPr lang="en-ID" dirty="0"/>
              <a:t>"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biết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tế</a:t>
            </a:r>
            <a:r>
              <a:rPr lang="en-ID" dirty="0"/>
              <a:t> </a:t>
            </a:r>
            <a:r>
              <a:rPr lang="en-ID" dirty="0" err="1"/>
              <a:t>đang</a:t>
            </a:r>
            <a:r>
              <a:rPr lang="en-ID" dirty="0"/>
              <a:t> </a:t>
            </a:r>
            <a:r>
              <a:rPr lang="en-ID" dirty="0" err="1"/>
              <a:t>nằm</a:t>
            </a:r>
            <a:r>
              <a:rPr lang="en-ID" dirty="0"/>
              <a:t> ở </a:t>
            </a:r>
            <a:r>
              <a:rPr lang="en-ID" dirty="0" err="1"/>
              <a:t>đâu</a:t>
            </a:r>
            <a:r>
              <a:rPr lang="en-ID" dirty="0"/>
              <a:t>. </a:t>
            </a:r>
            <a:r>
              <a:rPr lang="en-ID" dirty="0" err="1"/>
              <a:t>Nếu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Metadata, </a:t>
            </a:r>
            <a:r>
              <a:rPr lang="en-ID" dirty="0" err="1"/>
              <a:t>cụm</a:t>
            </a:r>
            <a:r>
              <a:rPr lang="en-ID" dirty="0"/>
              <a:t> Hadoop </a:t>
            </a:r>
            <a:r>
              <a:rPr lang="en-ID" dirty="0" err="1"/>
              <a:t>hoàn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bất</a:t>
            </a:r>
            <a:r>
              <a:rPr lang="en-ID" dirty="0"/>
              <a:t> </a:t>
            </a:r>
            <a:r>
              <a:rPr lang="en-ID" dirty="0" err="1"/>
              <a:t>lực</a:t>
            </a:r>
            <a:r>
              <a:rPr lang="en-ID" dirty="0"/>
              <a:t> </a:t>
            </a:r>
            <a:r>
              <a:rPr lang="en-ID" dirty="0" err="1"/>
              <a:t>vì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tán</a:t>
            </a:r>
            <a:r>
              <a:rPr lang="en-ID" dirty="0"/>
              <a:t> </a:t>
            </a:r>
            <a:r>
              <a:rPr lang="en-ID" dirty="0" err="1"/>
              <a:t>bên</a:t>
            </a:r>
            <a:r>
              <a:rPr lang="en-ID" dirty="0"/>
              <a:t> </a:t>
            </a:r>
            <a:r>
              <a:rPr lang="en-ID" dirty="0" err="1"/>
              <a:t>dưới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DataNode</a:t>
            </a:r>
            <a:r>
              <a:rPr lang="en-ID" dirty="0"/>
              <a:t> </a:t>
            </a:r>
            <a:r>
              <a:rPr lang="en-ID" dirty="0" err="1"/>
              <a:t>chỉ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những</a:t>
            </a:r>
            <a:r>
              <a:rPr lang="en-ID" dirty="0"/>
              <a:t> </a:t>
            </a:r>
            <a:r>
              <a:rPr lang="en-ID" dirty="0" err="1"/>
              <a:t>khối</a:t>
            </a:r>
            <a:r>
              <a:rPr lang="en-ID" dirty="0"/>
              <a:t> block </a:t>
            </a:r>
            <a:r>
              <a:rPr lang="en-ID" dirty="0" err="1"/>
              <a:t>vô</a:t>
            </a:r>
            <a:r>
              <a:rPr lang="en-ID" dirty="0"/>
              <a:t> </a:t>
            </a:r>
            <a:r>
              <a:rPr lang="en-ID" dirty="0" err="1"/>
              <a:t>danh</a:t>
            </a:r>
            <a:r>
              <a:rPr lang="en-ID" dirty="0"/>
              <a:t>.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Metadata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tập</a:t>
            </a:r>
            <a:r>
              <a:rPr lang="en-ID" dirty="0"/>
              <a:t> </a:t>
            </a:r>
            <a:r>
              <a:rPr lang="en-ID" dirty="0" err="1"/>
              <a:t>trung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nhớ</a:t>
            </a:r>
            <a:r>
              <a:rPr lang="en-ID" dirty="0"/>
              <a:t> RAM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NameNode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đảm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tốc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</a:t>
            </a:r>
            <a:r>
              <a:rPr lang="en-ID" dirty="0" err="1"/>
              <a:t>phản</a:t>
            </a:r>
            <a:r>
              <a:rPr lang="en-ID" dirty="0"/>
              <a:t> </a:t>
            </a:r>
            <a:r>
              <a:rPr lang="en-ID" dirty="0" err="1"/>
              <a:t>hồi</a:t>
            </a:r>
            <a:r>
              <a:rPr lang="en-ID" dirty="0"/>
              <a:t> </a:t>
            </a:r>
            <a:r>
              <a:rPr lang="en-ID" dirty="0" err="1"/>
              <a:t>cực</a:t>
            </a:r>
            <a:r>
              <a:rPr lang="en-ID" dirty="0"/>
              <a:t> </a:t>
            </a:r>
            <a:r>
              <a:rPr lang="en-ID" dirty="0" err="1"/>
              <a:t>nhanh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Client </a:t>
            </a:r>
            <a:r>
              <a:rPr lang="en-ID" dirty="0" err="1"/>
              <a:t>gửi</a:t>
            </a:r>
            <a:r>
              <a:rPr lang="en-ID" dirty="0"/>
              <a:t> </a:t>
            </a:r>
            <a:r>
              <a:rPr lang="en-ID" dirty="0" err="1"/>
              <a:t>yêu</a:t>
            </a:r>
            <a:r>
              <a:rPr lang="en-ID" dirty="0"/>
              <a:t> </a:t>
            </a:r>
            <a:r>
              <a:rPr lang="en-ID" dirty="0" err="1"/>
              <a:t>cầu</a:t>
            </a:r>
            <a:r>
              <a:rPr lang="en-ID" dirty="0"/>
              <a:t> </a:t>
            </a:r>
            <a:r>
              <a:rPr lang="en-ID" dirty="0" err="1"/>
              <a:t>đọc</a:t>
            </a:r>
            <a:r>
              <a:rPr lang="en-ID" dirty="0"/>
              <a:t>/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F783BE-78E8-F459-B7F3-3CAEC8DB5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44194"/>
            <a:ext cx="4618038" cy="216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655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6DE740-5C2C-62E5-D483-205FA0C18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hdfs</a:t>
            </a:r>
            <a:endParaRPr lang="en-ID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DDBC996-C322-D667-F202-965D34E44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Replication (</a:t>
            </a:r>
            <a:r>
              <a:rPr lang="en-ID" b="1" dirty="0" err="1"/>
              <a:t>Cơ</a:t>
            </a:r>
            <a:r>
              <a:rPr lang="en-ID" b="1" dirty="0"/>
              <a:t> </a:t>
            </a:r>
            <a:r>
              <a:rPr lang="en-ID" b="1" dirty="0" err="1"/>
              <a:t>chế</a:t>
            </a:r>
            <a:r>
              <a:rPr lang="en-ID" b="1" dirty="0"/>
              <a:t> </a:t>
            </a:r>
            <a:r>
              <a:rPr lang="en-ID" b="1" dirty="0" err="1"/>
              <a:t>nhân</a:t>
            </a:r>
            <a:r>
              <a:rPr lang="en-ID" b="1" dirty="0"/>
              <a:t> </a:t>
            </a:r>
            <a:r>
              <a:rPr lang="en-ID" b="1" dirty="0" err="1"/>
              <a:t>bản</a:t>
            </a:r>
            <a:r>
              <a:rPr lang="en-ID" b="1" dirty="0"/>
              <a:t>) </a:t>
            </a:r>
            <a:r>
              <a:rPr lang="en-ID" dirty="0" err="1"/>
              <a:t>trong</a:t>
            </a:r>
            <a:r>
              <a:rPr lang="en-ID" dirty="0"/>
              <a:t> HDFS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cốt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khả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chịu</a:t>
            </a:r>
            <a:r>
              <a:rPr lang="en-ID" dirty="0"/>
              <a:t> </a:t>
            </a:r>
            <a:r>
              <a:rPr lang="en-ID" dirty="0" err="1"/>
              <a:t>lỗi</a:t>
            </a:r>
            <a:r>
              <a:rPr lang="en-ID" dirty="0"/>
              <a:t>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(Fault Tolerance). </a:t>
            </a:r>
            <a:r>
              <a:rPr lang="en-ID" dirty="0" err="1"/>
              <a:t>Vì</a:t>
            </a:r>
            <a:r>
              <a:rPr lang="en-ID" dirty="0"/>
              <a:t> HDFS </a:t>
            </a:r>
            <a:r>
              <a:rPr lang="en-ID" dirty="0" err="1"/>
              <a:t>chạy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cứng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</a:t>
            </a:r>
            <a:r>
              <a:rPr lang="en-ID" dirty="0" err="1"/>
              <a:t>thường</a:t>
            </a:r>
            <a:r>
              <a:rPr lang="en-ID" dirty="0"/>
              <a:t> </a:t>
            </a:r>
            <a:r>
              <a:rPr lang="en-ID" dirty="0" err="1"/>
              <a:t>dễ</a:t>
            </a:r>
            <a:r>
              <a:rPr lang="en-ID" dirty="0"/>
              <a:t> </a:t>
            </a:r>
            <a:r>
              <a:rPr lang="en-ID" dirty="0" err="1"/>
              <a:t>hỏng</a:t>
            </a:r>
            <a:r>
              <a:rPr lang="en-ID" dirty="0"/>
              <a:t> </a:t>
            </a:r>
            <a:r>
              <a:rPr lang="en-ID" dirty="0" err="1"/>
              <a:t>hóc</a:t>
            </a:r>
            <a:r>
              <a:rPr lang="en-ID" dirty="0"/>
              <a:t>,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đảm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bị</a:t>
            </a:r>
            <a:r>
              <a:rPr lang="en-ID" dirty="0"/>
              <a:t> </a:t>
            </a:r>
            <a:r>
              <a:rPr lang="en-ID" dirty="0" err="1"/>
              <a:t>mất</a:t>
            </a:r>
            <a:r>
              <a:rPr lang="en-ID" dirty="0"/>
              <a:t> </a:t>
            </a:r>
            <a:r>
              <a:rPr lang="en-ID" dirty="0" err="1"/>
              <a:t>ngay</a:t>
            </a:r>
            <a:r>
              <a:rPr lang="en-ID" dirty="0"/>
              <a:t> </a:t>
            </a:r>
            <a:r>
              <a:rPr lang="en-ID" dirty="0" err="1"/>
              <a:t>cả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(</a:t>
            </a:r>
            <a:r>
              <a:rPr lang="en-ID" dirty="0" err="1"/>
              <a:t>DataNode</a:t>
            </a:r>
            <a:r>
              <a:rPr lang="en-ID" dirty="0"/>
              <a:t>)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cụm</a:t>
            </a:r>
            <a:r>
              <a:rPr lang="en-ID" dirty="0"/>
              <a:t> </a:t>
            </a:r>
            <a:r>
              <a:rPr lang="en-ID" dirty="0" err="1"/>
              <a:t>bị</a:t>
            </a:r>
            <a:r>
              <a:rPr lang="en-ID" dirty="0"/>
              <a:t> </a:t>
            </a:r>
            <a:r>
              <a:rPr lang="en-ID" dirty="0" err="1"/>
              <a:t>sập</a:t>
            </a:r>
            <a:r>
              <a:rPr lang="en-ID" dirty="0"/>
              <a:t> </a:t>
            </a:r>
            <a:r>
              <a:rPr lang="en-ID" dirty="0" err="1"/>
              <a:t>nguồn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hỏng</a:t>
            </a:r>
            <a:r>
              <a:rPr lang="en-ID" dirty="0"/>
              <a:t> ổ </a:t>
            </a:r>
            <a:r>
              <a:rPr lang="en-ID" dirty="0" err="1"/>
              <a:t>cứng</a:t>
            </a:r>
            <a:r>
              <a:rPr lang="en-ID" dirty="0"/>
              <a:t>.</a:t>
            </a:r>
          </a:p>
          <a:p>
            <a:r>
              <a:rPr lang="en-ID" dirty="0"/>
              <a:t>Khi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tệp</a:t>
            </a:r>
            <a:r>
              <a:rPr lang="en-ID" dirty="0"/>
              <a:t> tin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tải</a:t>
            </a:r>
            <a:r>
              <a:rPr lang="en-ID" dirty="0"/>
              <a:t> </a:t>
            </a:r>
            <a:r>
              <a:rPr lang="en-ID" dirty="0" err="1"/>
              <a:t>lên</a:t>
            </a:r>
            <a:r>
              <a:rPr lang="en-ID" dirty="0"/>
              <a:t> HDFS, </a:t>
            </a:r>
            <a:r>
              <a:rPr lang="en-ID" dirty="0" err="1"/>
              <a:t>mỗi</a:t>
            </a:r>
            <a:r>
              <a:rPr lang="en-ID" dirty="0"/>
              <a:t> </a:t>
            </a:r>
            <a:r>
              <a:rPr lang="en-ID" dirty="0" err="1"/>
              <a:t>khối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(Block) </a:t>
            </a:r>
            <a:r>
              <a:rPr lang="en-ID" dirty="0" err="1"/>
              <a:t>của</a:t>
            </a:r>
            <a:r>
              <a:rPr lang="en-ID" dirty="0"/>
              <a:t> </a:t>
            </a:r>
            <a:r>
              <a:rPr lang="en-ID" dirty="0" err="1"/>
              <a:t>tệp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sao</a:t>
            </a:r>
            <a:r>
              <a:rPr lang="en-ID" dirty="0"/>
              <a:t> </a:t>
            </a:r>
            <a:r>
              <a:rPr lang="en-ID" dirty="0" err="1"/>
              <a:t>chép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3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sao</a:t>
            </a:r>
            <a:r>
              <a:rPr lang="en-ID" dirty="0"/>
              <a:t> </a:t>
            </a:r>
            <a:r>
              <a:rPr lang="en-ID" dirty="0" err="1"/>
              <a:t>giống</a:t>
            </a:r>
            <a:r>
              <a:rPr lang="en-ID" dirty="0"/>
              <a:t> </a:t>
            </a:r>
            <a:r>
              <a:rPr lang="en-ID" dirty="0" err="1"/>
              <a:t>hệt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DataNode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. Con </a:t>
            </a:r>
            <a:r>
              <a:rPr lang="en-ID" dirty="0" err="1"/>
              <a:t>số</a:t>
            </a:r>
            <a:r>
              <a:rPr lang="en-ID" dirty="0"/>
              <a:t> </a:t>
            </a:r>
            <a:r>
              <a:rPr lang="en-ID" dirty="0" err="1"/>
              <a:t>này</a:t>
            </a:r>
            <a:r>
              <a:rPr lang="en-ID" dirty="0"/>
              <a:t>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cấu</a:t>
            </a:r>
            <a:r>
              <a:rPr lang="en-ID" dirty="0"/>
              <a:t> </a:t>
            </a:r>
            <a:r>
              <a:rPr lang="en-ID" dirty="0" err="1"/>
              <a:t>hình</a:t>
            </a:r>
            <a:r>
              <a:rPr lang="en-ID" dirty="0"/>
              <a:t> </a:t>
            </a:r>
            <a:r>
              <a:rPr lang="en-ID" dirty="0" err="1"/>
              <a:t>riêng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từng</a:t>
            </a:r>
            <a:r>
              <a:rPr lang="en-ID" dirty="0"/>
              <a:t> </a:t>
            </a:r>
            <a:r>
              <a:rPr lang="en-ID" dirty="0" err="1"/>
              <a:t>thư</a:t>
            </a:r>
            <a:r>
              <a:rPr lang="en-ID" dirty="0"/>
              <a:t> </a:t>
            </a:r>
            <a:r>
              <a:rPr lang="en-ID" dirty="0" err="1"/>
              <a:t>mục</a:t>
            </a:r>
            <a:r>
              <a:rPr lang="en-ID" dirty="0"/>
              <a:t>/</a:t>
            </a:r>
            <a:r>
              <a:rPr lang="en-ID" dirty="0" err="1"/>
              <a:t>tệp</a:t>
            </a:r>
            <a:r>
              <a:rPr lang="en-ID" dirty="0"/>
              <a:t> tin </a:t>
            </a:r>
            <a:r>
              <a:rPr lang="en-ID" dirty="0" err="1"/>
              <a:t>cụ</a:t>
            </a:r>
            <a:r>
              <a:rPr lang="en-ID" dirty="0"/>
              <a:t> </a:t>
            </a:r>
            <a:r>
              <a:rPr lang="en-ID" dirty="0" err="1"/>
              <a:t>thể</a:t>
            </a:r>
            <a:r>
              <a:rPr lang="en-ID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3D2DCC-8776-EF92-7A37-248E2F2F8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429000"/>
            <a:ext cx="6705600" cy="295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033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04194-8DB6-861A-D8F7-AE7A87E5B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hdfs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A97EB-F665-3E6C-28D1-F6E57C499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(Write Architecture):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97BE2-F1A6-4D08-25B1-179C04993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928" y="2362200"/>
            <a:ext cx="8008144" cy="392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73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4B8C7-64FA-2624-0CB3-2834733EB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CƠ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hdfs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4FE68-045C-0265-A70C-BBF306465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(Read Architecture):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CED9A5-A34C-A33B-86FA-3B100ECE4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676400"/>
            <a:ext cx="6549617" cy="491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54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32B83-07ED-6A17-DEF6-DFB71351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hdfs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889C1-47DD-2EE2-4E37-43818FE2B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chữa</a:t>
            </a:r>
            <a:r>
              <a:rPr lang="en-US" dirty="0"/>
              <a:t> (Heartbeat &amp; Block Report):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6622F-B39B-337A-837A-744CF591E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209800"/>
            <a:ext cx="6858000" cy="414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62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97876-CC29-C80E-3E1B-F3A56D7E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hdfs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AAACD-0391-4524-16DD-5D2533D16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/>
              <a:t>Fault Tolerance (</a:t>
            </a:r>
            <a:r>
              <a:rPr lang="en-ID" b="1" dirty="0" err="1"/>
              <a:t>Khả</a:t>
            </a:r>
            <a:r>
              <a:rPr lang="en-ID" b="1" dirty="0"/>
              <a:t> </a:t>
            </a:r>
            <a:r>
              <a:rPr lang="en-ID" b="1" dirty="0" err="1"/>
              <a:t>năng</a:t>
            </a:r>
            <a:r>
              <a:rPr lang="en-ID" b="1" dirty="0"/>
              <a:t> </a:t>
            </a:r>
            <a:r>
              <a:rPr lang="en-ID" b="1" dirty="0" err="1"/>
              <a:t>chịu</a:t>
            </a:r>
            <a:r>
              <a:rPr lang="en-ID" b="1" dirty="0"/>
              <a:t> </a:t>
            </a:r>
            <a:r>
              <a:rPr lang="en-ID" b="1" dirty="0" err="1"/>
              <a:t>lỗi</a:t>
            </a:r>
            <a:r>
              <a:rPr lang="en-ID" b="1" dirty="0"/>
              <a:t>)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đặc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trọng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HDFS,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hoạt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liên</a:t>
            </a:r>
            <a:r>
              <a:rPr lang="en-ID" dirty="0"/>
              <a:t> </a:t>
            </a:r>
            <a:r>
              <a:rPr lang="en-ID" dirty="0" err="1"/>
              <a:t>tục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vệ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an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tuyệt</a:t>
            </a:r>
            <a:r>
              <a:rPr lang="en-ID" dirty="0"/>
              <a:t> </a:t>
            </a:r>
            <a:r>
              <a:rPr lang="en-ID" dirty="0" err="1"/>
              <a:t>đối</a:t>
            </a:r>
            <a:r>
              <a:rPr lang="en-ID" dirty="0"/>
              <a:t> </a:t>
            </a:r>
            <a:r>
              <a:rPr lang="en-ID" dirty="0" err="1"/>
              <a:t>ngay</a:t>
            </a:r>
            <a:r>
              <a:rPr lang="en-ID" dirty="0"/>
              <a:t> </a:t>
            </a:r>
            <a:r>
              <a:rPr lang="en-ID" dirty="0" err="1"/>
              <a:t>cả</a:t>
            </a:r>
            <a:r>
              <a:rPr lang="en-ID" dirty="0"/>
              <a:t> </a:t>
            </a:r>
            <a:r>
              <a:rPr lang="en-ID" dirty="0" err="1"/>
              <a:t>khi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cứng</a:t>
            </a:r>
            <a:r>
              <a:rPr lang="en-ID" dirty="0"/>
              <a:t> </a:t>
            </a:r>
            <a:r>
              <a:rPr lang="en-ID" dirty="0" err="1"/>
              <a:t>vật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bên</a:t>
            </a:r>
            <a:r>
              <a:rPr lang="en-ID" dirty="0"/>
              <a:t> </a:t>
            </a:r>
            <a:r>
              <a:rPr lang="en-ID" dirty="0" err="1"/>
              <a:t>dưới</a:t>
            </a:r>
            <a:r>
              <a:rPr lang="en-ID" dirty="0"/>
              <a:t> </a:t>
            </a:r>
            <a:r>
              <a:rPr lang="en-ID" dirty="0" err="1"/>
              <a:t>gặp</a:t>
            </a:r>
            <a:r>
              <a:rPr lang="en-ID" dirty="0"/>
              <a:t> </a:t>
            </a:r>
            <a:r>
              <a:rPr lang="en-ID" dirty="0" err="1"/>
              <a:t>sự</a:t>
            </a:r>
            <a:r>
              <a:rPr lang="en-ID" dirty="0"/>
              <a:t> </a:t>
            </a:r>
            <a:r>
              <a:rPr lang="en-ID" dirty="0" err="1"/>
              <a:t>cố</a:t>
            </a:r>
            <a:r>
              <a:rPr lang="en-ID" dirty="0"/>
              <a:t> (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hỏng</a:t>
            </a:r>
            <a:r>
              <a:rPr lang="en-ID" dirty="0"/>
              <a:t> ổ </a:t>
            </a:r>
            <a:r>
              <a:rPr lang="en-ID" dirty="0" err="1"/>
              <a:t>cứng</a:t>
            </a:r>
            <a:r>
              <a:rPr lang="en-ID" dirty="0"/>
              <a:t>, </a:t>
            </a:r>
            <a:r>
              <a:rPr lang="en-ID" dirty="0" err="1"/>
              <a:t>sập</a:t>
            </a:r>
            <a:r>
              <a:rPr lang="en-ID" dirty="0"/>
              <a:t> </a:t>
            </a:r>
            <a:r>
              <a:rPr lang="en-ID" dirty="0" err="1"/>
              <a:t>nguồn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chủ</a:t>
            </a:r>
            <a:r>
              <a:rPr lang="en-ID" dirty="0"/>
              <a:t>, hay </a:t>
            </a:r>
            <a:r>
              <a:rPr lang="en-ID" dirty="0" err="1"/>
              <a:t>đứt</a:t>
            </a:r>
            <a:r>
              <a:rPr lang="en-ID" dirty="0"/>
              <a:t> </a:t>
            </a:r>
            <a:r>
              <a:rPr lang="en-ID" dirty="0" err="1"/>
              <a:t>cáp</a:t>
            </a:r>
            <a:r>
              <a:rPr lang="en-ID" dirty="0"/>
              <a:t> </a:t>
            </a:r>
            <a:r>
              <a:rPr lang="en-ID" dirty="0" err="1"/>
              <a:t>mạng</a:t>
            </a:r>
            <a:r>
              <a:rPr lang="en-ID" dirty="0"/>
              <a:t>).</a:t>
            </a:r>
          </a:p>
          <a:p>
            <a:r>
              <a:rPr lang="en-ID" dirty="0" err="1"/>
              <a:t>Ngoài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sao</a:t>
            </a:r>
            <a:r>
              <a:rPr lang="en-ID" dirty="0"/>
              <a:t> </a:t>
            </a:r>
            <a:r>
              <a:rPr lang="en-ID" dirty="0" err="1"/>
              <a:t>chép</a:t>
            </a:r>
            <a:r>
              <a:rPr lang="en-ID" dirty="0"/>
              <a:t> </a:t>
            </a:r>
            <a:r>
              <a:rPr lang="en-ID" dirty="0" err="1"/>
              <a:t>khối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(Block Replication), </a:t>
            </a:r>
            <a:r>
              <a:rPr lang="en-ID" dirty="0" err="1"/>
              <a:t>tín</a:t>
            </a:r>
            <a:r>
              <a:rPr lang="en-ID" dirty="0"/>
              <a:t> </a:t>
            </a:r>
            <a:r>
              <a:rPr lang="en-ID" dirty="0" err="1"/>
              <a:t>hiệu</a:t>
            </a:r>
            <a:r>
              <a:rPr lang="en-ID" dirty="0"/>
              <a:t> </a:t>
            </a:r>
            <a:r>
              <a:rPr lang="en-ID" dirty="0" err="1"/>
              <a:t>nhịp</a:t>
            </a:r>
            <a:r>
              <a:rPr lang="en-ID" dirty="0"/>
              <a:t> </a:t>
            </a:r>
            <a:r>
              <a:rPr lang="en-ID" dirty="0" err="1"/>
              <a:t>đập</a:t>
            </a:r>
            <a:r>
              <a:rPr lang="en-ID" dirty="0"/>
              <a:t> (Heartbeat),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sửa</a:t>
            </a:r>
            <a:r>
              <a:rPr lang="en-ID" dirty="0"/>
              <a:t> </a:t>
            </a:r>
            <a:r>
              <a:rPr lang="en-ID" dirty="0" err="1"/>
              <a:t>chữa</a:t>
            </a:r>
            <a:r>
              <a:rPr lang="en-ID" dirty="0"/>
              <a:t> (Self-Healing)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sẵn</a:t>
            </a:r>
            <a:r>
              <a:rPr lang="en-ID" dirty="0"/>
              <a:t> </a:t>
            </a:r>
            <a:r>
              <a:rPr lang="en-ID" dirty="0" err="1"/>
              <a:t>sàng</a:t>
            </a:r>
            <a:r>
              <a:rPr lang="en-ID" dirty="0"/>
              <a:t> </a:t>
            </a:r>
            <a:r>
              <a:rPr lang="en-ID" dirty="0" err="1"/>
              <a:t>cao</a:t>
            </a:r>
            <a:r>
              <a:rPr lang="en-ID" dirty="0"/>
              <a:t> (High Availability) </a:t>
            </a:r>
            <a:r>
              <a:rPr lang="en-ID" dirty="0" err="1"/>
              <a:t>đã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đề</a:t>
            </a:r>
            <a:r>
              <a:rPr lang="en-ID" dirty="0"/>
              <a:t> </a:t>
            </a:r>
            <a:r>
              <a:rPr lang="en-ID" dirty="0" err="1"/>
              <a:t>cập</a:t>
            </a:r>
            <a:r>
              <a:rPr lang="en-ID" dirty="0"/>
              <a:t> ở </a:t>
            </a:r>
            <a:r>
              <a:rPr lang="en-ID" dirty="0" err="1"/>
              <a:t>trên</a:t>
            </a:r>
            <a:r>
              <a:rPr lang="en-ID" dirty="0"/>
              <a:t>, </a:t>
            </a:r>
            <a:r>
              <a:rPr lang="en-ID" dirty="0" err="1"/>
              <a:t>khả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chịu</a:t>
            </a:r>
            <a:r>
              <a:rPr lang="en-ID" dirty="0"/>
              <a:t> </a:t>
            </a:r>
            <a:r>
              <a:rPr lang="en-ID" dirty="0" err="1"/>
              <a:t>lỗi</a:t>
            </a:r>
            <a:r>
              <a:rPr lang="en-ID" dirty="0"/>
              <a:t> </a:t>
            </a:r>
            <a:r>
              <a:rPr lang="en-ID" dirty="0" err="1"/>
              <a:t>tối</a:t>
            </a:r>
            <a:r>
              <a:rPr lang="en-ID" dirty="0"/>
              <a:t> </a:t>
            </a:r>
            <a:r>
              <a:rPr lang="en-ID" dirty="0" err="1"/>
              <a:t>ưu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HDFS </a:t>
            </a:r>
            <a:r>
              <a:rPr lang="en-ID" dirty="0" err="1"/>
              <a:t>còn</a:t>
            </a:r>
            <a:r>
              <a:rPr lang="en-ID" dirty="0"/>
              <a:t> </a:t>
            </a:r>
            <a:r>
              <a:rPr lang="en-ID" dirty="0" err="1"/>
              <a:t>đến</a:t>
            </a:r>
            <a:r>
              <a:rPr lang="en-ID" dirty="0"/>
              <a:t> </a:t>
            </a:r>
            <a:r>
              <a:rPr lang="en-ID" dirty="0" err="1"/>
              <a:t>từ</a:t>
            </a:r>
            <a:r>
              <a:rPr lang="en-ID" dirty="0"/>
              <a:t> 2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</a:t>
            </a:r>
            <a:r>
              <a:rPr lang="en-ID" dirty="0" err="1"/>
              <a:t>cốt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</a:t>
            </a:r>
            <a:r>
              <a:rPr lang="en-ID" dirty="0" err="1"/>
              <a:t>nữa</a:t>
            </a:r>
            <a:r>
              <a:rPr lang="en-ID" dirty="0"/>
              <a:t>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Kiểm</a:t>
            </a:r>
            <a:r>
              <a:rPr lang="en-ID" dirty="0"/>
              <a:t> </a:t>
            </a:r>
            <a:r>
              <a:rPr lang="en-ID" dirty="0" err="1"/>
              <a:t>tra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vẹn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(Checksum)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Tệp</a:t>
            </a:r>
            <a:r>
              <a:rPr lang="en-ID" dirty="0"/>
              <a:t> </a:t>
            </a:r>
            <a:r>
              <a:rPr lang="en-ID" dirty="0" err="1"/>
              <a:t>nhật</a:t>
            </a:r>
            <a:r>
              <a:rPr lang="en-ID" dirty="0"/>
              <a:t> </a:t>
            </a:r>
            <a:r>
              <a:rPr lang="en-ID" dirty="0" err="1"/>
              <a:t>ký</a:t>
            </a:r>
            <a:r>
              <a:rPr lang="en-ID" dirty="0"/>
              <a:t> </a:t>
            </a:r>
            <a:r>
              <a:rPr lang="en-ID" dirty="0" err="1"/>
              <a:t>khôi</a:t>
            </a:r>
            <a:r>
              <a:rPr lang="en-ID" dirty="0"/>
              <a:t> </a:t>
            </a:r>
            <a:r>
              <a:rPr lang="en-ID" dirty="0" err="1"/>
              <a:t>phục</a:t>
            </a:r>
            <a:r>
              <a:rPr lang="en-ID" dirty="0"/>
              <a:t> (Trash Mechanism)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D9EA15-700B-2172-5B2C-951FA605D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3048000"/>
            <a:ext cx="5029200" cy="344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202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EB9D-6751-A47A-4322-87AB6835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hdfs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6D57A-7FAA-75EA-F2B7-B0CE2AECA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b="1" dirty="0"/>
              <a:t>High Availability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song </a:t>
            </a:r>
            <a:r>
              <a:rPr lang="en-US" dirty="0" err="1"/>
              <a:t>song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NameNode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thiểu</a:t>
            </a:r>
            <a:r>
              <a:rPr lang="en-US" dirty="0"/>
              <a:t> downtime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HDFS.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cụm</a:t>
            </a:r>
            <a:r>
              <a:rPr lang="en-US" dirty="0"/>
              <a:t> HDFS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HA </a:t>
            </a:r>
            <a:r>
              <a:rPr lang="en-US" dirty="0" err="1"/>
              <a:t>sẽ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Active </a:t>
            </a:r>
            <a:r>
              <a:rPr lang="en-US" dirty="0" err="1"/>
              <a:t>NameNode</a:t>
            </a:r>
            <a:r>
              <a:rPr lang="en-US" dirty="0"/>
              <a:t> (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Standby </a:t>
            </a:r>
            <a:r>
              <a:rPr lang="en-US" dirty="0" err="1"/>
              <a:t>NameNode</a:t>
            </a:r>
            <a:r>
              <a:rPr lang="en-US" dirty="0"/>
              <a:t> (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Cụm</a:t>
            </a:r>
            <a:r>
              <a:rPr lang="en-US" dirty="0"/>
              <a:t> Quorum Journal Manager (</a:t>
            </a:r>
            <a:r>
              <a:rPr lang="en-US" dirty="0" err="1"/>
              <a:t>JournalNodes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ZKFailoverController</a:t>
            </a:r>
            <a:r>
              <a:rPr lang="en-US" dirty="0"/>
              <a:t> (ZKFC)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Apache </a:t>
            </a:r>
            <a:r>
              <a:rPr lang="en-US" dirty="0" err="1"/>
              <a:t>ZooKeeper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0B452A-57AA-7AB9-70B2-1ECF199AC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514600"/>
            <a:ext cx="5982535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465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6090-C8B4-CC6D-2B42-251094984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hdfs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92FE0-868A-6F72-A32A-473E25950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Consistency (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quán</a:t>
            </a:r>
            <a:r>
              <a:rPr lang="en-ID" dirty="0"/>
              <a:t>) </a:t>
            </a:r>
            <a:r>
              <a:rPr lang="en-ID" dirty="0" err="1"/>
              <a:t>trong</a:t>
            </a:r>
            <a:r>
              <a:rPr lang="en-ID" dirty="0"/>
              <a:t> HDFS </a:t>
            </a:r>
            <a:r>
              <a:rPr lang="en-ID" dirty="0" err="1"/>
              <a:t>định</a:t>
            </a:r>
            <a:r>
              <a:rPr lang="en-ID" dirty="0"/>
              <a:t> </a:t>
            </a:r>
            <a:r>
              <a:rPr lang="en-ID" dirty="0" err="1"/>
              <a:t>nghĩa</a:t>
            </a:r>
            <a:r>
              <a:rPr lang="en-ID" dirty="0"/>
              <a:t> </a:t>
            </a:r>
            <a:r>
              <a:rPr lang="en-ID" dirty="0" err="1"/>
              <a:t>cách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đảm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rằng</a:t>
            </a:r>
            <a:r>
              <a:rPr lang="en-ID" dirty="0"/>
              <a:t> </a:t>
            </a:r>
            <a:r>
              <a:rPr lang="en-ID" dirty="0" err="1"/>
              <a:t>mọi</a:t>
            </a:r>
            <a:r>
              <a:rPr lang="en-ID" dirty="0"/>
              <a:t> </a:t>
            </a:r>
            <a:r>
              <a:rPr lang="en-ID" dirty="0" err="1"/>
              <a:t>người</a:t>
            </a:r>
            <a:r>
              <a:rPr lang="en-ID" dirty="0"/>
              <a:t> </a:t>
            </a:r>
            <a:r>
              <a:rPr lang="en-ID" dirty="0" err="1"/>
              <a:t>dùng</a:t>
            </a:r>
            <a:r>
              <a:rPr lang="en-ID" dirty="0"/>
              <a:t> (Client) </a:t>
            </a:r>
            <a:r>
              <a:rPr lang="en-ID" dirty="0" err="1"/>
              <a:t>đều</a:t>
            </a:r>
            <a:r>
              <a:rPr lang="en-ID" dirty="0"/>
              <a:t> </a:t>
            </a:r>
            <a:r>
              <a:rPr lang="en-ID" dirty="0" err="1"/>
              <a:t>nhìn</a:t>
            </a:r>
            <a:r>
              <a:rPr lang="en-ID" dirty="0"/>
              <a:t> </a:t>
            </a:r>
            <a:r>
              <a:rPr lang="en-ID" dirty="0" err="1"/>
              <a:t>thấy</a:t>
            </a:r>
            <a:r>
              <a:rPr lang="en-ID" dirty="0"/>
              <a:t> </a:t>
            </a:r>
            <a:r>
              <a:rPr lang="en-ID" dirty="0" err="1"/>
              <a:t>cùng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phiên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giống</a:t>
            </a:r>
            <a:r>
              <a:rPr lang="en-ID" dirty="0"/>
              <a:t> </a:t>
            </a:r>
            <a:r>
              <a:rPr lang="en-ID" dirty="0" err="1"/>
              <a:t>hệt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 </a:t>
            </a:r>
            <a:r>
              <a:rPr lang="en-ID" dirty="0" err="1"/>
              <a:t>tại</a:t>
            </a:r>
            <a:r>
              <a:rPr lang="en-ID" dirty="0"/>
              <a:t> </a:t>
            </a:r>
            <a:r>
              <a:rPr lang="en-ID" dirty="0" err="1"/>
              <a:t>cùng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điểm</a:t>
            </a:r>
            <a:r>
              <a:rPr lang="en-ID" dirty="0"/>
              <a:t>, </a:t>
            </a:r>
            <a:r>
              <a:rPr lang="en-ID" dirty="0" err="1"/>
              <a:t>bất</a:t>
            </a:r>
            <a:r>
              <a:rPr lang="en-ID" dirty="0"/>
              <a:t> </a:t>
            </a:r>
            <a:r>
              <a:rPr lang="en-ID" dirty="0" err="1"/>
              <a:t>kể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 </a:t>
            </a:r>
            <a:r>
              <a:rPr lang="en-ID" dirty="0" err="1"/>
              <a:t>đang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nhân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tán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máy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(</a:t>
            </a:r>
            <a:r>
              <a:rPr lang="en-ID" dirty="0" err="1"/>
              <a:t>DataNodes</a:t>
            </a:r>
            <a:r>
              <a:rPr lang="en-ID" dirty="0"/>
              <a:t>) </a:t>
            </a:r>
            <a:r>
              <a:rPr lang="en-ID" dirty="0" err="1"/>
              <a:t>khác</a:t>
            </a:r>
            <a:r>
              <a:rPr lang="en-ID" dirty="0"/>
              <a:t> </a:t>
            </a:r>
            <a:r>
              <a:rPr lang="en-ID" dirty="0" err="1"/>
              <a:t>nhau</a:t>
            </a:r>
            <a:r>
              <a:rPr lang="en-ID" dirty="0"/>
              <a:t>. </a:t>
            </a:r>
            <a:r>
              <a:rPr lang="en-ID" dirty="0" err="1"/>
              <a:t>Ngoài</a:t>
            </a:r>
            <a:r>
              <a:rPr lang="en-ID" dirty="0"/>
              <a:t>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bảo</a:t>
            </a:r>
            <a:r>
              <a:rPr lang="en-ID" dirty="0"/>
              <a:t> </a:t>
            </a:r>
            <a:r>
              <a:rPr lang="en-ID" dirty="0" err="1"/>
              <a:t>đảm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quán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đọc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bằng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nhân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, HDFS </a:t>
            </a:r>
            <a:r>
              <a:rPr lang="en-ID" dirty="0" err="1"/>
              <a:t>còn</a:t>
            </a:r>
            <a:r>
              <a:rPr lang="en-ID" dirty="0"/>
              <a:t> </a:t>
            </a:r>
            <a:r>
              <a:rPr lang="en-ID" dirty="0" err="1"/>
              <a:t>sử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hình</a:t>
            </a:r>
            <a:r>
              <a:rPr lang="en-ID" dirty="0"/>
              <a:t> “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lần</a:t>
            </a:r>
            <a:r>
              <a:rPr lang="en-ID" dirty="0"/>
              <a:t>, </a:t>
            </a:r>
            <a:r>
              <a:rPr lang="en-ID" dirty="0" err="1"/>
              <a:t>đọc</a:t>
            </a:r>
            <a:r>
              <a:rPr lang="en-ID" dirty="0"/>
              <a:t> </a:t>
            </a:r>
            <a:r>
              <a:rPr lang="en-ID" dirty="0" err="1"/>
              <a:t>nhiều</a:t>
            </a:r>
            <a:r>
              <a:rPr lang="en-ID" dirty="0"/>
              <a:t> </a:t>
            </a:r>
            <a:r>
              <a:rPr lang="en-ID" dirty="0" err="1"/>
              <a:t>lần</a:t>
            </a:r>
            <a:r>
              <a:rPr lang="en-ID" dirty="0"/>
              <a:t>” (Write Once, Read Many)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chế</a:t>
            </a:r>
            <a:r>
              <a:rPr lang="en-ID" dirty="0"/>
              <a:t> Lease Management (Quản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đồng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thuê</a:t>
            </a:r>
            <a:r>
              <a:rPr lang="en-ID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quán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</a:t>
            </a:r>
            <a:r>
              <a:rPr lang="en-ID" dirty="0" err="1"/>
              <a:t>kiến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 HA (High Availability)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12497B-AA68-A7AF-D71B-DE957DCBD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2667000"/>
            <a:ext cx="4381228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358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7920C-C3E8-D69A-7BFF-8E3C18552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hive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03C5F-A488-53D8-199E-0466E1B27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724150"/>
            <a:ext cx="4416552" cy="2057400"/>
          </a:xfrm>
        </p:spPr>
        <p:txBody>
          <a:bodyPr/>
          <a:lstStyle/>
          <a:p>
            <a:r>
              <a:rPr lang="en-ID" dirty="0"/>
              <a:t>Apache Hive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mềm</a:t>
            </a:r>
            <a:r>
              <a:rPr lang="en-ID" dirty="0"/>
              <a:t> </a:t>
            </a:r>
            <a:r>
              <a:rPr lang="en-ID" dirty="0" err="1"/>
              <a:t>kho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(Data Warehouse) </a:t>
            </a:r>
            <a:r>
              <a:rPr lang="en-ID" dirty="0" err="1"/>
              <a:t>nguồn</a:t>
            </a:r>
            <a:r>
              <a:rPr lang="en-ID" dirty="0"/>
              <a:t> </a:t>
            </a:r>
            <a:r>
              <a:rPr lang="en-ID" dirty="0" err="1"/>
              <a:t>mở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xây</a:t>
            </a:r>
            <a:r>
              <a:rPr lang="en-ID" dirty="0"/>
              <a:t> </a:t>
            </a:r>
            <a:r>
              <a:rPr lang="en-ID" dirty="0" err="1"/>
              <a:t>dựng</a:t>
            </a:r>
            <a:r>
              <a:rPr lang="en-ID" dirty="0"/>
              <a:t> </a:t>
            </a:r>
            <a:r>
              <a:rPr lang="en-ID" dirty="0" err="1"/>
              <a:t>trên</a:t>
            </a:r>
            <a:r>
              <a:rPr lang="en-ID" dirty="0"/>
              <a:t> </a:t>
            </a:r>
            <a:r>
              <a:rPr lang="en-ID" dirty="0" err="1"/>
              <a:t>nền</a:t>
            </a:r>
            <a:r>
              <a:rPr lang="en-ID" dirty="0"/>
              <a:t> </a:t>
            </a:r>
            <a:r>
              <a:rPr lang="en-ID" dirty="0" err="1"/>
              <a:t>tảng</a:t>
            </a:r>
            <a:r>
              <a:rPr lang="en-ID" dirty="0"/>
              <a:t> Apache Hadoop.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người</a:t>
            </a:r>
            <a:r>
              <a:rPr lang="en-ID" dirty="0"/>
              <a:t>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đọc</a:t>
            </a:r>
            <a:r>
              <a:rPr lang="en-ID" dirty="0"/>
              <a:t>,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tập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khổng</a:t>
            </a:r>
            <a:r>
              <a:rPr lang="en-ID" dirty="0"/>
              <a:t> </a:t>
            </a:r>
            <a:r>
              <a:rPr lang="en-ID" dirty="0" err="1"/>
              <a:t>lồ</a:t>
            </a:r>
            <a:r>
              <a:rPr lang="en-ID" dirty="0"/>
              <a:t> (Big Data) </a:t>
            </a:r>
            <a:r>
              <a:rPr lang="en-ID" dirty="0" err="1"/>
              <a:t>đang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trong</a:t>
            </a:r>
            <a:r>
              <a:rPr lang="en-ID" dirty="0"/>
              <a:t> HDFS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tương</a:t>
            </a:r>
            <a:r>
              <a:rPr lang="en-ID" dirty="0"/>
              <a:t> </a:t>
            </a:r>
            <a:r>
              <a:rPr lang="en-ID" dirty="0" err="1"/>
              <a:t>thích</a:t>
            </a:r>
            <a:r>
              <a:rPr lang="en-ID" dirty="0"/>
              <a:t> </a:t>
            </a:r>
            <a:r>
              <a:rPr lang="en-ID" dirty="0" err="1"/>
              <a:t>khác</a:t>
            </a:r>
            <a:r>
              <a:rPr lang="en-ID" dirty="0"/>
              <a:t> (</a:t>
            </a:r>
            <a:r>
              <a:rPr lang="en-ID" dirty="0" err="1"/>
              <a:t>như</a:t>
            </a:r>
            <a:r>
              <a:rPr lang="en-ID" dirty="0"/>
              <a:t> Amazon S3). </a:t>
            </a:r>
            <a:r>
              <a:rPr lang="en-ID" dirty="0" err="1"/>
              <a:t>Điểm</a:t>
            </a:r>
            <a:r>
              <a:rPr lang="en-ID" dirty="0"/>
              <a:t> </a:t>
            </a:r>
            <a:r>
              <a:rPr lang="en-ID" dirty="0" err="1"/>
              <a:t>đặc</a:t>
            </a:r>
            <a:r>
              <a:rPr lang="en-ID" dirty="0"/>
              <a:t> </a:t>
            </a:r>
            <a:r>
              <a:rPr lang="en-ID" dirty="0" err="1"/>
              <a:t>biệt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Hive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cung</a:t>
            </a:r>
            <a:r>
              <a:rPr lang="en-ID" dirty="0"/>
              <a:t> </a:t>
            </a:r>
            <a:r>
              <a:rPr lang="en-ID" dirty="0" err="1"/>
              <a:t>cấp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ngôn</a:t>
            </a:r>
            <a:r>
              <a:rPr lang="en-ID" dirty="0"/>
              <a:t> </a:t>
            </a:r>
            <a:r>
              <a:rPr lang="en-ID" dirty="0" err="1"/>
              <a:t>ngữ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 </a:t>
            </a:r>
            <a:r>
              <a:rPr lang="en-ID" dirty="0" err="1"/>
              <a:t>gọi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HiveQL (Hive Query Language),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cú</a:t>
            </a:r>
            <a:r>
              <a:rPr lang="en-ID" dirty="0"/>
              <a:t> </a:t>
            </a:r>
            <a:r>
              <a:rPr lang="en-ID" dirty="0" err="1"/>
              <a:t>pháp</a:t>
            </a:r>
            <a:r>
              <a:rPr lang="en-ID" dirty="0"/>
              <a:t> </a:t>
            </a:r>
            <a:r>
              <a:rPr lang="en-ID" dirty="0" err="1"/>
              <a:t>giống</a:t>
            </a:r>
            <a:r>
              <a:rPr lang="en-ID" dirty="0"/>
              <a:t> </a:t>
            </a:r>
            <a:r>
              <a:rPr lang="en-ID" dirty="0" err="1"/>
              <a:t>tới</a:t>
            </a:r>
            <a:r>
              <a:rPr lang="en-ID" dirty="0"/>
              <a:t> 90%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ngôn</a:t>
            </a:r>
            <a:r>
              <a:rPr lang="en-ID" dirty="0"/>
              <a:t> </a:t>
            </a:r>
            <a:r>
              <a:rPr lang="en-ID" dirty="0" err="1"/>
              <a:t>ngữ</a:t>
            </a:r>
            <a:r>
              <a:rPr lang="en-ID" dirty="0"/>
              <a:t> SQL </a:t>
            </a:r>
            <a:r>
              <a:rPr lang="en-ID" dirty="0" err="1"/>
              <a:t>truyền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.</a:t>
            </a:r>
          </a:p>
          <a:p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56D801-FCB1-69FF-C8F5-E5CA09D87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254" y="1524000"/>
            <a:ext cx="622935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20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80BD3-9DB3-BBBC-4704-DDBB99E73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rmAutofit/>
          </a:bodyPr>
          <a:lstStyle/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hive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027ED-7A39-C323-EAD5-3378156225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29400" y="2438400"/>
            <a:ext cx="5074920" cy="2877503"/>
          </a:xfrm>
        </p:spPr>
        <p:txBody>
          <a:bodyPr>
            <a:normAutofit/>
          </a:bodyPr>
          <a:lstStyle/>
          <a:p>
            <a:r>
              <a:rPr lang="en-ID" dirty="0"/>
              <a:t>Các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cốt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Hive bao </a:t>
            </a:r>
            <a:r>
              <a:rPr lang="en-ID" dirty="0" err="1"/>
              <a:t>gồm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HiveQL: </a:t>
            </a:r>
            <a:r>
              <a:rPr lang="en-ID" dirty="0" err="1"/>
              <a:t>Ngôn</a:t>
            </a:r>
            <a:r>
              <a:rPr lang="en-ID" dirty="0"/>
              <a:t> </a:t>
            </a:r>
            <a:r>
              <a:rPr lang="en-ID" dirty="0" err="1"/>
              <a:t>ngữ</a:t>
            </a:r>
            <a:r>
              <a:rPr lang="en-ID" dirty="0"/>
              <a:t> </a:t>
            </a: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thao</a:t>
            </a:r>
            <a:r>
              <a:rPr lang="en-ID" dirty="0"/>
              <a:t> </a:t>
            </a:r>
            <a:r>
              <a:rPr lang="en-ID" dirty="0" err="1"/>
              <a:t>tác</a:t>
            </a:r>
            <a:r>
              <a:rPr lang="en-ID" dirty="0"/>
              <a:t> </a:t>
            </a:r>
            <a:r>
              <a:rPr lang="en-ID" dirty="0" err="1"/>
              <a:t>gom</a:t>
            </a:r>
            <a:r>
              <a:rPr lang="en-ID" dirty="0"/>
              <a:t> </a:t>
            </a:r>
            <a:r>
              <a:rPr lang="en-ID" dirty="0" err="1"/>
              <a:t>nhóm</a:t>
            </a:r>
            <a:r>
              <a:rPr lang="en-ID" dirty="0"/>
              <a:t>, </a:t>
            </a:r>
            <a:r>
              <a:rPr lang="en-ID" dirty="0" err="1"/>
              <a:t>lọc</a:t>
            </a:r>
            <a:r>
              <a:rPr lang="en-ID" dirty="0"/>
              <a:t>, </a:t>
            </a:r>
            <a:r>
              <a:rPr lang="en-ID" dirty="0" err="1"/>
              <a:t>kết</a:t>
            </a:r>
            <a:r>
              <a:rPr lang="en-ID" dirty="0"/>
              <a:t> </a:t>
            </a:r>
            <a:r>
              <a:rPr lang="en-ID" dirty="0" err="1"/>
              <a:t>hợp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lớn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Hive </a:t>
            </a:r>
            <a:r>
              <a:rPr lang="en-ID" dirty="0" err="1"/>
              <a:t>Metastore</a:t>
            </a:r>
            <a:r>
              <a:rPr lang="en-ID" dirty="0"/>
              <a:t>: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trung</a:t>
            </a:r>
            <a:r>
              <a:rPr lang="en-ID" dirty="0"/>
              <a:t> </a:t>
            </a:r>
            <a:r>
              <a:rPr lang="en-ID" dirty="0" err="1"/>
              <a:t>tâm</a:t>
            </a:r>
            <a:r>
              <a:rPr lang="en-ID" dirty="0"/>
              <a:t> (</a:t>
            </a:r>
            <a:r>
              <a:rPr lang="en-ID" dirty="0" err="1"/>
              <a:t>thường</a:t>
            </a:r>
            <a:r>
              <a:rPr lang="en-ID" dirty="0"/>
              <a:t> </a:t>
            </a:r>
            <a:r>
              <a:rPr lang="en-ID" dirty="0" err="1"/>
              <a:t>dùng</a:t>
            </a:r>
            <a:r>
              <a:rPr lang="en-ID" dirty="0"/>
              <a:t> MySQL </a:t>
            </a:r>
            <a:r>
              <a:rPr lang="en-ID" dirty="0" err="1"/>
              <a:t>hoặc</a:t>
            </a:r>
            <a:r>
              <a:rPr lang="en-ID" dirty="0"/>
              <a:t> PostgreSQL) </a:t>
            </a:r>
            <a:r>
              <a:rPr lang="en-ID" dirty="0" err="1"/>
              <a:t>dùng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siêu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Hive.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nhớ</a:t>
            </a:r>
            <a:r>
              <a:rPr lang="en-ID" dirty="0"/>
              <a:t> </a:t>
            </a:r>
            <a:r>
              <a:rPr lang="en-ID" dirty="0" err="1"/>
              <a:t>sơ</a:t>
            </a:r>
            <a:r>
              <a:rPr lang="en-ID" dirty="0"/>
              <a:t> </a:t>
            </a:r>
            <a:r>
              <a:rPr lang="en-ID" dirty="0" err="1"/>
              <a:t>đồ</a:t>
            </a:r>
            <a:r>
              <a:rPr lang="en-ID" dirty="0"/>
              <a:t> </a:t>
            </a:r>
            <a:r>
              <a:rPr lang="en-ID" dirty="0" err="1"/>
              <a:t>cấu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(Schema), </a:t>
            </a:r>
            <a:r>
              <a:rPr lang="en-ID" dirty="0" err="1"/>
              <a:t>tên</a:t>
            </a:r>
            <a:r>
              <a:rPr lang="en-ID" dirty="0"/>
              <a:t> </a:t>
            </a:r>
            <a:r>
              <a:rPr lang="en-ID" dirty="0" err="1"/>
              <a:t>cột</a:t>
            </a:r>
            <a:r>
              <a:rPr lang="en-ID" dirty="0"/>
              <a:t>, </a:t>
            </a:r>
            <a:r>
              <a:rPr lang="en-ID" dirty="0" err="1"/>
              <a:t>kiểu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ánh</a:t>
            </a:r>
            <a:r>
              <a:rPr lang="en-ID" dirty="0"/>
              <a:t> </a:t>
            </a:r>
            <a:r>
              <a:rPr lang="en-ID" dirty="0" err="1"/>
              <a:t>xạ</a:t>
            </a:r>
            <a:r>
              <a:rPr lang="en-ID" dirty="0"/>
              <a:t> </a:t>
            </a:r>
            <a:r>
              <a:rPr lang="en-ID" dirty="0" err="1"/>
              <a:t>xem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đó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chất</a:t>
            </a:r>
            <a:r>
              <a:rPr lang="en-ID" dirty="0"/>
              <a:t> </a:t>
            </a:r>
            <a:r>
              <a:rPr lang="en-ID" dirty="0" err="1"/>
              <a:t>tương</a:t>
            </a:r>
            <a:r>
              <a:rPr lang="en-ID" dirty="0"/>
              <a:t> </a:t>
            </a:r>
            <a:r>
              <a:rPr lang="en-ID" dirty="0" err="1"/>
              <a:t>ứng</a:t>
            </a:r>
            <a:r>
              <a:rPr lang="en-ID" dirty="0"/>
              <a:t> </a:t>
            </a:r>
            <a:r>
              <a:rPr lang="en-ID" dirty="0" err="1"/>
              <a:t>với</a:t>
            </a:r>
            <a:r>
              <a:rPr lang="en-ID" dirty="0"/>
              <a:t> </a:t>
            </a:r>
            <a:r>
              <a:rPr lang="en-ID" dirty="0" err="1"/>
              <a:t>thư</a:t>
            </a:r>
            <a:r>
              <a:rPr lang="en-ID" dirty="0"/>
              <a:t> </a:t>
            </a:r>
            <a:r>
              <a:rPr lang="en-ID" dirty="0" err="1"/>
              <a:t>mục</a:t>
            </a:r>
            <a:r>
              <a:rPr lang="en-ID" dirty="0"/>
              <a:t> </a:t>
            </a:r>
            <a:r>
              <a:rPr lang="en-ID" dirty="0" err="1"/>
              <a:t>nào</a:t>
            </a:r>
            <a:r>
              <a:rPr lang="en-ID" dirty="0"/>
              <a:t> </a:t>
            </a:r>
            <a:r>
              <a:rPr lang="en-ID" dirty="0" err="1"/>
              <a:t>bên</a:t>
            </a:r>
            <a:r>
              <a:rPr lang="en-ID" dirty="0"/>
              <a:t> </a:t>
            </a:r>
            <a:r>
              <a:rPr lang="en-ID" dirty="0" err="1"/>
              <a:t>dưới</a:t>
            </a:r>
            <a:r>
              <a:rPr lang="en-ID" dirty="0"/>
              <a:t> HDFS.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Driver/Compiler: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phận</a:t>
            </a:r>
            <a:r>
              <a:rPr lang="en-ID" dirty="0"/>
              <a:t> </a:t>
            </a:r>
            <a:r>
              <a:rPr lang="en-ID" dirty="0" err="1"/>
              <a:t>tiếp</a:t>
            </a:r>
            <a:r>
              <a:rPr lang="en-ID" dirty="0"/>
              <a:t> </a:t>
            </a:r>
            <a:r>
              <a:rPr lang="en-ID" dirty="0" err="1"/>
              <a:t>nhận</a:t>
            </a:r>
            <a:r>
              <a:rPr lang="en-ID" dirty="0"/>
              <a:t> </a:t>
            </a:r>
            <a:r>
              <a:rPr lang="en-ID" dirty="0" err="1"/>
              <a:t>câu</a:t>
            </a:r>
            <a:r>
              <a:rPr lang="en-ID" dirty="0"/>
              <a:t> </a:t>
            </a:r>
            <a:r>
              <a:rPr lang="en-ID" dirty="0" err="1"/>
              <a:t>lệnh</a:t>
            </a:r>
            <a:r>
              <a:rPr lang="en-ID" dirty="0"/>
              <a:t> HiveQL, </a:t>
            </a:r>
            <a:r>
              <a:rPr lang="en-ID" dirty="0" err="1"/>
              <a:t>kiểm</a:t>
            </a:r>
            <a:r>
              <a:rPr lang="en-ID" dirty="0"/>
              <a:t> </a:t>
            </a:r>
            <a:r>
              <a:rPr lang="en-ID" dirty="0" err="1"/>
              <a:t>tra</a:t>
            </a:r>
            <a:r>
              <a:rPr lang="en-ID" dirty="0"/>
              <a:t> </a:t>
            </a:r>
            <a:r>
              <a:rPr lang="en-ID" dirty="0" err="1"/>
              <a:t>cú</a:t>
            </a:r>
            <a:r>
              <a:rPr lang="en-ID" dirty="0"/>
              <a:t> </a:t>
            </a:r>
            <a:r>
              <a:rPr lang="en-ID" dirty="0" err="1"/>
              <a:t>pháp</a:t>
            </a:r>
            <a:r>
              <a:rPr lang="en-ID" dirty="0"/>
              <a:t>, </a:t>
            </a:r>
            <a:r>
              <a:rPr lang="en-ID" dirty="0" err="1"/>
              <a:t>tối</a:t>
            </a:r>
            <a:r>
              <a:rPr lang="en-ID" dirty="0"/>
              <a:t> </a:t>
            </a:r>
            <a:r>
              <a:rPr lang="en-ID" dirty="0" err="1"/>
              <a:t>ưu</a:t>
            </a:r>
            <a:r>
              <a:rPr lang="en-ID" dirty="0"/>
              <a:t> </a:t>
            </a:r>
            <a:r>
              <a:rPr lang="en-ID" dirty="0" err="1"/>
              <a:t>hóa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 </a:t>
            </a:r>
            <a:r>
              <a:rPr lang="en-ID" dirty="0" err="1"/>
              <a:t>hoạch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thi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dịch</a:t>
            </a:r>
            <a:r>
              <a:rPr lang="en-ID" dirty="0"/>
              <a:t>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công</a:t>
            </a:r>
            <a:r>
              <a:rPr lang="en-ID" dirty="0"/>
              <a:t> </a:t>
            </a:r>
            <a:r>
              <a:rPr lang="en-ID" dirty="0" err="1"/>
              <a:t>việc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tán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ED8783-D351-C7B2-F709-EACCEAFEC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7" y="2438400"/>
            <a:ext cx="5755006" cy="28775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70812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7640AAB-4DD5-14E1-07D8-28D9CAAF3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Hive </a:t>
            </a:r>
            <a:r>
              <a:rPr lang="en-US" dirty="0" err="1"/>
              <a:t>metastore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BEA2B-6B55-EB61-F658-8D8C65834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817353" cy="2057400"/>
          </a:xfrm>
        </p:spPr>
        <p:txBody>
          <a:bodyPr/>
          <a:lstStyle/>
          <a:p>
            <a:r>
              <a:rPr lang="en-ID" dirty="0"/>
              <a:t>Trong </a:t>
            </a:r>
            <a:r>
              <a:rPr lang="en-ID" dirty="0" err="1"/>
              <a:t>kiến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 </a:t>
            </a:r>
            <a:r>
              <a:rPr lang="en-ID" dirty="0" err="1"/>
              <a:t>của</a:t>
            </a:r>
            <a:r>
              <a:rPr lang="en-ID" dirty="0"/>
              <a:t> Apache Hive, </a:t>
            </a:r>
            <a:r>
              <a:rPr lang="en-ID" dirty="0" err="1"/>
              <a:t>Metastore</a:t>
            </a:r>
            <a:r>
              <a:rPr lang="en-ID" dirty="0"/>
              <a:t> </a:t>
            </a:r>
            <a:r>
              <a:rPr lang="en-ID" dirty="0" err="1"/>
              <a:t>đóng</a:t>
            </a:r>
            <a:r>
              <a:rPr lang="en-ID" dirty="0"/>
              <a:t> </a:t>
            </a:r>
            <a:r>
              <a:rPr lang="en-ID" dirty="0" err="1"/>
              <a:t>vai</a:t>
            </a:r>
            <a:r>
              <a:rPr lang="en-ID" dirty="0"/>
              <a:t> </a:t>
            </a:r>
            <a:r>
              <a:rPr lang="en-ID" dirty="0" err="1"/>
              <a:t>trò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"</a:t>
            </a:r>
            <a:r>
              <a:rPr lang="en-ID" dirty="0" err="1"/>
              <a:t>linh</a:t>
            </a:r>
            <a:r>
              <a:rPr lang="en-ID" dirty="0"/>
              <a:t> </a:t>
            </a:r>
            <a:r>
              <a:rPr lang="en-ID" dirty="0" err="1"/>
              <a:t>hồn</a:t>
            </a:r>
            <a:r>
              <a:rPr lang="en-ID" dirty="0"/>
              <a:t>"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quan</a:t>
            </a:r>
            <a:r>
              <a:rPr lang="en-ID" dirty="0"/>
              <a:t> </a:t>
            </a:r>
            <a:r>
              <a:rPr lang="en-ID" dirty="0" err="1"/>
              <a:t>trọng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. </a:t>
            </a:r>
            <a:r>
              <a:rPr lang="en-ID" dirty="0" err="1"/>
              <a:t>Nó</a:t>
            </a:r>
            <a:r>
              <a:rPr lang="en-ID" dirty="0"/>
              <a:t> </a:t>
            </a:r>
            <a:r>
              <a:rPr lang="en-ID" dirty="0" err="1"/>
              <a:t>biến</a:t>
            </a:r>
            <a:r>
              <a:rPr lang="en-ID" dirty="0"/>
              <a:t> </a:t>
            </a:r>
            <a:r>
              <a:rPr lang="en-ID" dirty="0" err="1"/>
              <a:t>đổi</a:t>
            </a:r>
            <a:r>
              <a:rPr lang="en-ID" dirty="0"/>
              <a:t> HDFS </a:t>
            </a:r>
            <a:r>
              <a:rPr lang="en-ID" dirty="0" err="1"/>
              <a:t>từ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lưu</a:t>
            </a:r>
            <a:r>
              <a:rPr lang="en-ID" dirty="0"/>
              <a:t> </a:t>
            </a:r>
            <a:r>
              <a:rPr lang="en-ID" dirty="0" err="1"/>
              <a:t>trữ</a:t>
            </a:r>
            <a:r>
              <a:rPr lang="en-ID" dirty="0"/>
              <a:t> </a:t>
            </a:r>
            <a:r>
              <a:rPr lang="en-ID" dirty="0" err="1"/>
              <a:t>tệp</a:t>
            </a:r>
            <a:r>
              <a:rPr lang="en-ID" dirty="0"/>
              <a:t> tin </a:t>
            </a:r>
            <a:r>
              <a:rPr lang="en-ID" dirty="0" err="1"/>
              <a:t>thô</a:t>
            </a:r>
            <a:r>
              <a:rPr lang="en-ID" dirty="0"/>
              <a:t> (</a:t>
            </a:r>
            <a:r>
              <a:rPr lang="en-ID" dirty="0" err="1"/>
              <a:t>như</a:t>
            </a:r>
            <a:r>
              <a:rPr lang="en-ID" dirty="0"/>
              <a:t> .txt, .csv, .parquet)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Kho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(Data Warehouse)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cấu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, </a:t>
            </a:r>
            <a:r>
              <a:rPr lang="en-ID" dirty="0" err="1"/>
              <a:t>hàng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cột</a:t>
            </a:r>
            <a:r>
              <a:rPr lang="en-ID" dirty="0"/>
              <a:t> </a:t>
            </a:r>
            <a:r>
              <a:rPr lang="en-ID" dirty="0" err="1"/>
              <a:t>tương</a:t>
            </a:r>
            <a:r>
              <a:rPr lang="en-ID" dirty="0"/>
              <a:t>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truyền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(MySQL, SQL Server). </a:t>
            </a:r>
            <a:r>
              <a:rPr lang="en-ID" dirty="0" err="1"/>
              <a:t>Metastore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chỉ</a:t>
            </a:r>
            <a:r>
              <a:rPr lang="en-ID" dirty="0"/>
              <a:t>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khối</a:t>
            </a:r>
            <a:r>
              <a:rPr lang="en-ID" dirty="0"/>
              <a:t> </a:t>
            </a:r>
            <a:r>
              <a:rPr lang="en-ID" dirty="0" err="1"/>
              <a:t>duy</a:t>
            </a:r>
            <a:r>
              <a:rPr lang="en-ID" dirty="0"/>
              <a:t> </a:t>
            </a:r>
            <a:r>
              <a:rPr lang="en-ID" dirty="0" err="1"/>
              <a:t>nhất</a:t>
            </a:r>
            <a:r>
              <a:rPr lang="en-ID" dirty="0"/>
              <a:t> </a:t>
            </a:r>
            <a:r>
              <a:rPr lang="en-ID" dirty="0" err="1"/>
              <a:t>mà</a:t>
            </a:r>
            <a:r>
              <a:rPr lang="en-ID" dirty="0"/>
              <a:t> </a:t>
            </a:r>
            <a:r>
              <a:rPr lang="en-ID" dirty="0" err="1"/>
              <a:t>được</a:t>
            </a:r>
            <a:r>
              <a:rPr lang="en-ID" dirty="0"/>
              <a:t> chia </a:t>
            </a:r>
            <a:r>
              <a:rPr lang="en-ID" dirty="0" err="1"/>
              <a:t>làm</a:t>
            </a:r>
            <a:r>
              <a:rPr lang="en-ID" dirty="0"/>
              <a:t> 2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tách</a:t>
            </a:r>
            <a:r>
              <a:rPr lang="en-ID" dirty="0"/>
              <a:t> </a:t>
            </a:r>
            <a:r>
              <a:rPr lang="en-ID" dirty="0" err="1"/>
              <a:t>biệt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Metastore</a:t>
            </a:r>
            <a:r>
              <a:rPr lang="en-ID" dirty="0"/>
              <a:t> Service (</a:t>
            </a:r>
            <a:r>
              <a:rPr lang="en-ID" dirty="0" err="1"/>
              <a:t>Phần</a:t>
            </a:r>
            <a:r>
              <a:rPr lang="en-ID" dirty="0"/>
              <a:t> </a:t>
            </a:r>
            <a:r>
              <a:rPr lang="en-ID" dirty="0" err="1"/>
              <a:t>lõi</a:t>
            </a:r>
            <a:r>
              <a:rPr lang="en-ID" dirty="0"/>
              <a:t> </a:t>
            </a:r>
            <a:r>
              <a:rPr lang="en-ID" dirty="0" err="1"/>
              <a:t>dịch</a:t>
            </a:r>
            <a:r>
              <a:rPr lang="en-ID" dirty="0"/>
              <a:t> </a:t>
            </a:r>
            <a:r>
              <a:rPr lang="en-ID" dirty="0" err="1"/>
              <a:t>vụ</a:t>
            </a:r>
            <a:r>
              <a:rPr lang="en-ID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Metastore</a:t>
            </a:r>
            <a:r>
              <a:rPr lang="en-ID" dirty="0"/>
              <a:t> Database (</a:t>
            </a:r>
            <a:r>
              <a:rPr lang="en-ID" dirty="0" err="1"/>
              <a:t>Cơ</a:t>
            </a:r>
            <a:r>
              <a:rPr lang="en-ID" dirty="0"/>
              <a:t> </a:t>
            </a:r>
            <a:r>
              <a:rPr lang="en-ID" dirty="0" err="1"/>
              <a:t>sở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vật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87C7BA-729E-9072-2541-D9B3032F1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743200"/>
            <a:ext cx="5529120" cy="384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36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B3955-9283-2121-4CA4-D78FBFEEB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iceberg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A01C1-33C6-6C49-11D6-2E51C4D108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Apache Iceberg </a:t>
            </a:r>
            <a:r>
              <a:rPr lang="en-ID" dirty="0" err="1"/>
              <a:t>là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định</a:t>
            </a:r>
            <a:r>
              <a:rPr lang="en-ID" dirty="0"/>
              <a:t> </a:t>
            </a:r>
            <a:r>
              <a:rPr lang="en-ID" dirty="0" err="1"/>
              <a:t>dạng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mở</a:t>
            </a:r>
            <a:r>
              <a:rPr lang="en-ID" dirty="0"/>
              <a:t> (Open Table Format) </a:t>
            </a:r>
            <a:r>
              <a:rPr lang="en-ID" dirty="0" err="1"/>
              <a:t>thế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mới</a:t>
            </a:r>
            <a:r>
              <a:rPr lang="en-ID" dirty="0"/>
              <a:t>, </a:t>
            </a:r>
            <a:r>
              <a:rPr lang="en-ID" dirty="0" err="1"/>
              <a:t>được</a:t>
            </a:r>
            <a:r>
              <a:rPr lang="en-ID" dirty="0"/>
              <a:t> </a:t>
            </a:r>
            <a:r>
              <a:rPr lang="en-ID" dirty="0" err="1"/>
              <a:t>thiết</a:t>
            </a:r>
            <a:r>
              <a:rPr lang="en-ID" dirty="0"/>
              <a:t> </a:t>
            </a:r>
            <a:r>
              <a:rPr lang="en-ID" dirty="0" err="1"/>
              <a:t>kế</a:t>
            </a:r>
            <a:r>
              <a:rPr lang="en-ID" dirty="0"/>
              <a:t> </a:t>
            </a:r>
            <a:r>
              <a:rPr lang="en-ID" dirty="0" err="1"/>
              <a:t>nguyên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cho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hệ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tích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lớn</a:t>
            </a:r>
            <a:r>
              <a:rPr lang="en-ID" dirty="0"/>
              <a:t> ở </a:t>
            </a:r>
            <a:r>
              <a:rPr lang="en-ID" dirty="0" err="1"/>
              <a:t>quy</a:t>
            </a:r>
            <a:r>
              <a:rPr lang="en-ID" dirty="0"/>
              <a:t> </a:t>
            </a:r>
            <a:r>
              <a:rPr lang="en-ID" dirty="0" err="1"/>
              <a:t>mô</a:t>
            </a:r>
            <a:r>
              <a:rPr lang="en-ID" dirty="0"/>
              <a:t> </a:t>
            </a:r>
            <a:r>
              <a:rPr lang="en-ID" dirty="0" err="1"/>
              <a:t>siêu</a:t>
            </a:r>
            <a:r>
              <a:rPr lang="en-ID" dirty="0"/>
              <a:t> </a:t>
            </a:r>
            <a:r>
              <a:rPr lang="en-ID" dirty="0" err="1"/>
              <a:t>khổng</a:t>
            </a:r>
            <a:r>
              <a:rPr lang="en-ID" dirty="0"/>
              <a:t> </a:t>
            </a:r>
            <a:r>
              <a:rPr lang="en-ID" dirty="0" err="1"/>
              <a:t>lồ</a:t>
            </a:r>
            <a:r>
              <a:rPr lang="en-ID" dirty="0"/>
              <a:t>. Thay </a:t>
            </a:r>
            <a:r>
              <a:rPr lang="en-ID" dirty="0" err="1"/>
              <a:t>vì</a:t>
            </a:r>
            <a:r>
              <a:rPr lang="en-ID" dirty="0"/>
              <a:t>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tư</a:t>
            </a:r>
            <a:r>
              <a:rPr lang="en-ID" dirty="0"/>
              <a:t> </a:t>
            </a:r>
            <a:r>
              <a:rPr lang="en-ID" dirty="0" err="1"/>
              <a:t>duy</a:t>
            </a:r>
            <a:r>
              <a:rPr lang="en-ID" dirty="0"/>
              <a:t> "</a:t>
            </a:r>
            <a:r>
              <a:rPr lang="en-ID" dirty="0" err="1"/>
              <a:t>thư</a:t>
            </a:r>
            <a:r>
              <a:rPr lang="en-ID" dirty="0"/>
              <a:t> </a:t>
            </a:r>
            <a:r>
              <a:rPr lang="en-ID" dirty="0" err="1"/>
              <a:t>mục</a:t>
            </a:r>
            <a:r>
              <a:rPr lang="en-ID" dirty="0"/>
              <a:t> </a:t>
            </a:r>
            <a:r>
              <a:rPr lang="en-ID" dirty="0" err="1"/>
              <a:t>vật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" (Directory-based), Iceberg </a:t>
            </a:r>
            <a:r>
              <a:rPr lang="en-ID" dirty="0" err="1"/>
              <a:t>quản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theo</a:t>
            </a:r>
            <a:r>
              <a:rPr lang="en-ID" dirty="0"/>
              <a:t> </a:t>
            </a:r>
            <a:r>
              <a:rPr lang="en-ID" dirty="0" err="1"/>
              <a:t>tư</a:t>
            </a:r>
            <a:r>
              <a:rPr lang="en-ID" dirty="0"/>
              <a:t> </a:t>
            </a:r>
            <a:r>
              <a:rPr lang="en-ID" dirty="0" err="1"/>
              <a:t>duy</a:t>
            </a:r>
            <a:r>
              <a:rPr lang="en-ID" dirty="0"/>
              <a:t> "</a:t>
            </a:r>
            <a:r>
              <a:rPr lang="en-ID" dirty="0" err="1"/>
              <a:t>danh</a:t>
            </a:r>
            <a:r>
              <a:rPr lang="en-ID" dirty="0"/>
              <a:t> </a:t>
            </a:r>
            <a:r>
              <a:rPr lang="en-ID" dirty="0" err="1"/>
              <a:t>sách</a:t>
            </a:r>
            <a:r>
              <a:rPr lang="en-ID" dirty="0"/>
              <a:t> </a:t>
            </a:r>
            <a:r>
              <a:rPr lang="en-ID" dirty="0" err="1"/>
              <a:t>tệp</a:t>
            </a:r>
            <a:r>
              <a:rPr lang="en-ID" dirty="0"/>
              <a:t> tin" (File-based) </a:t>
            </a:r>
            <a:r>
              <a:rPr lang="en-ID" dirty="0" err="1"/>
              <a:t>thông</a:t>
            </a:r>
            <a:r>
              <a:rPr lang="en-ID" dirty="0"/>
              <a:t> qua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cấu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 </a:t>
            </a:r>
            <a:r>
              <a:rPr lang="en-ID" dirty="0" err="1"/>
              <a:t>cây</a:t>
            </a:r>
            <a:r>
              <a:rPr lang="en-ID" dirty="0"/>
              <a:t> </a:t>
            </a:r>
            <a:r>
              <a:rPr lang="en-ID" dirty="0" err="1"/>
              <a:t>Siêu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(Metadata) </a:t>
            </a: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tầng</a:t>
            </a:r>
            <a:r>
              <a:rPr lang="en-ID" dirty="0"/>
              <a:t> </a:t>
            </a:r>
            <a:r>
              <a:rPr lang="en-ID" dirty="0" err="1"/>
              <a:t>thông</a:t>
            </a:r>
            <a:r>
              <a:rPr lang="en-ID" dirty="0"/>
              <a:t> </a:t>
            </a:r>
            <a:r>
              <a:rPr lang="en-ID" dirty="0" err="1"/>
              <a:t>minh</a:t>
            </a:r>
            <a:r>
              <a:rPr lang="en-ID" dirty="0"/>
              <a:t>, </a:t>
            </a:r>
            <a:r>
              <a:rPr lang="en-ID" dirty="0" err="1"/>
              <a:t>giúp</a:t>
            </a:r>
            <a:r>
              <a:rPr lang="en-ID" dirty="0"/>
              <a:t> </a:t>
            </a:r>
            <a:r>
              <a:rPr lang="en-ID" dirty="0" err="1"/>
              <a:t>biến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Data Lake </a:t>
            </a:r>
            <a:r>
              <a:rPr lang="en-ID" dirty="0" err="1"/>
              <a:t>lộn</a:t>
            </a:r>
            <a:r>
              <a:rPr lang="en-ID" dirty="0"/>
              <a:t> </a:t>
            </a:r>
            <a:r>
              <a:rPr lang="en-ID" dirty="0" err="1"/>
              <a:t>xộn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Data Lakehouse </a:t>
            </a:r>
            <a:r>
              <a:rPr lang="en-ID" dirty="0" err="1"/>
              <a:t>có</a:t>
            </a:r>
            <a:r>
              <a:rPr lang="en-ID" dirty="0"/>
              <a:t> </a:t>
            </a:r>
            <a:r>
              <a:rPr lang="en-ID" dirty="0" err="1"/>
              <a:t>độ</a:t>
            </a:r>
            <a:r>
              <a:rPr lang="en-ID" dirty="0"/>
              <a:t> tin </a:t>
            </a:r>
            <a:r>
              <a:rPr lang="en-ID" dirty="0" err="1"/>
              <a:t>cậy</a:t>
            </a:r>
            <a:r>
              <a:rPr lang="en-ID" dirty="0"/>
              <a:t> </a:t>
            </a:r>
            <a:r>
              <a:rPr lang="en-ID" dirty="0" err="1"/>
              <a:t>và</a:t>
            </a:r>
            <a:r>
              <a:rPr lang="en-ID" dirty="0"/>
              <a:t> </a:t>
            </a:r>
            <a:r>
              <a:rPr lang="en-ID" dirty="0" err="1"/>
              <a:t>hiệu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cao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kho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truyền</a:t>
            </a:r>
            <a:r>
              <a:rPr lang="en-ID" dirty="0"/>
              <a:t> </a:t>
            </a:r>
            <a:r>
              <a:rPr lang="en-ID" dirty="0" err="1"/>
              <a:t>thống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4A634-8216-8CCD-5CD5-83B8BEF85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750" y="2895600"/>
            <a:ext cx="702945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1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127F-44D8-04DD-0E39-BCC4C4508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apache</a:t>
            </a:r>
            <a:r>
              <a:rPr lang="en-US" dirty="0"/>
              <a:t> iceberg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F8B5A-D5B8-AA7B-437B-2E00C9F75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981200"/>
            <a:ext cx="5559553" cy="4038600"/>
          </a:xfrm>
        </p:spPr>
        <p:txBody>
          <a:bodyPr/>
          <a:lstStyle/>
          <a:p>
            <a:r>
              <a:rPr lang="en-ID" dirty="0" err="1"/>
              <a:t>Nhờ</a:t>
            </a:r>
            <a:r>
              <a:rPr lang="en-ID" dirty="0"/>
              <a:t> </a:t>
            </a:r>
            <a:r>
              <a:rPr lang="en-ID" dirty="0" err="1"/>
              <a:t>kiến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 Metadata </a:t>
            </a:r>
            <a:r>
              <a:rPr lang="en-ID" dirty="0" err="1"/>
              <a:t>dạng</a:t>
            </a:r>
            <a:r>
              <a:rPr lang="en-ID" dirty="0"/>
              <a:t> </a:t>
            </a:r>
            <a:r>
              <a:rPr lang="en-ID" dirty="0" err="1"/>
              <a:t>cây</a:t>
            </a:r>
            <a:r>
              <a:rPr lang="en-ID" dirty="0"/>
              <a:t> </a:t>
            </a:r>
            <a:r>
              <a:rPr lang="en-ID" dirty="0" err="1"/>
              <a:t>độc</a:t>
            </a:r>
            <a:r>
              <a:rPr lang="en-ID" dirty="0"/>
              <a:t> </a:t>
            </a:r>
            <a:r>
              <a:rPr lang="en-ID" dirty="0" err="1"/>
              <a:t>đáo</a:t>
            </a:r>
            <a:r>
              <a:rPr lang="en-ID" dirty="0"/>
              <a:t>, Iceberg </a:t>
            </a:r>
            <a:r>
              <a:rPr lang="en-ID" dirty="0" err="1"/>
              <a:t>cung</a:t>
            </a:r>
            <a:r>
              <a:rPr lang="en-ID" dirty="0"/>
              <a:t> </a:t>
            </a:r>
            <a:r>
              <a:rPr lang="en-ID" dirty="0" err="1"/>
              <a:t>cấp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tính</a:t>
            </a:r>
            <a:r>
              <a:rPr lang="en-ID" dirty="0"/>
              <a:t> </a:t>
            </a:r>
            <a:r>
              <a:rPr lang="en-ID" dirty="0" err="1"/>
              <a:t>năng</a:t>
            </a:r>
            <a:r>
              <a:rPr lang="en-ID" dirty="0"/>
              <a:t> </a:t>
            </a:r>
            <a:r>
              <a:rPr lang="en-ID" dirty="0" err="1"/>
              <a:t>vượt</a:t>
            </a:r>
            <a:r>
              <a:rPr lang="en-ID" dirty="0"/>
              <a:t> </a:t>
            </a:r>
            <a:r>
              <a:rPr lang="en-ID" dirty="0" err="1"/>
              <a:t>trội</a:t>
            </a:r>
            <a:r>
              <a:rPr lang="en-ID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Giao </a:t>
            </a:r>
            <a:r>
              <a:rPr lang="en-ID" dirty="0" err="1"/>
              <a:t>dịch</a:t>
            </a:r>
            <a:r>
              <a:rPr lang="en-ID" dirty="0"/>
              <a:t> ACID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diện</a:t>
            </a:r>
            <a:r>
              <a:rPr lang="en-ID" dirty="0"/>
              <a:t>: </a:t>
            </a:r>
            <a:r>
              <a:rPr lang="en-ID" dirty="0" err="1"/>
              <a:t>Hỗ</a:t>
            </a:r>
            <a:r>
              <a:rPr lang="en-ID" dirty="0"/>
              <a:t> </a:t>
            </a:r>
            <a:r>
              <a:rPr lang="en-ID" dirty="0" err="1"/>
              <a:t>trợ</a:t>
            </a:r>
            <a:r>
              <a:rPr lang="en-ID" dirty="0"/>
              <a:t> </a:t>
            </a:r>
            <a:r>
              <a:rPr lang="en-ID" dirty="0" err="1"/>
              <a:t>đầy</a:t>
            </a:r>
            <a:r>
              <a:rPr lang="en-ID" dirty="0"/>
              <a:t> </a:t>
            </a:r>
            <a:r>
              <a:rPr lang="en-ID" dirty="0" err="1"/>
              <a:t>đủ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lệnh</a:t>
            </a:r>
            <a:r>
              <a:rPr lang="en-ID" dirty="0"/>
              <a:t> </a:t>
            </a:r>
            <a:r>
              <a:rPr lang="en-ID" dirty="0" err="1"/>
              <a:t>kiểm</a:t>
            </a:r>
            <a:r>
              <a:rPr lang="en-ID" dirty="0"/>
              <a:t> </a:t>
            </a:r>
            <a:r>
              <a:rPr lang="en-ID" dirty="0" err="1"/>
              <a:t>soát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mạnh</a:t>
            </a:r>
            <a:r>
              <a:rPr lang="en-ID" dirty="0"/>
              <a:t> </a:t>
            </a:r>
            <a:r>
              <a:rPr lang="en-ID" dirty="0" err="1"/>
              <a:t>mẽ</a:t>
            </a:r>
            <a:r>
              <a:rPr lang="en-ID" dirty="0"/>
              <a:t> </a:t>
            </a:r>
            <a:r>
              <a:rPr lang="en-ID" dirty="0" err="1"/>
              <a:t>như</a:t>
            </a:r>
            <a:r>
              <a:rPr lang="en-ID" dirty="0"/>
              <a:t> INSERT, UPDATE, DELETE, </a:t>
            </a:r>
            <a:r>
              <a:rPr lang="en-ID" dirty="0" err="1"/>
              <a:t>và</a:t>
            </a:r>
            <a:r>
              <a:rPr lang="en-ID" dirty="0"/>
              <a:t> MERGE INTO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Phân</a:t>
            </a:r>
            <a:r>
              <a:rPr lang="en-ID" dirty="0"/>
              <a:t> </a:t>
            </a:r>
            <a:r>
              <a:rPr lang="en-ID" dirty="0" err="1"/>
              <a:t>vùng</a:t>
            </a:r>
            <a:r>
              <a:rPr lang="en-ID" dirty="0"/>
              <a:t> </a:t>
            </a:r>
            <a:r>
              <a:rPr lang="en-ID" dirty="0" err="1"/>
              <a:t>ẩn</a:t>
            </a:r>
            <a:r>
              <a:rPr lang="en-ID" dirty="0"/>
              <a:t> (Hidden Partitioning): Iceberg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áp</a:t>
            </a:r>
            <a:r>
              <a:rPr lang="en-ID" dirty="0"/>
              <a:t> </a:t>
            </a:r>
            <a:r>
              <a:rPr lang="en-ID" dirty="0" err="1"/>
              <a:t>dụng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bộ</a:t>
            </a:r>
            <a:r>
              <a:rPr lang="en-ID" dirty="0"/>
              <a:t> </a:t>
            </a:r>
            <a:r>
              <a:rPr lang="en-ID" dirty="0" err="1"/>
              <a:t>lọc</a:t>
            </a:r>
            <a:r>
              <a:rPr lang="en-ID" dirty="0"/>
              <a:t> </a:t>
            </a:r>
            <a:r>
              <a:rPr lang="en-ID" dirty="0" err="1"/>
              <a:t>ngầm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nhảy</a:t>
            </a:r>
            <a:r>
              <a:rPr lang="en-ID" dirty="0"/>
              <a:t> </a:t>
            </a:r>
            <a:r>
              <a:rPr lang="en-ID" dirty="0" err="1"/>
              <a:t>thẳng</a:t>
            </a:r>
            <a:r>
              <a:rPr lang="en-ID" dirty="0"/>
              <a:t> </a:t>
            </a:r>
            <a:r>
              <a:rPr lang="en-ID" dirty="0" err="1"/>
              <a:t>tới</a:t>
            </a:r>
            <a:r>
              <a:rPr lang="en-ID" dirty="0"/>
              <a:t> </a:t>
            </a:r>
            <a:r>
              <a:rPr lang="en-ID" dirty="0" err="1"/>
              <a:t>tệp</a:t>
            </a:r>
            <a:r>
              <a:rPr lang="en-ID" dirty="0"/>
              <a:t> tin </a:t>
            </a:r>
            <a:r>
              <a:rPr lang="en-ID" dirty="0" err="1"/>
              <a:t>chứa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mà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cần</a:t>
            </a:r>
            <a:r>
              <a:rPr lang="en-ID" dirty="0"/>
              <a:t> </a:t>
            </a:r>
            <a:r>
              <a:rPr lang="en-ID" dirty="0" err="1"/>
              <a:t>thực</a:t>
            </a:r>
            <a:r>
              <a:rPr lang="en-ID" dirty="0"/>
              <a:t> </a:t>
            </a:r>
            <a:r>
              <a:rPr lang="en-ID" dirty="0" err="1"/>
              <a:t>hiện</a:t>
            </a:r>
            <a:r>
              <a:rPr lang="en-ID" dirty="0"/>
              <a:t> </a:t>
            </a:r>
            <a:r>
              <a:rPr lang="en-ID" dirty="0" err="1"/>
              <a:t>quét</a:t>
            </a:r>
            <a:r>
              <a:rPr lang="en-ID" dirty="0"/>
              <a:t> </a:t>
            </a:r>
            <a:r>
              <a:rPr lang="en-ID" dirty="0" err="1"/>
              <a:t>thư</a:t>
            </a:r>
            <a:r>
              <a:rPr lang="en-ID" dirty="0"/>
              <a:t> </a:t>
            </a:r>
            <a:r>
              <a:rPr lang="en-ID" dirty="0" err="1"/>
              <a:t>mục</a:t>
            </a:r>
            <a:r>
              <a:rPr lang="en-ID" dirty="0"/>
              <a:t> </a:t>
            </a:r>
            <a:r>
              <a:rPr lang="en-ID" dirty="0" err="1"/>
              <a:t>vật</a:t>
            </a:r>
            <a:r>
              <a:rPr lang="en-ID" dirty="0"/>
              <a:t> </a:t>
            </a:r>
            <a:r>
              <a:rPr lang="en-ID" dirty="0" err="1"/>
              <a:t>lý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Tiến </a:t>
            </a:r>
            <a:r>
              <a:rPr lang="en-ID" dirty="0" err="1"/>
              <a:t>hóa</a:t>
            </a:r>
            <a:r>
              <a:rPr lang="en-ID" dirty="0"/>
              <a:t> </a:t>
            </a:r>
            <a:r>
              <a:rPr lang="en-ID" dirty="0" err="1"/>
              <a:t>cấu</a:t>
            </a:r>
            <a:r>
              <a:rPr lang="en-ID" dirty="0"/>
              <a:t> </a:t>
            </a:r>
            <a:r>
              <a:rPr lang="en-ID" dirty="0" err="1"/>
              <a:t>trúc</a:t>
            </a:r>
            <a:r>
              <a:rPr lang="en-ID" dirty="0"/>
              <a:t> </a:t>
            </a:r>
            <a:r>
              <a:rPr lang="en-ID" dirty="0" err="1"/>
              <a:t>bảng</a:t>
            </a:r>
            <a:r>
              <a:rPr lang="en-ID" dirty="0"/>
              <a:t> </a:t>
            </a:r>
            <a:r>
              <a:rPr lang="en-ID" dirty="0" err="1"/>
              <a:t>mượt</a:t>
            </a:r>
            <a:r>
              <a:rPr lang="en-ID" dirty="0"/>
              <a:t> </a:t>
            </a:r>
            <a:r>
              <a:rPr lang="en-ID" dirty="0" err="1"/>
              <a:t>mà</a:t>
            </a:r>
            <a:r>
              <a:rPr lang="en-ID" dirty="0"/>
              <a:t> (Evolution): Cho </a:t>
            </a:r>
            <a:r>
              <a:rPr lang="en-ID" dirty="0" err="1"/>
              <a:t>phép</a:t>
            </a:r>
            <a:r>
              <a:rPr lang="en-ID" dirty="0"/>
              <a:t> </a:t>
            </a:r>
            <a:r>
              <a:rPr lang="en-ID" dirty="0" err="1"/>
              <a:t>thêm</a:t>
            </a:r>
            <a:r>
              <a:rPr lang="en-ID" dirty="0"/>
              <a:t>, </a:t>
            </a:r>
            <a:r>
              <a:rPr lang="en-ID" dirty="0" err="1"/>
              <a:t>xóa</a:t>
            </a:r>
            <a:r>
              <a:rPr lang="en-ID" dirty="0"/>
              <a:t>, </a:t>
            </a:r>
            <a:r>
              <a:rPr lang="en-ID" dirty="0" err="1"/>
              <a:t>đổi</a:t>
            </a:r>
            <a:r>
              <a:rPr lang="en-ID" dirty="0"/>
              <a:t> </a:t>
            </a:r>
            <a:r>
              <a:rPr lang="en-ID" dirty="0" err="1"/>
              <a:t>tên</a:t>
            </a:r>
            <a:r>
              <a:rPr lang="en-ID" dirty="0"/>
              <a:t> </a:t>
            </a:r>
            <a:r>
              <a:rPr lang="en-ID" dirty="0" err="1"/>
              <a:t>hoặc</a:t>
            </a:r>
            <a:r>
              <a:rPr lang="en-ID" dirty="0"/>
              <a:t> </a:t>
            </a:r>
            <a:r>
              <a:rPr lang="en-ID" dirty="0" err="1"/>
              <a:t>thay</a:t>
            </a:r>
            <a:r>
              <a:rPr lang="en-ID" dirty="0"/>
              <a:t> </a:t>
            </a:r>
            <a:r>
              <a:rPr lang="en-ID" dirty="0" err="1"/>
              <a:t>đổi</a:t>
            </a:r>
            <a:r>
              <a:rPr lang="en-ID" dirty="0"/>
              <a:t> </a:t>
            </a:r>
            <a:r>
              <a:rPr lang="en-ID" dirty="0" err="1"/>
              <a:t>thứ</a:t>
            </a:r>
            <a:r>
              <a:rPr lang="en-ID" dirty="0"/>
              <a:t>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cột</a:t>
            </a:r>
            <a:r>
              <a:rPr lang="en-ID" dirty="0"/>
              <a:t> </a:t>
            </a:r>
            <a:r>
              <a:rPr lang="en-ID" dirty="0" err="1"/>
              <a:t>mà</a:t>
            </a:r>
            <a:r>
              <a:rPr lang="en-ID" dirty="0"/>
              <a:t> </a:t>
            </a:r>
            <a:r>
              <a:rPr lang="en-ID" dirty="0" err="1"/>
              <a:t>hoàn</a:t>
            </a:r>
            <a:r>
              <a:rPr lang="en-ID" dirty="0"/>
              <a:t> </a:t>
            </a:r>
            <a:r>
              <a:rPr lang="en-ID" dirty="0" err="1"/>
              <a:t>toàn</a:t>
            </a:r>
            <a:r>
              <a:rPr lang="en-ID" dirty="0"/>
              <a:t> </a:t>
            </a:r>
            <a:r>
              <a:rPr lang="en-ID" dirty="0" err="1"/>
              <a:t>không</a:t>
            </a:r>
            <a:r>
              <a:rPr lang="en-ID" dirty="0"/>
              <a:t> </a:t>
            </a:r>
            <a:r>
              <a:rPr lang="en-ID" dirty="0" err="1"/>
              <a:t>cần</a:t>
            </a:r>
            <a:r>
              <a:rPr lang="en-ID" dirty="0"/>
              <a:t> </a:t>
            </a:r>
            <a:r>
              <a:rPr lang="en-ID" dirty="0" err="1"/>
              <a:t>ghi</a:t>
            </a:r>
            <a:r>
              <a:rPr lang="en-ID" dirty="0"/>
              <a:t> </a:t>
            </a:r>
            <a:r>
              <a:rPr lang="en-ID" dirty="0" err="1"/>
              <a:t>đè</a:t>
            </a:r>
            <a:r>
              <a:rPr lang="en-ID" dirty="0"/>
              <a:t> hay </a:t>
            </a:r>
            <a:r>
              <a:rPr lang="en-ID" dirty="0" err="1"/>
              <a:t>làm</a:t>
            </a:r>
            <a:r>
              <a:rPr lang="en-ID" dirty="0"/>
              <a:t> </a:t>
            </a:r>
            <a:r>
              <a:rPr lang="en-ID" dirty="0" err="1"/>
              <a:t>xáo</a:t>
            </a:r>
            <a:r>
              <a:rPr lang="en-ID" dirty="0"/>
              <a:t> </a:t>
            </a:r>
            <a:r>
              <a:rPr lang="en-ID" dirty="0" err="1"/>
              <a:t>trộn</a:t>
            </a:r>
            <a:r>
              <a:rPr lang="en-ID" dirty="0"/>
              <a:t> </a:t>
            </a:r>
            <a:r>
              <a:rPr lang="en-ID" dirty="0" err="1"/>
              <a:t>bất</a:t>
            </a:r>
            <a:r>
              <a:rPr lang="en-ID" dirty="0"/>
              <a:t> </a:t>
            </a:r>
            <a:r>
              <a:rPr lang="en-ID" dirty="0" err="1"/>
              <a:t>kỳ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byte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vật</a:t>
            </a:r>
            <a:r>
              <a:rPr lang="en-ID" dirty="0"/>
              <a:t> </a:t>
            </a:r>
            <a:r>
              <a:rPr lang="en-ID" dirty="0" err="1"/>
              <a:t>lý</a:t>
            </a:r>
            <a:r>
              <a:rPr lang="en-ID" dirty="0"/>
              <a:t> </a:t>
            </a:r>
            <a:r>
              <a:rPr lang="en-ID" dirty="0" err="1"/>
              <a:t>nào</a:t>
            </a:r>
            <a:r>
              <a:rPr lang="en-ID" dirty="0"/>
              <a:t> </a:t>
            </a:r>
            <a:r>
              <a:rPr lang="en-ID" dirty="0" err="1"/>
              <a:t>bên</a:t>
            </a:r>
            <a:r>
              <a:rPr lang="en-ID" dirty="0"/>
              <a:t> </a:t>
            </a:r>
            <a:r>
              <a:rPr lang="en-ID" dirty="0" err="1"/>
              <a:t>dưới</a:t>
            </a:r>
            <a:r>
              <a:rPr lang="en-ID" dirty="0"/>
              <a:t> ổ </a:t>
            </a:r>
            <a:r>
              <a:rPr lang="en-ID" dirty="0" err="1"/>
              <a:t>cứng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Truy</a:t>
            </a:r>
            <a:r>
              <a:rPr lang="en-ID" dirty="0"/>
              <a:t> </a:t>
            </a:r>
            <a:r>
              <a:rPr lang="en-ID" dirty="0" err="1"/>
              <a:t>vấn</a:t>
            </a:r>
            <a:r>
              <a:rPr lang="en-ID" dirty="0"/>
              <a:t> </a:t>
            </a:r>
            <a:r>
              <a:rPr lang="en-ID" dirty="0" err="1"/>
              <a:t>ngược</a:t>
            </a:r>
            <a:r>
              <a:rPr lang="en-ID" dirty="0"/>
              <a:t> </a:t>
            </a:r>
            <a:r>
              <a:rPr lang="en-ID" dirty="0" err="1"/>
              <a:t>thời</a:t>
            </a:r>
            <a:r>
              <a:rPr lang="en-ID" dirty="0"/>
              <a:t> </a:t>
            </a:r>
            <a:r>
              <a:rPr lang="en-ID" dirty="0" err="1"/>
              <a:t>gian</a:t>
            </a:r>
            <a:r>
              <a:rPr lang="en-ID" dirty="0"/>
              <a:t> (Time Travel): </a:t>
            </a:r>
            <a:r>
              <a:rPr lang="en-ID" dirty="0" err="1"/>
              <a:t>Mỗi</a:t>
            </a:r>
            <a:r>
              <a:rPr lang="en-ID" dirty="0"/>
              <a:t> </a:t>
            </a:r>
            <a:r>
              <a:rPr lang="en-ID" dirty="0" err="1"/>
              <a:t>lần</a:t>
            </a:r>
            <a:r>
              <a:rPr lang="en-ID" dirty="0"/>
              <a:t> </a:t>
            </a:r>
            <a:r>
              <a:rPr lang="en-ID" dirty="0" err="1"/>
              <a:t>thay</a:t>
            </a:r>
            <a:r>
              <a:rPr lang="en-ID" dirty="0"/>
              <a:t> </a:t>
            </a:r>
            <a:r>
              <a:rPr lang="en-ID" dirty="0" err="1"/>
              <a:t>đổi</a:t>
            </a:r>
            <a:r>
              <a:rPr lang="en-ID" dirty="0"/>
              <a:t> </a:t>
            </a:r>
            <a:r>
              <a:rPr lang="en-ID" dirty="0" err="1"/>
              <a:t>dữ</a:t>
            </a:r>
            <a:r>
              <a:rPr lang="en-ID" dirty="0"/>
              <a:t> </a:t>
            </a:r>
            <a:r>
              <a:rPr lang="en-ID" dirty="0" err="1"/>
              <a:t>liệu</a:t>
            </a:r>
            <a:r>
              <a:rPr lang="en-ID" dirty="0"/>
              <a:t> </a:t>
            </a:r>
            <a:r>
              <a:rPr lang="en-ID" dirty="0" err="1"/>
              <a:t>sẽ</a:t>
            </a:r>
            <a:r>
              <a:rPr lang="en-ID" dirty="0"/>
              <a:t> </a:t>
            </a:r>
            <a:r>
              <a:rPr lang="en-ID" dirty="0" err="1"/>
              <a:t>tạo</a:t>
            </a:r>
            <a:r>
              <a:rPr lang="en-ID" dirty="0"/>
              <a:t> </a:t>
            </a:r>
            <a:r>
              <a:rPr lang="en-ID" dirty="0" err="1"/>
              <a:t>ra</a:t>
            </a:r>
            <a:r>
              <a:rPr lang="en-ID" dirty="0"/>
              <a:t> </a:t>
            </a:r>
            <a:r>
              <a:rPr lang="en-ID" dirty="0" err="1"/>
              <a:t>một</a:t>
            </a:r>
            <a:r>
              <a:rPr lang="en-ID" dirty="0"/>
              <a:t> </a:t>
            </a:r>
            <a:r>
              <a:rPr lang="en-ID" dirty="0" err="1"/>
              <a:t>bản</a:t>
            </a:r>
            <a:r>
              <a:rPr lang="en-ID" dirty="0"/>
              <a:t> </a:t>
            </a:r>
            <a:r>
              <a:rPr lang="en-ID" dirty="0" err="1"/>
              <a:t>chụp</a:t>
            </a:r>
            <a:r>
              <a:rPr lang="en-ID" dirty="0"/>
              <a:t> </a:t>
            </a:r>
            <a:r>
              <a:rPr lang="en-ID" dirty="0" err="1"/>
              <a:t>trạng</a:t>
            </a:r>
            <a:r>
              <a:rPr lang="en-ID" dirty="0"/>
              <a:t> </a:t>
            </a:r>
            <a:r>
              <a:rPr lang="en-ID" dirty="0" err="1"/>
              <a:t>thái</a:t>
            </a:r>
            <a:r>
              <a:rPr lang="en-ID" dirty="0"/>
              <a:t> (Snapshot) </a:t>
            </a:r>
            <a:r>
              <a:rPr lang="en-ID" dirty="0" err="1"/>
              <a:t>mới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gom</a:t>
            </a:r>
            <a:r>
              <a:rPr lang="en-ID" dirty="0"/>
              <a:t> </a:t>
            </a:r>
            <a:r>
              <a:rPr lang="en-ID" dirty="0" err="1"/>
              <a:t>tệp</a:t>
            </a:r>
            <a:r>
              <a:rPr lang="en-ID" dirty="0"/>
              <a:t> </a:t>
            </a:r>
            <a:r>
              <a:rPr lang="en-ID" dirty="0" err="1"/>
              <a:t>nhỏ</a:t>
            </a:r>
            <a:r>
              <a:rPr lang="en-ID" dirty="0"/>
              <a:t> </a:t>
            </a:r>
            <a:r>
              <a:rPr lang="en-ID" dirty="0" err="1"/>
              <a:t>ngầm</a:t>
            </a:r>
            <a:r>
              <a:rPr lang="en-ID" dirty="0"/>
              <a:t> (Compaction): Cung </a:t>
            </a:r>
            <a:r>
              <a:rPr lang="en-ID" dirty="0" err="1"/>
              <a:t>cấp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</a:t>
            </a:r>
            <a:r>
              <a:rPr lang="en-ID" dirty="0" err="1"/>
              <a:t>công</a:t>
            </a:r>
            <a:r>
              <a:rPr lang="en-ID" dirty="0"/>
              <a:t> </a:t>
            </a:r>
            <a:r>
              <a:rPr lang="en-ID" dirty="0" err="1"/>
              <a:t>cụ</a:t>
            </a:r>
            <a:r>
              <a:rPr lang="en-ID" dirty="0"/>
              <a:t> </a:t>
            </a:r>
            <a:r>
              <a:rPr lang="en-ID" dirty="0" err="1"/>
              <a:t>dọn</a:t>
            </a:r>
            <a:r>
              <a:rPr lang="en-ID" dirty="0"/>
              <a:t> </a:t>
            </a:r>
            <a:r>
              <a:rPr lang="en-ID" dirty="0" err="1"/>
              <a:t>dẹp</a:t>
            </a:r>
            <a:r>
              <a:rPr lang="en-ID" dirty="0"/>
              <a:t> </a:t>
            </a:r>
            <a:r>
              <a:rPr lang="en-ID" dirty="0" err="1"/>
              <a:t>để</a:t>
            </a:r>
            <a:r>
              <a:rPr lang="en-ID" dirty="0"/>
              <a:t> </a:t>
            </a:r>
            <a:r>
              <a:rPr lang="en-ID" dirty="0" err="1"/>
              <a:t>tự</a:t>
            </a:r>
            <a:r>
              <a:rPr lang="en-ID" dirty="0"/>
              <a:t> </a:t>
            </a:r>
            <a:r>
              <a:rPr lang="en-ID" dirty="0" err="1"/>
              <a:t>động</a:t>
            </a:r>
            <a:r>
              <a:rPr lang="en-ID" dirty="0"/>
              <a:t> </a:t>
            </a:r>
            <a:r>
              <a:rPr lang="en-ID" dirty="0" err="1"/>
              <a:t>gom</a:t>
            </a:r>
            <a:r>
              <a:rPr lang="en-ID" dirty="0"/>
              <a:t> </a:t>
            </a:r>
            <a:r>
              <a:rPr lang="en-ID" dirty="0" err="1"/>
              <a:t>hàng</a:t>
            </a:r>
            <a:r>
              <a:rPr lang="en-ID" dirty="0"/>
              <a:t> </a:t>
            </a:r>
            <a:r>
              <a:rPr lang="en-ID" dirty="0" err="1"/>
              <a:t>ngàn</a:t>
            </a:r>
            <a:r>
              <a:rPr lang="en-ID" dirty="0"/>
              <a:t> file </a:t>
            </a:r>
            <a:r>
              <a:rPr lang="en-ID" dirty="0" err="1"/>
              <a:t>nhỏ</a:t>
            </a:r>
            <a:r>
              <a:rPr lang="en-ID" dirty="0"/>
              <a:t> </a:t>
            </a:r>
            <a:r>
              <a:rPr lang="en-ID" dirty="0" err="1"/>
              <a:t>thành</a:t>
            </a:r>
            <a:r>
              <a:rPr lang="en-ID" dirty="0"/>
              <a:t> </a:t>
            </a:r>
            <a:r>
              <a:rPr lang="en-ID" dirty="0" err="1"/>
              <a:t>các</a:t>
            </a:r>
            <a:r>
              <a:rPr lang="en-ID" dirty="0"/>
              <a:t> file </a:t>
            </a:r>
            <a:r>
              <a:rPr lang="en-ID" dirty="0" err="1"/>
              <a:t>lớn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20D9F6-2AEF-49D6-1352-B386DF6A9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447801"/>
            <a:ext cx="5146158" cy="531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853328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{7DAA69D8-4081-41AA-AF90-59615CB54555}0f45c1b8-b519-4737-8f12-a18148944ef7-TFfcaeb239-e0ad-43c4-9739-4084ddd7c62fe496f549_win32</Template>
  <TotalTime>409</TotalTime>
  <Words>2254</Words>
  <Application>Microsoft Office PowerPoint</Application>
  <PresentationFormat>Widescreen</PresentationFormat>
  <Paragraphs>87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Bahnschrift SemiLight</vt:lpstr>
      <vt:lpstr>Blockwork elegance</vt:lpstr>
      <vt:lpstr>Lưu trữ phân tán</vt:lpstr>
      <vt:lpstr>Mục lục</vt:lpstr>
      <vt:lpstr>Lưu trữ dữ liệu là gì?</vt:lpstr>
      <vt:lpstr>Hệ thống fs truyền thống</vt:lpstr>
      <vt:lpstr>Hệ thống lưu trữ phân tán</vt:lpstr>
      <vt:lpstr>hdfs</vt:lpstr>
      <vt:lpstr>Amazon s3</vt:lpstr>
      <vt:lpstr>Giới thiệu hadoop</vt:lpstr>
      <vt:lpstr>Thành phần cốt lõi của hdfs</vt:lpstr>
      <vt:lpstr>Thành phần cốt lõi của hdfs</vt:lpstr>
      <vt:lpstr>Cơ chế hoạt động của hdfs</vt:lpstr>
      <vt:lpstr>Cơ chế hoạt động của hdfs</vt:lpstr>
      <vt:lpstr>CƠ chế hoạt động của hdfs</vt:lpstr>
      <vt:lpstr>Cơ chế hoạt động của hdfs</vt:lpstr>
      <vt:lpstr>Các đặc tính của hdfs</vt:lpstr>
      <vt:lpstr>Các đặc tính của hdfs</vt:lpstr>
      <vt:lpstr>Các đặc tính của hdfs</vt:lpstr>
      <vt:lpstr>Apache hive</vt:lpstr>
      <vt:lpstr>Kiến trúc hive</vt:lpstr>
      <vt:lpstr>Hive metastore</vt:lpstr>
      <vt:lpstr>Apache iceberg</vt:lpstr>
      <vt:lpstr>tính năng của apache iceberg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Anh Quan  (S.CECS)</dc:creator>
  <cp:lastModifiedBy>Le Anh Quan  (S.CECS)</cp:lastModifiedBy>
  <cp:revision>2</cp:revision>
  <dcterms:created xsi:type="dcterms:W3CDTF">2026-07-19T10:42:46Z</dcterms:created>
  <dcterms:modified xsi:type="dcterms:W3CDTF">2026-07-20T07:22:17Z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