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21"/>
  </p:notesMasterIdLst>
  <p:handoutMasterIdLst>
    <p:handoutMasterId r:id="rId22"/>
  </p:handoutMasterIdLst>
  <p:sldIdLst>
    <p:sldId id="258" r:id="rId5"/>
    <p:sldId id="259" r:id="rId6"/>
    <p:sldId id="260" r:id="rId7"/>
    <p:sldId id="261" r:id="rId8"/>
    <p:sldId id="262" r:id="rId9"/>
    <p:sldId id="263" r:id="rId10"/>
    <p:sldId id="264" r:id="rId11"/>
    <p:sldId id="265" r:id="rId12"/>
    <p:sldId id="266" r:id="rId13"/>
    <p:sldId id="268" r:id="rId14"/>
    <p:sldId id="269" r:id="rId15"/>
    <p:sldId id="267"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howGuides="1">
      <p:cViewPr varScale="1">
        <p:scale>
          <a:sx n="76" d="100"/>
          <a:sy n="76" d="100"/>
        </p:scale>
        <p:origin x="62" y="235"/>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7/19/2026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7/19/2026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7/19/2026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7/19/2026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7/19/2026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7/19/2026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7/19/2026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7/19/2026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7/19/2026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7/19/2026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7/19/2026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7/19/2026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7/19/2026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7/19/2026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7/19/2026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7/19/2026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7/19/2026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7/19/2026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7/19/2026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7/19/2026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7/19/2026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7/19/2026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7/19/2026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err="1"/>
              <a:t>Tổng</a:t>
            </a:r>
            <a:r>
              <a:rPr lang="en-US" dirty="0"/>
              <a:t> </a:t>
            </a:r>
            <a:r>
              <a:rPr lang="en-US" dirty="0" err="1"/>
              <a:t>quan</a:t>
            </a:r>
            <a:r>
              <a:rPr lang="en-US" dirty="0"/>
              <a:t> </a:t>
            </a:r>
            <a:r>
              <a:rPr lang="en-US" dirty="0" err="1"/>
              <a:t>về</a:t>
            </a:r>
            <a:br>
              <a:rPr lang="en-US" dirty="0"/>
            </a:br>
            <a:r>
              <a:rPr lang="en-US" dirty="0"/>
              <a:t>Big data</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en-US" dirty="0"/>
              <a:t>Lê Anh Quân</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891E-9C73-588F-F819-6A45A660DC7D}"/>
              </a:ext>
            </a:extLst>
          </p:cNvPr>
          <p:cNvSpPr>
            <a:spLocks noGrp="1"/>
          </p:cNvSpPr>
          <p:nvPr>
            <p:ph type="title"/>
          </p:nvPr>
        </p:nvSpPr>
        <p:spPr/>
        <p:txBody>
          <a:bodyPr/>
          <a:lstStyle/>
          <a:p>
            <a:r>
              <a:rPr lang="en-US" dirty="0" err="1"/>
              <a:t>Mục</a:t>
            </a:r>
            <a:r>
              <a:rPr lang="en-US" dirty="0"/>
              <a:t> </a:t>
            </a:r>
            <a:r>
              <a:rPr lang="en-US" dirty="0" err="1"/>
              <a:t>lục</a:t>
            </a:r>
            <a:endParaRPr lang="en-ID" dirty="0"/>
          </a:p>
        </p:txBody>
      </p:sp>
      <p:sp>
        <p:nvSpPr>
          <p:cNvPr id="3" name="Content Placeholder 2">
            <a:extLst>
              <a:ext uri="{FF2B5EF4-FFF2-40B4-BE49-F238E27FC236}">
                <a16:creationId xmlns:a16="http://schemas.microsoft.com/office/drawing/2014/main" id="{1A3E6F47-3DF5-8F5A-188B-F97251F1E547}"/>
              </a:ext>
            </a:extLst>
          </p:cNvPr>
          <p:cNvSpPr>
            <a:spLocks noGrp="1"/>
          </p:cNvSpPr>
          <p:nvPr>
            <p:ph idx="1"/>
          </p:nvPr>
        </p:nvSpPr>
        <p:spPr/>
        <p:txBody>
          <a:bodyPr/>
          <a:lstStyle/>
          <a:p>
            <a:r>
              <a:rPr lang="en-US" sz="2000" dirty="0"/>
              <a:t>I. </a:t>
            </a:r>
            <a:r>
              <a:rPr lang="en-US" sz="2000" dirty="0" err="1"/>
              <a:t>Tổng</a:t>
            </a:r>
            <a:r>
              <a:rPr lang="en-US" sz="2000" dirty="0"/>
              <a:t> </a:t>
            </a:r>
            <a:r>
              <a:rPr lang="en-US" sz="2000" dirty="0" err="1"/>
              <a:t>quan</a:t>
            </a:r>
            <a:r>
              <a:rPr lang="en-US" sz="2000" dirty="0"/>
              <a:t> </a:t>
            </a:r>
            <a:r>
              <a:rPr lang="en-US" sz="2000" dirty="0" err="1"/>
              <a:t>về</a:t>
            </a:r>
            <a:r>
              <a:rPr lang="en-US" sz="2000" dirty="0"/>
              <a:t> Big Data</a:t>
            </a:r>
            <a:br>
              <a:rPr lang="en-US" sz="2000" dirty="0"/>
            </a:br>
            <a:r>
              <a:rPr lang="en-US" sz="2000" dirty="0"/>
              <a:t>	1. Big Data </a:t>
            </a:r>
            <a:r>
              <a:rPr lang="en-US" sz="2000" dirty="0" err="1"/>
              <a:t>là</a:t>
            </a:r>
            <a:r>
              <a:rPr lang="en-US" sz="2000" dirty="0"/>
              <a:t> </a:t>
            </a:r>
            <a:r>
              <a:rPr lang="en-US" sz="2000" dirty="0" err="1"/>
              <a:t>gì</a:t>
            </a:r>
            <a:r>
              <a:rPr lang="en-US" sz="2000" dirty="0"/>
              <a:t>?</a:t>
            </a:r>
            <a:br>
              <a:rPr lang="en-US" sz="2000" dirty="0"/>
            </a:br>
            <a:r>
              <a:rPr lang="en-US" sz="2000" dirty="0"/>
              <a:t>	2. Các </a:t>
            </a:r>
            <a:r>
              <a:rPr lang="en-US" sz="2000" dirty="0" err="1"/>
              <a:t>lớp</a:t>
            </a:r>
            <a:r>
              <a:rPr lang="en-US" sz="2000" dirty="0"/>
              <a:t> </a:t>
            </a:r>
            <a:r>
              <a:rPr lang="en-US" sz="2000" dirty="0" err="1"/>
              <a:t>trong</a:t>
            </a:r>
            <a:r>
              <a:rPr lang="en-US" sz="2000" dirty="0"/>
              <a:t> Big Data </a:t>
            </a:r>
            <a:r>
              <a:rPr lang="en-US" sz="2000" dirty="0" err="1"/>
              <a:t>và</a:t>
            </a:r>
            <a:r>
              <a:rPr lang="en-US" sz="2000" dirty="0"/>
              <a:t> </a:t>
            </a:r>
            <a:r>
              <a:rPr lang="en-US" sz="2000" dirty="0" err="1"/>
              <a:t>chức</a:t>
            </a:r>
            <a:r>
              <a:rPr lang="en-US" sz="2000" dirty="0"/>
              <a:t> </a:t>
            </a:r>
            <a:r>
              <a:rPr lang="en-US" sz="2000" dirty="0" err="1"/>
              <a:t>năng</a:t>
            </a:r>
            <a:r>
              <a:rPr lang="en-US" sz="2000" dirty="0"/>
              <a:t> </a:t>
            </a:r>
            <a:r>
              <a:rPr lang="en-US" sz="2000" dirty="0" err="1"/>
              <a:t>của</a:t>
            </a:r>
            <a:r>
              <a:rPr lang="en-US" sz="2000" dirty="0"/>
              <a:t> </a:t>
            </a:r>
            <a:r>
              <a:rPr lang="en-US" sz="2000" dirty="0" err="1"/>
              <a:t>chúng</a:t>
            </a:r>
            <a:endParaRPr lang="en-US" sz="2000" dirty="0"/>
          </a:p>
          <a:p>
            <a:r>
              <a:rPr lang="en-US" sz="2000" dirty="0"/>
              <a:t>II. Các </a:t>
            </a:r>
            <a:r>
              <a:rPr lang="en-US" sz="2000" dirty="0" err="1"/>
              <a:t>loại</a:t>
            </a:r>
            <a:r>
              <a:rPr lang="en-US" sz="2000" dirty="0"/>
              <a:t> </a:t>
            </a:r>
            <a:r>
              <a:rPr lang="en-US" sz="2000" dirty="0" err="1"/>
              <a:t>dữ</a:t>
            </a:r>
            <a:r>
              <a:rPr lang="en-US" sz="2000" dirty="0"/>
              <a:t> </a:t>
            </a:r>
            <a:r>
              <a:rPr lang="en-US" sz="2000" dirty="0" err="1"/>
              <a:t>liệu</a:t>
            </a:r>
            <a:br>
              <a:rPr lang="en-US" sz="2000" dirty="0"/>
            </a:br>
            <a:r>
              <a:rPr lang="en-US" sz="2000" dirty="0"/>
              <a:t>	1. Structured Data</a:t>
            </a:r>
            <a:br>
              <a:rPr lang="en-US" sz="2000" dirty="0"/>
            </a:br>
            <a:r>
              <a:rPr lang="en-US" sz="2000" dirty="0"/>
              <a:t>	2. Semi-structured Data</a:t>
            </a:r>
            <a:br>
              <a:rPr lang="en-US" sz="2000" dirty="0"/>
            </a:br>
            <a:r>
              <a:rPr lang="en-US" sz="2000" dirty="0"/>
              <a:t>	3. Unstructured Data</a:t>
            </a:r>
          </a:p>
          <a:p>
            <a:r>
              <a:rPr lang="en-US" sz="2000" dirty="0"/>
              <a:t>III. Các </a:t>
            </a:r>
            <a:r>
              <a:rPr lang="en-US" sz="2000" dirty="0" err="1"/>
              <a:t>loại</a:t>
            </a:r>
            <a:r>
              <a:rPr lang="en-US" sz="2000" dirty="0"/>
              <a:t>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r>
              <a:rPr lang="en-US" sz="2000" dirty="0"/>
              <a:t> </a:t>
            </a:r>
            <a:r>
              <a:rPr lang="en-US" sz="2000" dirty="0" err="1"/>
              <a:t>lớn</a:t>
            </a:r>
            <a:br>
              <a:rPr lang="en-US" sz="2000" dirty="0"/>
            </a:br>
            <a:r>
              <a:rPr lang="en-US" sz="2000" dirty="0"/>
              <a:t>	1. Data Warehouse</a:t>
            </a:r>
            <a:br>
              <a:rPr lang="en-US" sz="2000" dirty="0"/>
            </a:br>
            <a:r>
              <a:rPr lang="en-US" sz="2000" dirty="0"/>
              <a:t>	2. Data Lake</a:t>
            </a:r>
            <a:br>
              <a:rPr lang="en-US" sz="2000" dirty="0"/>
            </a:br>
            <a:r>
              <a:rPr lang="en-US" sz="2000" dirty="0"/>
              <a:t>	3. Data Lakehouse</a:t>
            </a:r>
          </a:p>
          <a:p>
            <a:r>
              <a:rPr lang="en-US" sz="2000" dirty="0"/>
              <a:t>IV. </a:t>
            </a:r>
            <a:r>
              <a:rPr lang="en-US" sz="2000" dirty="0" err="1"/>
              <a:t>Hortonwork</a:t>
            </a:r>
            <a:r>
              <a:rPr lang="en-US" sz="2000" dirty="0"/>
              <a:t> Data Platform (HDP)</a:t>
            </a:r>
          </a:p>
          <a:p>
            <a:endParaRPr lang="en-ID" dirty="0"/>
          </a:p>
        </p:txBody>
      </p:sp>
    </p:spTree>
    <p:extLst>
      <p:ext uri="{BB962C8B-B14F-4D97-AF65-F5344CB8AC3E}">
        <p14:creationId xmlns:p14="http://schemas.microsoft.com/office/powerpoint/2010/main" val="334282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CFA0-288A-17D5-F774-93819BA6E353}"/>
              </a:ext>
            </a:extLst>
          </p:cNvPr>
          <p:cNvSpPr>
            <a:spLocks noGrp="1"/>
          </p:cNvSpPr>
          <p:nvPr>
            <p:ph type="title"/>
          </p:nvPr>
        </p:nvSpPr>
        <p:spPr/>
        <p:txBody>
          <a:bodyPr/>
          <a:lstStyle/>
          <a:p>
            <a:r>
              <a:rPr lang="en-US" dirty="0"/>
              <a:t>Big data </a:t>
            </a:r>
            <a:r>
              <a:rPr lang="en-US" dirty="0" err="1"/>
              <a:t>Là</a:t>
            </a:r>
            <a:r>
              <a:rPr lang="en-US" dirty="0"/>
              <a:t> </a:t>
            </a:r>
            <a:r>
              <a:rPr lang="en-US" dirty="0" err="1"/>
              <a:t>gì</a:t>
            </a:r>
            <a:r>
              <a:rPr lang="en-US" dirty="0"/>
              <a:t>?</a:t>
            </a:r>
            <a:endParaRPr lang="en-ID" dirty="0"/>
          </a:p>
        </p:txBody>
      </p:sp>
      <p:sp>
        <p:nvSpPr>
          <p:cNvPr id="3" name="Content Placeholder 2">
            <a:extLst>
              <a:ext uri="{FF2B5EF4-FFF2-40B4-BE49-F238E27FC236}">
                <a16:creationId xmlns:a16="http://schemas.microsoft.com/office/drawing/2014/main" id="{A58E5F63-0862-2E0D-E563-981657587219}"/>
              </a:ext>
            </a:extLst>
          </p:cNvPr>
          <p:cNvSpPr>
            <a:spLocks noGrp="1"/>
          </p:cNvSpPr>
          <p:nvPr>
            <p:ph idx="1"/>
          </p:nvPr>
        </p:nvSpPr>
        <p:spPr/>
        <p:txBody>
          <a:bodyPr/>
          <a:lstStyle/>
          <a:p>
            <a:r>
              <a:rPr lang="en-ID" dirty="0"/>
              <a:t>Big Data (</a:t>
            </a:r>
            <a:r>
              <a:rPr lang="en-ID" dirty="0" err="1"/>
              <a:t>Dữ</a:t>
            </a:r>
            <a:r>
              <a:rPr lang="en-ID" dirty="0"/>
              <a:t> </a:t>
            </a:r>
            <a:r>
              <a:rPr lang="en-ID" dirty="0" err="1"/>
              <a:t>liệu</a:t>
            </a:r>
            <a:r>
              <a:rPr lang="en-ID" dirty="0"/>
              <a:t> </a:t>
            </a:r>
            <a:r>
              <a:rPr lang="en-ID" dirty="0" err="1"/>
              <a:t>lớn</a:t>
            </a:r>
            <a:r>
              <a:rPr lang="en-ID" dirty="0"/>
              <a:t>) </a:t>
            </a:r>
            <a:r>
              <a:rPr lang="en-ID" dirty="0" err="1"/>
              <a:t>là</a:t>
            </a:r>
            <a:r>
              <a:rPr lang="en-ID" dirty="0"/>
              <a:t> </a:t>
            </a:r>
            <a:r>
              <a:rPr lang="en-ID" dirty="0" err="1"/>
              <a:t>thuật</a:t>
            </a:r>
            <a:r>
              <a:rPr lang="en-ID" dirty="0"/>
              <a:t> </a:t>
            </a:r>
            <a:r>
              <a:rPr lang="en-ID" dirty="0" err="1"/>
              <a:t>ngữ</a:t>
            </a:r>
            <a:r>
              <a:rPr lang="en-ID" dirty="0"/>
              <a:t> </a:t>
            </a:r>
            <a:r>
              <a:rPr lang="en-ID" dirty="0" err="1"/>
              <a:t>chỉ</a:t>
            </a:r>
            <a:r>
              <a:rPr lang="en-ID" dirty="0"/>
              <a:t> </a:t>
            </a:r>
            <a:r>
              <a:rPr lang="en-ID" dirty="0" err="1"/>
              <a:t>các</a:t>
            </a:r>
            <a:r>
              <a:rPr lang="en-ID" dirty="0"/>
              <a:t> </a:t>
            </a:r>
            <a:r>
              <a:rPr lang="en-ID" dirty="0" err="1"/>
              <a:t>tập</a:t>
            </a:r>
            <a:r>
              <a:rPr lang="en-ID" dirty="0"/>
              <a:t> </a:t>
            </a:r>
            <a:r>
              <a:rPr lang="en-ID" dirty="0" err="1"/>
              <a:t>dữ</a:t>
            </a:r>
            <a:r>
              <a:rPr lang="en-ID" dirty="0"/>
              <a:t> </a:t>
            </a:r>
            <a:r>
              <a:rPr lang="en-ID" dirty="0" err="1"/>
              <a:t>liệu</a:t>
            </a:r>
            <a:r>
              <a:rPr lang="en-ID" dirty="0"/>
              <a:t> </a:t>
            </a:r>
            <a:r>
              <a:rPr lang="en-ID" dirty="0" err="1"/>
              <a:t>có</a:t>
            </a:r>
            <a:r>
              <a:rPr lang="en-ID" dirty="0"/>
              <a:t> </a:t>
            </a:r>
            <a:r>
              <a:rPr lang="en-ID" dirty="0" err="1"/>
              <a:t>khối</a:t>
            </a:r>
            <a:r>
              <a:rPr lang="en-ID" dirty="0"/>
              <a:t> </a:t>
            </a:r>
            <a:r>
              <a:rPr lang="en-ID" dirty="0" err="1"/>
              <a:t>lượng</a:t>
            </a:r>
            <a:r>
              <a:rPr lang="en-ID" dirty="0"/>
              <a:t> </a:t>
            </a:r>
            <a:r>
              <a:rPr lang="en-ID" dirty="0" err="1"/>
              <a:t>lớn</a:t>
            </a:r>
            <a:r>
              <a:rPr lang="en-ID" dirty="0"/>
              <a:t> </a:t>
            </a:r>
            <a:r>
              <a:rPr lang="en-ID" dirty="0" err="1"/>
              <a:t>khổng</a:t>
            </a:r>
            <a:r>
              <a:rPr lang="en-ID" dirty="0"/>
              <a:t> </a:t>
            </a:r>
            <a:r>
              <a:rPr lang="en-ID" dirty="0" err="1"/>
              <a:t>lồ</a:t>
            </a:r>
            <a:r>
              <a:rPr lang="en-ID" dirty="0"/>
              <a:t>, </a:t>
            </a:r>
            <a:r>
              <a:rPr lang="en-ID" dirty="0" err="1"/>
              <a:t>tốc</a:t>
            </a:r>
            <a:r>
              <a:rPr lang="en-ID" dirty="0"/>
              <a:t> </a:t>
            </a:r>
            <a:r>
              <a:rPr lang="en-ID" dirty="0" err="1"/>
              <a:t>độ</a:t>
            </a:r>
            <a:r>
              <a:rPr lang="en-ID" dirty="0"/>
              <a:t> </a:t>
            </a:r>
            <a:r>
              <a:rPr lang="en-ID" dirty="0" err="1"/>
              <a:t>tạo</a:t>
            </a:r>
            <a:r>
              <a:rPr lang="en-ID" dirty="0"/>
              <a:t> </a:t>
            </a:r>
            <a:r>
              <a:rPr lang="en-ID" dirty="0" err="1"/>
              <a:t>ra</a:t>
            </a:r>
            <a:r>
              <a:rPr lang="en-ID" dirty="0"/>
              <a:t> </a:t>
            </a:r>
            <a:r>
              <a:rPr lang="en-ID" dirty="0" err="1"/>
              <a:t>cực</a:t>
            </a:r>
            <a:r>
              <a:rPr lang="en-ID" dirty="0"/>
              <a:t> </a:t>
            </a:r>
            <a:r>
              <a:rPr lang="en-ID" dirty="0" err="1"/>
              <a:t>nhanh</a:t>
            </a:r>
            <a:r>
              <a:rPr lang="en-ID" dirty="0"/>
              <a:t> </a:t>
            </a:r>
            <a:r>
              <a:rPr lang="en-ID" dirty="0" err="1"/>
              <a:t>và</a:t>
            </a:r>
            <a:r>
              <a:rPr lang="en-ID" dirty="0"/>
              <a:t> </a:t>
            </a:r>
            <a:r>
              <a:rPr lang="en-ID" dirty="0" err="1"/>
              <a:t>cực</a:t>
            </a:r>
            <a:r>
              <a:rPr lang="en-ID" dirty="0"/>
              <a:t> </a:t>
            </a:r>
            <a:r>
              <a:rPr lang="en-ID" dirty="0" err="1"/>
              <a:t>kỳ</a:t>
            </a:r>
            <a:r>
              <a:rPr lang="en-ID" dirty="0"/>
              <a:t> </a:t>
            </a:r>
            <a:r>
              <a:rPr lang="en-ID" dirty="0" err="1"/>
              <a:t>phức</a:t>
            </a:r>
            <a:r>
              <a:rPr lang="en-ID" dirty="0"/>
              <a:t> </a:t>
            </a:r>
            <a:r>
              <a:rPr lang="en-ID" dirty="0" err="1"/>
              <a:t>tạp</a:t>
            </a:r>
            <a:r>
              <a:rPr lang="en-ID" dirty="0"/>
              <a:t>. </a:t>
            </a:r>
            <a:r>
              <a:rPr lang="en-ID" dirty="0" err="1"/>
              <a:t>Chúng</a:t>
            </a:r>
            <a:r>
              <a:rPr lang="en-ID" dirty="0"/>
              <a:t> </a:t>
            </a:r>
            <a:r>
              <a:rPr lang="en-ID" dirty="0" err="1"/>
              <a:t>vượt</a:t>
            </a:r>
            <a:r>
              <a:rPr lang="en-ID" dirty="0"/>
              <a:t> </a:t>
            </a:r>
            <a:r>
              <a:rPr lang="en-ID" dirty="0" err="1"/>
              <a:t>quá</a:t>
            </a:r>
            <a:r>
              <a:rPr lang="en-ID" dirty="0"/>
              <a:t> </a:t>
            </a:r>
            <a:r>
              <a:rPr lang="en-ID" dirty="0" err="1"/>
              <a:t>khả</a:t>
            </a:r>
            <a:r>
              <a:rPr lang="en-ID" dirty="0"/>
              <a:t> </a:t>
            </a:r>
            <a:r>
              <a:rPr lang="en-ID" dirty="0" err="1"/>
              <a:t>năng</a:t>
            </a:r>
            <a:r>
              <a:rPr lang="en-ID" dirty="0"/>
              <a:t> </a:t>
            </a:r>
            <a:r>
              <a:rPr lang="en-ID" dirty="0" err="1"/>
              <a:t>thu</a:t>
            </a:r>
            <a:r>
              <a:rPr lang="en-ID" dirty="0"/>
              <a:t> </a:t>
            </a:r>
            <a:r>
              <a:rPr lang="en-ID" dirty="0" err="1"/>
              <a:t>thập</a:t>
            </a:r>
            <a:r>
              <a:rPr lang="en-ID" dirty="0"/>
              <a:t>, </a:t>
            </a:r>
            <a:r>
              <a:rPr lang="en-ID" dirty="0" err="1"/>
              <a:t>lưu</a:t>
            </a:r>
            <a:r>
              <a:rPr lang="en-ID" dirty="0"/>
              <a:t> </a:t>
            </a:r>
            <a:r>
              <a:rPr lang="en-ID" dirty="0" err="1"/>
              <a:t>trữ</a:t>
            </a:r>
            <a:r>
              <a:rPr lang="en-ID" dirty="0"/>
              <a:t> </a:t>
            </a:r>
            <a:r>
              <a:rPr lang="en-ID" dirty="0" err="1"/>
              <a:t>và</a:t>
            </a:r>
            <a:r>
              <a:rPr lang="en-ID" dirty="0"/>
              <a:t> </a:t>
            </a:r>
            <a:r>
              <a:rPr lang="en-ID" dirty="0" err="1"/>
              <a:t>phân</a:t>
            </a:r>
            <a:r>
              <a:rPr lang="en-ID" dirty="0"/>
              <a:t> </a:t>
            </a:r>
            <a:r>
              <a:rPr lang="en-ID" dirty="0" err="1"/>
              <a:t>tích</a:t>
            </a:r>
            <a:r>
              <a:rPr lang="en-ID" dirty="0"/>
              <a:t> </a:t>
            </a:r>
            <a:r>
              <a:rPr lang="en-ID" dirty="0" err="1"/>
              <a:t>của</a:t>
            </a:r>
            <a:r>
              <a:rPr lang="en-ID" dirty="0"/>
              <a:t> </a:t>
            </a:r>
            <a:r>
              <a:rPr lang="en-ID" dirty="0" err="1"/>
              <a:t>các</a:t>
            </a:r>
            <a:r>
              <a:rPr lang="en-ID" dirty="0"/>
              <a:t> </a:t>
            </a:r>
            <a:r>
              <a:rPr lang="en-ID" dirty="0" err="1"/>
              <a:t>công</a:t>
            </a:r>
            <a:r>
              <a:rPr lang="en-ID" dirty="0"/>
              <a:t> </a:t>
            </a:r>
            <a:r>
              <a:rPr lang="en-ID" dirty="0" err="1"/>
              <a:t>cụ</a:t>
            </a:r>
            <a:r>
              <a:rPr lang="en-ID" dirty="0"/>
              <a:t> </a:t>
            </a:r>
            <a:r>
              <a:rPr lang="en-ID" dirty="0" err="1"/>
              <a:t>phần</a:t>
            </a:r>
            <a:r>
              <a:rPr lang="en-ID" dirty="0"/>
              <a:t> </a:t>
            </a:r>
            <a:r>
              <a:rPr lang="en-ID" dirty="0" err="1"/>
              <a:t>mềm</a:t>
            </a:r>
            <a:r>
              <a:rPr lang="en-ID" dirty="0"/>
              <a:t> </a:t>
            </a:r>
            <a:r>
              <a:rPr lang="en-ID" dirty="0" err="1"/>
              <a:t>truyền</a:t>
            </a:r>
            <a:r>
              <a:rPr lang="en-ID" dirty="0"/>
              <a:t> </a:t>
            </a:r>
            <a:r>
              <a:rPr lang="en-ID" dirty="0" err="1"/>
              <a:t>thống</a:t>
            </a:r>
            <a:r>
              <a:rPr lang="en-ID" dirty="0"/>
              <a:t>. </a:t>
            </a:r>
            <a:r>
              <a:rPr lang="en-ID" dirty="0" err="1"/>
              <a:t>Dữ</a:t>
            </a:r>
            <a:r>
              <a:rPr lang="en-ID" dirty="0"/>
              <a:t> </a:t>
            </a:r>
            <a:r>
              <a:rPr lang="en-ID" dirty="0" err="1"/>
              <a:t>liệu</a:t>
            </a:r>
            <a:r>
              <a:rPr lang="en-ID" dirty="0"/>
              <a:t> </a:t>
            </a:r>
            <a:r>
              <a:rPr lang="en-ID" dirty="0" err="1"/>
              <a:t>này</a:t>
            </a:r>
            <a:r>
              <a:rPr lang="en-ID" dirty="0"/>
              <a:t> </a:t>
            </a:r>
            <a:r>
              <a:rPr lang="en-ID" dirty="0" err="1"/>
              <a:t>đến</a:t>
            </a:r>
            <a:r>
              <a:rPr lang="en-ID" dirty="0"/>
              <a:t> </a:t>
            </a:r>
            <a:r>
              <a:rPr lang="en-ID" dirty="0" err="1"/>
              <a:t>từ</a:t>
            </a:r>
            <a:r>
              <a:rPr lang="en-ID" dirty="0"/>
              <a:t> </a:t>
            </a:r>
            <a:r>
              <a:rPr lang="en-ID" dirty="0" err="1"/>
              <a:t>mạng</a:t>
            </a:r>
            <a:r>
              <a:rPr lang="en-ID" dirty="0"/>
              <a:t> </a:t>
            </a:r>
            <a:r>
              <a:rPr lang="en-ID" dirty="0" err="1"/>
              <a:t>xã</a:t>
            </a:r>
            <a:r>
              <a:rPr lang="en-ID" dirty="0"/>
              <a:t> </a:t>
            </a:r>
            <a:r>
              <a:rPr lang="en-ID" dirty="0" err="1"/>
              <a:t>hội</a:t>
            </a:r>
            <a:r>
              <a:rPr lang="en-ID" dirty="0"/>
              <a:t>, </a:t>
            </a:r>
            <a:r>
              <a:rPr lang="en-ID" dirty="0" err="1"/>
              <a:t>thiết</a:t>
            </a:r>
            <a:r>
              <a:rPr lang="en-ID" dirty="0"/>
              <a:t> </a:t>
            </a:r>
            <a:r>
              <a:rPr lang="en-ID" dirty="0" err="1"/>
              <a:t>bị</a:t>
            </a:r>
            <a:r>
              <a:rPr lang="en-ID" dirty="0"/>
              <a:t> </a:t>
            </a:r>
            <a:r>
              <a:rPr lang="en-ID" dirty="0" err="1"/>
              <a:t>thông</a:t>
            </a:r>
            <a:r>
              <a:rPr lang="en-ID" dirty="0"/>
              <a:t> </a:t>
            </a:r>
            <a:r>
              <a:rPr lang="en-ID" dirty="0" err="1"/>
              <a:t>minh</a:t>
            </a:r>
            <a:r>
              <a:rPr lang="en-ID" dirty="0"/>
              <a:t> (IoT), hay </a:t>
            </a:r>
            <a:r>
              <a:rPr lang="en-ID" dirty="0" err="1"/>
              <a:t>các</a:t>
            </a:r>
            <a:r>
              <a:rPr lang="en-ID" dirty="0"/>
              <a:t> </a:t>
            </a:r>
            <a:r>
              <a:rPr lang="en-ID" dirty="0" err="1"/>
              <a:t>giao</a:t>
            </a:r>
            <a:r>
              <a:rPr lang="en-ID" dirty="0"/>
              <a:t> </a:t>
            </a:r>
            <a:r>
              <a:rPr lang="en-ID" dirty="0" err="1"/>
              <a:t>dịch</a:t>
            </a:r>
            <a:r>
              <a:rPr lang="en-ID" dirty="0"/>
              <a:t> </a:t>
            </a:r>
            <a:r>
              <a:rPr lang="en-ID" dirty="0" err="1"/>
              <a:t>trực</a:t>
            </a:r>
            <a:r>
              <a:rPr lang="en-ID" dirty="0"/>
              <a:t> </a:t>
            </a:r>
            <a:r>
              <a:rPr lang="en-ID" dirty="0" err="1"/>
              <a:t>tuyến</a:t>
            </a:r>
            <a:r>
              <a:rPr lang="en-ID" dirty="0"/>
              <a:t>.</a:t>
            </a:r>
          </a:p>
        </p:txBody>
      </p:sp>
      <p:pic>
        <p:nvPicPr>
          <p:cNvPr id="5" name="Picture 4">
            <a:extLst>
              <a:ext uri="{FF2B5EF4-FFF2-40B4-BE49-F238E27FC236}">
                <a16:creationId xmlns:a16="http://schemas.microsoft.com/office/drawing/2014/main" id="{2A80824A-35C8-BAE0-DE56-AF425A57C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1209" y="2667000"/>
            <a:ext cx="7006532" cy="3943677"/>
          </a:xfrm>
          <a:prstGeom prst="rect">
            <a:avLst/>
          </a:prstGeom>
        </p:spPr>
      </p:pic>
    </p:spTree>
    <p:extLst>
      <p:ext uri="{BB962C8B-B14F-4D97-AF65-F5344CB8AC3E}">
        <p14:creationId xmlns:p14="http://schemas.microsoft.com/office/powerpoint/2010/main" val="133164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B932-22EC-8CC8-C332-1A8EDF2FAA9B}"/>
              </a:ext>
            </a:extLst>
          </p:cNvPr>
          <p:cNvSpPr>
            <a:spLocks noGrp="1"/>
          </p:cNvSpPr>
          <p:nvPr>
            <p:ph type="title"/>
          </p:nvPr>
        </p:nvSpPr>
        <p:spPr/>
        <p:txBody>
          <a:bodyPr/>
          <a:lstStyle/>
          <a:p>
            <a:r>
              <a:rPr lang="en-US" dirty="0"/>
              <a:t>Data source</a:t>
            </a:r>
            <a:endParaRPr lang="en-ID" dirty="0"/>
          </a:p>
        </p:txBody>
      </p:sp>
      <p:sp>
        <p:nvSpPr>
          <p:cNvPr id="3" name="Content Placeholder 2">
            <a:extLst>
              <a:ext uri="{FF2B5EF4-FFF2-40B4-BE49-F238E27FC236}">
                <a16:creationId xmlns:a16="http://schemas.microsoft.com/office/drawing/2014/main" id="{F4D8D26B-A93F-3143-3C56-A7CC01E4C65B}"/>
              </a:ext>
            </a:extLst>
          </p:cNvPr>
          <p:cNvSpPr>
            <a:spLocks noGrp="1"/>
          </p:cNvSpPr>
          <p:nvPr>
            <p:ph idx="1"/>
          </p:nvPr>
        </p:nvSpPr>
        <p:spPr>
          <a:xfrm>
            <a:off x="618745" y="3066757"/>
            <a:ext cx="5178553" cy="1447800"/>
          </a:xfrm>
        </p:spPr>
        <p:txBody>
          <a:bodyPr/>
          <a:lstStyle/>
          <a:p>
            <a:r>
              <a:rPr lang="en-ID" dirty="0"/>
              <a:t>Data Source (</a:t>
            </a:r>
            <a:r>
              <a:rPr lang="en-ID" dirty="0" err="1"/>
              <a:t>lớp</a:t>
            </a:r>
            <a:r>
              <a:rPr lang="en-ID" dirty="0"/>
              <a:t> </a:t>
            </a:r>
            <a:r>
              <a:rPr lang="en-ID" dirty="0" err="1"/>
              <a:t>nguồn</a:t>
            </a:r>
            <a:r>
              <a:rPr lang="en-ID" dirty="0"/>
              <a:t> </a:t>
            </a:r>
            <a:r>
              <a:rPr lang="en-ID" dirty="0" err="1"/>
              <a:t>dữ</a:t>
            </a:r>
            <a:r>
              <a:rPr lang="en-ID" dirty="0"/>
              <a:t> </a:t>
            </a:r>
            <a:r>
              <a:rPr lang="en-ID" dirty="0" err="1"/>
              <a:t>liệu</a:t>
            </a:r>
            <a:r>
              <a:rPr lang="en-ID" dirty="0"/>
              <a:t>) </a:t>
            </a:r>
            <a:r>
              <a:rPr lang="en-ID" dirty="0" err="1"/>
              <a:t>trong</a:t>
            </a:r>
            <a:r>
              <a:rPr lang="en-ID" dirty="0"/>
              <a:t> Big Data </a:t>
            </a:r>
            <a:r>
              <a:rPr lang="en-ID" dirty="0" err="1"/>
              <a:t>là</a:t>
            </a:r>
            <a:r>
              <a:rPr lang="en-ID" dirty="0"/>
              <a:t> </a:t>
            </a:r>
            <a:r>
              <a:rPr lang="en-ID" dirty="0" err="1"/>
              <a:t>nơi</a:t>
            </a:r>
            <a:r>
              <a:rPr lang="en-ID" dirty="0"/>
              <a:t> </a:t>
            </a:r>
            <a:r>
              <a:rPr lang="en-ID" dirty="0" err="1"/>
              <a:t>khởi</a:t>
            </a:r>
            <a:r>
              <a:rPr lang="en-ID" dirty="0"/>
              <a:t> </a:t>
            </a:r>
            <a:r>
              <a:rPr lang="en-ID" dirty="0" err="1"/>
              <a:t>nguồn</a:t>
            </a:r>
            <a:r>
              <a:rPr lang="en-ID" dirty="0"/>
              <a:t> </a:t>
            </a:r>
            <a:r>
              <a:rPr lang="en-ID" dirty="0" err="1"/>
              <a:t>của</a:t>
            </a:r>
            <a:r>
              <a:rPr lang="en-ID" dirty="0"/>
              <a:t> </a:t>
            </a:r>
            <a:r>
              <a:rPr lang="en-ID" dirty="0" err="1"/>
              <a:t>khối</a:t>
            </a:r>
            <a:r>
              <a:rPr lang="en-ID" dirty="0"/>
              <a:t> </a:t>
            </a:r>
            <a:r>
              <a:rPr lang="en-ID" dirty="0" err="1"/>
              <a:t>lượng</a:t>
            </a:r>
            <a:r>
              <a:rPr lang="en-ID" dirty="0"/>
              <a:t> </a:t>
            </a:r>
            <a:r>
              <a:rPr lang="en-ID" dirty="0" err="1"/>
              <a:t>thông</a:t>
            </a:r>
            <a:r>
              <a:rPr lang="en-ID" dirty="0"/>
              <a:t> tin </a:t>
            </a:r>
            <a:r>
              <a:rPr lang="en-ID" dirty="0" err="1"/>
              <a:t>khổng</a:t>
            </a:r>
            <a:r>
              <a:rPr lang="en-ID" dirty="0"/>
              <a:t> </a:t>
            </a:r>
            <a:r>
              <a:rPr lang="en-ID" dirty="0" err="1"/>
              <a:t>lồ</a:t>
            </a:r>
            <a:r>
              <a:rPr lang="en-ID" dirty="0"/>
              <a:t> </a:t>
            </a:r>
            <a:r>
              <a:rPr lang="en-ID" dirty="0" err="1"/>
              <a:t>đa</a:t>
            </a:r>
            <a:r>
              <a:rPr lang="en-ID" dirty="0"/>
              <a:t> </a:t>
            </a:r>
            <a:r>
              <a:rPr lang="en-ID" dirty="0" err="1"/>
              <a:t>dạng</a:t>
            </a:r>
            <a:r>
              <a:rPr lang="en-ID" dirty="0"/>
              <a:t>. </a:t>
            </a:r>
            <a:r>
              <a:rPr lang="en-ID" dirty="0" err="1"/>
              <a:t>Chúng</a:t>
            </a:r>
            <a:r>
              <a:rPr lang="en-ID" dirty="0"/>
              <a:t> </a:t>
            </a:r>
            <a:r>
              <a:rPr lang="en-ID" dirty="0" err="1"/>
              <a:t>được</a:t>
            </a:r>
            <a:r>
              <a:rPr lang="en-ID" dirty="0"/>
              <a:t> </a:t>
            </a:r>
            <a:r>
              <a:rPr lang="en-ID" dirty="0" err="1"/>
              <a:t>phân</a:t>
            </a:r>
            <a:r>
              <a:rPr lang="en-ID" dirty="0"/>
              <a:t> </a:t>
            </a:r>
            <a:r>
              <a:rPr lang="en-ID" dirty="0" err="1"/>
              <a:t>loại</a:t>
            </a:r>
            <a:r>
              <a:rPr lang="en-ID" dirty="0"/>
              <a:t> </a:t>
            </a:r>
            <a:r>
              <a:rPr lang="en-ID" dirty="0" err="1"/>
              <a:t>thành</a:t>
            </a:r>
            <a:r>
              <a:rPr lang="en-ID" dirty="0"/>
              <a:t> 4 </a:t>
            </a:r>
            <a:r>
              <a:rPr lang="en-ID" dirty="0" err="1"/>
              <a:t>nguồn</a:t>
            </a:r>
            <a:r>
              <a:rPr lang="en-ID" dirty="0"/>
              <a:t> </a:t>
            </a:r>
            <a:r>
              <a:rPr lang="en-ID" dirty="0" err="1"/>
              <a:t>chính</a:t>
            </a:r>
            <a:r>
              <a:rPr lang="en-ID" dirty="0"/>
              <a:t>: </a:t>
            </a:r>
            <a:r>
              <a:rPr lang="en-ID" dirty="0" err="1"/>
              <a:t>dữ</a:t>
            </a:r>
            <a:r>
              <a:rPr lang="en-ID" dirty="0"/>
              <a:t> </a:t>
            </a:r>
            <a:r>
              <a:rPr lang="en-ID" dirty="0" err="1"/>
              <a:t>liệu</a:t>
            </a:r>
            <a:r>
              <a:rPr lang="en-ID" dirty="0"/>
              <a:t> </a:t>
            </a:r>
            <a:r>
              <a:rPr lang="en-ID" dirty="0" err="1"/>
              <a:t>mạng</a:t>
            </a:r>
            <a:r>
              <a:rPr lang="en-ID" dirty="0"/>
              <a:t> </a:t>
            </a:r>
            <a:r>
              <a:rPr lang="en-ID" dirty="0" err="1"/>
              <a:t>xã</a:t>
            </a:r>
            <a:r>
              <a:rPr lang="en-ID" dirty="0"/>
              <a:t> </a:t>
            </a:r>
            <a:r>
              <a:rPr lang="en-ID" dirty="0" err="1"/>
              <a:t>hội</a:t>
            </a:r>
            <a:r>
              <a:rPr lang="en-ID" dirty="0"/>
              <a:t>, </a:t>
            </a:r>
            <a:r>
              <a:rPr lang="en-ID" dirty="0" err="1"/>
              <a:t>dữ</a:t>
            </a:r>
            <a:r>
              <a:rPr lang="en-ID" dirty="0"/>
              <a:t> </a:t>
            </a:r>
            <a:r>
              <a:rPr lang="en-ID" dirty="0" err="1"/>
              <a:t>liệu</a:t>
            </a:r>
            <a:r>
              <a:rPr lang="en-ID" dirty="0"/>
              <a:t> </a:t>
            </a:r>
            <a:r>
              <a:rPr lang="en-ID" dirty="0" err="1"/>
              <a:t>giao</a:t>
            </a:r>
            <a:r>
              <a:rPr lang="en-ID" dirty="0"/>
              <a:t> </a:t>
            </a:r>
            <a:r>
              <a:rPr lang="en-ID" dirty="0" err="1"/>
              <a:t>dịch</a:t>
            </a:r>
            <a:r>
              <a:rPr lang="en-ID" dirty="0"/>
              <a:t> </a:t>
            </a:r>
            <a:r>
              <a:rPr lang="en-ID" dirty="0" err="1"/>
              <a:t>kinh</a:t>
            </a:r>
            <a:r>
              <a:rPr lang="en-ID" dirty="0"/>
              <a:t> </a:t>
            </a:r>
            <a:r>
              <a:rPr lang="en-ID" dirty="0" err="1"/>
              <a:t>doanh</a:t>
            </a:r>
            <a:r>
              <a:rPr lang="en-ID" dirty="0"/>
              <a:t>, </a:t>
            </a:r>
            <a:r>
              <a:rPr lang="en-ID" dirty="0" err="1"/>
              <a:t>dữ</a:t>
            </a:r>
            <a:r>
              <a:rPr lang="en-ID" dirty="0"/>
              <a:t> </a:t>
            </a:r>
            <a:r>
              <a:rPr lang="en-ID" dirty="0" err="1"/>
              <a:t>liệu</a:t>
            </a:r>
            <a:r>
              <a:rPr lang="en-ID" dirty="0"/>
              <a:t> </a:t>
            </a:r>
            <a:r>
              <a:rPr lang="en-ID" dirty="0" err="1"/>
              <a:t>thiết</a:t>
            </a:r>
            <a:r>
              <a:rPr lang="en-ID" dirty="0"/>
              <a:t> </a:t>
            </a:r>
            <a:r>
              <a:rPr lang="en-ID" dirty="0" err="1"/>
              <a:t>bị</a:t>
            </a:r>
            <a:r>
              <a:rPr lang="en-ID" dirty="0"/>
              <a:t> (IoT) </a:t>
            </a:r>
            <a:r>
              <a:rPr lang="en-ID" dirty="0" err="1"/>
              <a:t>và</a:t>
            </a:r>
            <a:r>
              <a:rPr lang="en-ID" dirty="0"/>
              <a:t> </a:t>
            </a:r>
            <a:r>
              <a:rPr lang="en-ID" dirty="0" err="1"/>
              <a:t>dữ</a:t>
            </a:r>
            <a:r>
              <a:rPr lang="en-ID" dirty="0"/>
              <a:t> </a:t>
            </a:r>
            <a:r>
              <a:rPr lang="en-ID" dirty="0" err="1"/>
              <a:t>liệu</a:t>
            </a:r>
            <a:r>
              <a:rPr lang="en-ID" dirty="0"/>
              <a:t> khoa </a:t>
            </a:r>
            <a:r>
              <a:rPr lang="en-ID" dirty="0" err="1"/>
              <a:t>học</a:t>
            </a:r>
            <a:r>
              <a:rPr lang="en-ID" dirty="0"/>
              <a:t>. Các </a:t>
            </a:r>
            <a:r>
              <a:rPr lang="en-ID" dirty="0" err="1"/>
              <a:t>nguồn</a:t>
            </a:r>
            <a:r>
              <a:rPr lang="en-ID" dirty="0"/>
              <a:t> </a:t>
            </a:r>
            <a:r>
              <a:rPr lang="en-ID" dirty="0" err="1"/>
              <a:t>này</a:t>
            </a:r>
            <a:r>
              <a:rPr lang="en-ID" dirty="0"/>
              <a:t> </a:t>
            </a:r>
            <a:r>
              <a:rPr lang="en-ID" dirty="0" err="1"/>
              <a:t>tạo</a:t>
            </a:r>
            <a:r>
              <a:rPr lang="en-ID" dirty="0"/>
              <a:t> </a:t>
            </a:r>
            <a:r>
              <a:rPr lang="en-ID" dirty="0" err="1"/>
              <a:t>ra</a:t>
            </a:r>
            <a:r>
              <a:rPr lang="en-ID" dirty="0"/>
              <a:t> </a:t>
            </a:r>
            <a:r>
              <a:rPr lang="en-ID" dirty="0" err="1"/>
              <a:t>thông</a:t>
            </a:r>
            <a:r>
              <a:rPr lang="en-ID" dirty="0"/>
              <a:t> tin </a:t>
            </a:r>
            <a:r>
              <a:rPr lang="en-ID" dirty="0" err="1"/>
              <a:t>liên</a:t>
            </a:r>
            <a:r>
              <a:rPr lang="en-ID" dirty="0"/>
              <a:t> </a:t>
            </a:r>
            <a:r>
              <a:rPr lang="en-ID" dirty="0" err="1"/>
              <a:t>tục</a:t>
            </a:r>
            <a:r>
              <a:rPr lang="en-ID" dirty="0"/>
              <a:t> </a:t>
            </a:r>
            <a:r>
              <a:rPr lang="en-ID" dirty="0" err="1"/>
              <a:t>và</a:t>
            </a:r>
            <a:r>
              <a:rPr lang="en-ID" dirty="0"/>
              <a:t> </a:t>
            </a:r>
            <a:r>
              <a:rPr lang="en-ID" dirty="0" err="1"/>
              <a:t>đòi</a:t>
            </a:r>
            <a:r>
              <a:rPr lang="en-ID" dirty="0"/>
              <a:t> </a:t>
            </a:r>
            <a:r>
              <a:rPr lang="en-ID" dirty="0" err="1"/>
              <a:t>hỏi</a:t>
            </a:r>
            <a:r>
              <a:rPr lang="en-ID" dirty="0"/>
              <a:t> </a:t>
            </a:r>
            <a:r>
              <a:rPr lang="en-ID" dirty="0" err="1"/>
              <a:t>công</a:t>
            </a:r>
            <a:r>
              <a:rPr lang="en-ID" dirty="0"/>
              <a:t> </a:t>
            </a:r>
            <a:r>
              <a:rPr lang="en-ID" dirty="0" err="1"/>
              <a:t>nghệ</a:t>
            </a:r>
            <a:r>
              <a:rPr lang="en-ID" dirty="0"/>
              <a:t> </a:t>
            </a:r>
            <a:r>
              <a:rPr lang="en-ID" dirty="0" err="1"/>
              <a:t>lưu</a:t>
            </a:r>
            <a:r>
              <a:rPr lang="en-ID" dirty="0"/>
              <a:t> </a:t>
            </a:r>
            <a:r>
              <a:rPr lang="en-ID" dirty="0" err="1"/>
              <a:t>trữ</a:t>
            </a:r>
            <a:r>
              <a:rPr lang="en-ID" dirty="0"/>
              <a:t>, </a:t>
            </a:r>
            <a:r>
              <a:rPr lang="en-ID" dirty="0" err="1"/>
              <a:t>xử</a:t>
            </a:r>
            <a:r>
              <a:rPr lang="en-ID" dirty="0"/>
              <a:t> </a:t>
            </a:r>
            <a:r>
              <a:rPr lang="en-ID" dirty="0" err="1"/>
              <a:t>lý</a:t>
            </a:r>
            <a:r>
              <a:rPr lang="en-ID" dirty="0"/>
              <a:t> </a:t>
            </a:r>
            <a:r>
              <a:rPr lang="en-ID" dirty="0" err="1"/>
              <a:t>chuyên</a:t>
            </a:r>
            <a:r>
              <a:rPr lang="en-ID" dirty="0"/>
              <a:t> </a:t>
            </a:r>
            <a:r>
              <a:rPr lang="en-ID" dirty="0" err="1"/>
              <a:t>biệt</a:t>
            </a:r>
            <a:r>
              <a:rPr lang="en-ID" dirty="0"/>
              <a:t>.</a:t>
            </a:r>
          </a:p>
        </p:txBody>
      </p:sp>
      <p:pic>
        <p:nvPicPr>
          <p:cNvPr id="5" name="Picture 4">
            <a:extLst>
              <a:ext uri="{FF2B5EF4-FFF2-40B4-BE49-F238E27FC236}">
                <a16:creationId xmlns:a16="http://schemas.microsoft.com/office/drawing/2014/main" id="{D5999498-07AD-2A10-8CAC-6D64926E6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219200"/>
            <a:ext cx="5487650" cy="5142914"/>
          </a:xfrm>
          <a:prstGeom prst="rect">
            <a:avLst/>
          </a:prstGeom>
        </p:spPr>
      </p:pic>
    </p:spTree>
    <p:extLst>
      <p:ext uri="{BB962C8B-B14F-4D97-AF65-F5344CB8AC3E}">
        <p14:creationId xmlns:p14="http://schemas.microsoft.com/office/powerpoint/2010/main" val="3083760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4BF8C-BFC7-88FB-407B-D8BE28BB47E6}"/>
              </a:ext>
            </a:extLst>
          </p:cNvPr>
          <p:cNvSpPr>
            <a:spLocks noGrp="1"/>
          </p:cNvSpPr>
          <p:nvPr>
            <p:ph type="title"/>
          </p:nvPr>
        </p:nvSpPr>
        <p:spPr/>
        <p:txBody>
          <a:bodyPr/>
          <a:lstStyle/>
          <a:p>
            <a:r>
              <a:rPr lang="en-US" dirty="0"/>
              <a:t>Data ingestion</a:t>
            </a:r>
            <a:endParaRPr lang="en-ID" dirty="0"/>
          </a:p>
        </p:txBody>
      </p:sp>
      <p:sp>
        <p:nvSpPr>
          <p:cNvPr id="3" name="Content Placeholder 2">
            <a:extLst>
              <a:ext uri="{FF2B5EF4-FFF2-40B4-BE49-F238E27FC236}">
                <a16:creationId xmlns:a16="http://schemas.microsoft.com/office/drawing/2014/main" id="{836CECB1-B1B8-ECE1-D82E-B73576C50AB4}"/>
              </a:ext>
            </a:extLst>
          </p:cNvPr>
          <p:cNvSpPr>
            <a:spLocks noGrp="1"/>
          </p:cNvSpPr>
          <p:nvPr>
            <p:ph idx="1"/>
          </p:nvPr>
        </p:nvSpPr>
        <p:spPr/>
        <p:txBody>
          <a:bodyPr/>
          <a:lstStyle/>
          <a:p>
            <a:r>
              <a:rPr lang="en-ID" dirty="0"/>
              <a:t>Data Ingestion </a:t>
            </a:r>
            <a:r>
              <a:rPr lang="en-ID" dirty="0" err="1"/>
              <a:t>là</a:t>
            </a:r>
            <a:r>
              <a:rPr lang="en-ID" dirty="0"/>
              <a:t> </a:t>
            </a:r>
            <a:r>
              <a:rPr lang="en-ID" dirty="0" err="1"/>
              <a:t>quá</a:t>
            </a:r>
            <a:r>
              <a:rPr lang="en-ID" dirty="0"/>
              <a:t> </a:t>
            </a:r>
            <a:r>
              <a:rPr lang="en-ID" dirty="0" err="1"/>
              <a:t>trình</a:t>
            </a:r>
            <a:r>
              <a:rPr lang="en-ID" dirty="0"/>
              <a:t> </a:t>
            </a:r>
            <a:r>
              <a:rPr lang="en-ID" dirty="0" err="1"/>
              <a:t>thu</a:t>
            </a:r>
            <a:r>
              <a:rPr lang="en-ID" dirty="0"/>
              <a:t> </a:t>
            </a:r>
            <a:r>
              <a:rPr lang="en-ID" dirty="0" err="1"/>
              <a:t>thập</a:t>
            </a:r>
            <a:r>
              <a:rPr lang="en-ID" dirty="0"/>
              <a:t> </a:t>
            </a:r>
            <a:r>
              <a:rPr lang="en-ID" dirty="0" err="1"/>
              <a:t>và</a:t>
            </a:r>
            <a:r>
              <a:rPr lang="en-ID" dirty="0"/>
              <a:t> di </a:t>
            </a:r>
            <a:r>
              <a:rPr lang="en-ID" dirty="0" err="1"/>
              <a:t>chuyển</a:t>
            </a:r>
            <a:r>
              <a:rPr lang="en-ID" dirty="0"/>
              <a:t> </a:t>
            </a:r>
            <a:r>
              <a:rPr lang="en-ID" dirty="0" err="1"/>
              <a:t>khối</a:t>
            </a:r>
            <a:r>
              <a:rPr lang="en-ID" dirty="0"/>
              <a:t> </a:t>
            </a:r>
            <a:r>
              <a:rPr lang="en-ID" dirty="0" err="1"/>
              <a:t>lượng</a:t>
            </a:r>
            <a:r>
              <a:rPr lang="en-ID" dirty="0"/>
              <a:t> </a:t>
            </a:r>
            <a:r>
              <a:rPr lang="en-ID" dirty="0" err="1"/>
              <a:t>lớn</a:t>
            </a:r>
            <a:r>
              <a:rPr lang="en-ID" dirty="0"/>
              <a:t> </a:t>
            </a:r>
            <a:r>
              <a:rPr lang="en-ID" dirty="0" err="1"/>
              <a:t>dữ</a:t>
            </a:r>
            <a:r>
              <a:rPr lang="en-ID" dirty="0"/>
              <a:t> </a:t>
            </a:r>
            <a:r>
              <a:rPr lang="en-ID" dirty="0" err="1"/>
              <a:t>liệu</a:t>
            </a:r>
            <a:r>
              <a:rPr lang="en-ID" dirty="0"/>
              <a:t> </a:t>
            </a:r>
            <a:r>
              <a:rPr lang="en-ID" dirty="0" err="1"/>
              <a:t>từ</a:t>
            </a:r>
            <a:r>
              <a:rPr lang="en-ID" dirty="0"/>
              <a:t> </a:t>
            </a:r>
            <a:r>
              <a:rPr lang="en-ID" dirty="0" err="1"/>
              <a:t>nhiều</a:t>
            </a:r>
            <a:r>
              <a:rPr lang="en-ID" dirty="0"/>
              <a:t> </a:t>
            </a:r>
            <a:r>
              <a:rPr lang="en-ID" dirty="0" err="1"/>
              <a:t>nguồn</a:t>
            </a:r>
            <a:r>
              <a:rPr lang="en-ID" dirty="0"/>
              <a:t> </a:t>
            </a:r>
            <a:r>
              <a:rPr lang="en-ID" dirty="0" err="1"/>
              <a:t>khác</a:t>
            </a:r>
            <a:r>
              <a:rPr lang="en-ID" dirty="0"/>
              <a:t> </a:t>
            </a:r>
            <a:r>
              <a:rPr lang="en-ID" dirty="0" err="1"/>
              <a:t>nhau</a:t>
            </a:r>
            <a:r>
              <a:rPr lang="en-ID" dirty="0"/>
              <a:t> (IoT, </a:t>
            </a:r>
            <a:r>
              <a:rPr lang="en-ID" dirty="0" err="1"/>
              <a:t>mạng</a:t>
            </a:r>
            <a:r>
              <a:rPr lang="en-ID" dirty="0"/>
              <a:t> </a:t>
            </a:r>
            <a:r>
              <a:rPr lang="en-ID" dirty="0" err="1"/>
              <a:t>xã</a:t>
            </a:r>
            <a:r>
              <a:rPr lang="en-ID" dirty="0"/>
              <a:t> </a:t>
            </a:r>
            <a:r>
              <a:rPr lang="en-ID" dirty="0" err="1"/>
              <a:t>hội</a:t>
            </a:r>
            <a:r>
              <a:rPr lang="en-ID" dirty="0"/>
              <a:t>, ERP) </a:t>
            </a:r>
            <a:r>
              <a:rPr lang="en-ID" dirty="0" err="1"/>
              <a:t>vào</a:t>
            </a:r>
            <a:r>
              <a:rPr lang="en-ID" dirty="0"/>
              <a:t> </a:t>
            </a:r>
            <a:r>
              <a:rPr lang="en-ID" dirty="0" err="1"/>
              <a:t>hệ</a:t>
            </a:r>
            <a:r>
              <a:rPr lang="en-ID" dirty="0"/>
              <a:t> </a:t>
            </a:r>
            <a:r>
              <a:rPr lang="en-ID" dirty="0" err="1"/>
              <a:t>thống</a:t>
            </a:r>
            <a:r>
              <a:rPr lang="en-ID" dirty="0"/>
              <a:t> </a:t>
            </a:r>
            <a:r>
              <a:rPr lang="en-ID" dirty="0" err="1"/>
              <a:t>lưu</a:t>
            </a:r>
            <a:r>
              <a:rPr lang="en-ID" dirty="0"/>
              <a:t> </a:t>
            </a:r>
            <a:r>
              <a:rPr lang="en-ID" dirty="0" err="1"/>
              <a:t>trữ</a:t>
            </a:r>
            <a:r>
              <a:rPr lang="en-ID" dirty="0"/>
              <a:t> </a:t>
            </a:r>
            <a:r>
              <a:rPr lang="en-ID" dirty="0" err="1"/>
              <a:t>trung</a:t>
            </a:r>
            <a:r>
              <a:rPr lang="en-ID" dirty="0"/>
              <a:t> </a:t>
            </a:r>
            <a:r>
              <a:rPr lang="en-ID" dirty="0" err="1"/>
              <a:t>tâm</a:t>
            </a:r>
            <a:r>
              <a:rPr lang="en-ID" dirty="0"/>
              <a:t> (Data Lake, Data Warehouse). </a:t>
            </a:r>
            <a:r>
              <a:rPr lang="en-ID" dirty="0" err="1"/>
              <a:t>Đây</a:t>
            </a:r>
            <a:r>
              <a:rPr lang="en-ID" dirty="0"/>
              <a:t> </a:t>
            </a:r>
            <a:r>
              <a:rPr lang="en-ID" dirty="0" err="1"/>
              <a:t>là</a:t>
            </a:r>
            <a:r>
              <a:rPr lang="en-ID" dirty="0"/>
              <a:t> </a:t>
            </a:r>
            <a:r>
              <a:rPr lang="en-ID" dirty="0" err="1"/>
              <a:t>bước</a:t>
            </a:r>
            <a:r>
              <a:rPr lang="en-ID" dirty="0"/>
              <a:t> </a:t>
            </a:r>
            <a:r>
              <a:rPr lang="en-ID" dirty="0" err="1"/>
              <a:t>khởi</a:t>
            </a:r>
            <a:r>
              <a:rPr lang="en-ID" dirty="0"/>
              <a:t> </a:t>
            </a:r>
            <a:r>
              <a:rPr lang="en-ID" dirty="0" err="1"/>
              <a:t>đầu</a:t>
            </a:r>
            <a:r>
              <a:rPr lang="en-ID" dirty="0"/>
              <a:t> </a:t>
            </a:r>
            <a:r>
              <a:rPr lang="en-ID" dirty="0" err="1"/>
              <a:t>thiết</a:t>
            </a:r>
            <a:r>
              <a:rPr lang="en-ID" dirty="0"/>
              <a:t> </a:t>
            </a:r>
            <a:r>
              <a:rPr lang="en-ID" dirty="0" err="1"/>
              <a:t>yếu</a:t>
            </a:r>
            <a:r>
              <a:rPr lang="en-ID" dirty="0"/>
              <a:t> </a:t>
            </a:r>
            <a:r>
              <a:rPr lang="en-ID" dirty="0" err="1"/>
              <a:t>trong</a:t>
            </a:r>
            <a:r>
              <a:rPr lang="en-ID" dirty="0"/>
              <a:t> </a:t>
            </a:r>
            <a:r>
              <a:rPr lang="en-ID" dirty="0" err="1"/>
              <a:t>kiến</a:t>
            </a:r>
            <a:r>
              <a:rPr lang="en-ID" dirty="0"/>
              <a:t> </a:t>
            </a:r>
            <a:r>
              <a:rPr lang="en-ID" dirty="0" err="1"/>
              <a:t>trúc</a:t>
            </a:r>
            <a:r>
              <a:rPr lang="en-ID" dirty="0"/>
              <a:t> Big Data, </a:t>
            </a:r>
            <a:r>
              <a:rPr lang="en-ID" dirty="0" err="1"/>
              <a:t>đảm</a:t>
            </a:r>
            <a:r>
              <a:rPr lang="en-ID" dirty="0"/>
              <a:t> </a:t>
            </a:r>
            <a:r>
              <a:rPr lang="en-ID" dirty="0" err="1"/>
              <a:t>bảo</a:t>
            </a:r>
            <a:r>
              <a:rPr lang="en-ID" dirty="0"/>
              <a:t> </a:t>
            </a:r>
            <a:r>
              <a:rPr lang="en-ID" dirty="0" err="1"/>
              <a:t>dữ</a:t>
            </a:r>
            <a:r>
              <a:rPr lang="en-ID" dirty="0"/>
              <a:t> </a:t>
            </a:r>
            <a:r>
              <a:rPr lang="en-ID" dirty="0" err="1"/>
              <a:t>liệu</a:t>
            </a:r>
            <a:r>
              <a:rPr lang="en-ID" dirty="0"/>
              <a:t> </a:t>
            </a:r>
            <a:r>
              <a:rPr lang="en-ID" dirty="0" err="1"/>
              <a:t>sẵn</a:t>
            </a:r>
            <a:r>
              <a:rPr lang="en-ID" dirty="0"/>
              <a:t> </a:t>
            </a:r>
            <a:r>
              <a:rPr lang="en-ID" dirty="0" err="1"/>
              <a:t>sàng</a:t>
            </a:r>
            <a:r>
              <a:rPr lang="en-ID" dirty="0"/>
              <a:t> </a:t>
            </a:r>
            <a:r>
              <a:rPr lang="en-ID" dirty="0" err="1"/>
              <a:t>để</a:t>
            </a:r>
            <a:r>
              <a:rPr lang="en-ID" dirty="0"/>
              <a:t> </a:t>
            </a:r>
            <a:r>
              <a:rPr lang="en-ID" dirty="0" err="1"/>
              <a:t>phân</a:t>
            </a:r>
            <a:r>
              <a:rPr lang="en-ID" dirty="0"/>
              <a:t> </a:t>
            </a:r>
            <a:r>
              <a:rPr lang="en-ID" dirty="0" err="1"/>
              <a:t>tích</a:t>
            </a:r>
            <a:r>
              <a:rPr lang="en-ID" dirty="0"/>
              <a:t> </a:t>
            </a:r>
            <a:r>
              <a:rPr lang="en-ID" dirty="0" err="1"/>
              <a:t>và</a:t>
            </a:r>
            <a:r>
              <a:rPr lang="en-ID" dirty="0"/>
              <a:t> </a:t>
            </a:r>
            <a:r>
              <a:rPr lang="en-ID" dirty="0" err="1"/>
              <a:t>xử</a:t>
            </a:r>
            <a:r>
              <a:rPr lang="en-ID" dirty="0"/>
              <a:t> </a:t>
            </a:r>
            <a:r>
              <a:rPr lang="en-ID" dirty="0" err="1"/>
              <a:t>lý</a:t>
            </a:r>
            <a:r>
              <a:rPr lang="en-ID" dirty="0"/>
              <a:t>. </a:t>
            </a:r>
            <a:r>
              <a:rPr lang="en-ID" dirty="0" err="1"/>
              <a:t>Quá</a:t>
            </a:r>
            <a:r>
              <a:rPr lang="en-ID" dirty="0"/>
              <a:t> </a:t>
            </a:r>
            <a:r>
              <a:rPr lang="en-ID" dirty="0" err="1"/>
              <a:t>trình</a:t>
            </a:r>
            <a:r>
              <a:rPr lang="en-ID" dirty="0"/>
              <a:t> </a:t>
            </a:r>
            <a:r>
              <a:rPr lang="en-ID" dirty="0" err="1"/>
              <a:t>này</a:t>
            </a:r>
            <a:r>
              <a:rPr lang="en-ID" dirty="0"/>
              <a:t> </a:t>
            </a:r>
            <a:r>
              <a:rPr lang="en-ID" dirty="0" err="1"/>
              <a:t>chủ</a:t>
            </a:r>
            <a:r>
              <a:rPr lang="en-ID" dirty="0"/>
              <a:t> </a:t>
            </a:r>
            <a:r>
              <a:rPr lang="en-ID" dirty="0" err="1"/>
              <a:t>yếu</a:t>
            </a:r>
            <a:r>
              <a:rPr lang="en-ID" dirty="0"/>
              <a:t> </a:t>
            </a:r>
            <a:r>
              <a:rPr lang="en-ID" dirty="0" err="1"/>
              <a:t>được</a:t>
            </a:r>
            <a:r>
              <a:rPr lang="en-ID" dirty="0"/>
              <a:t> </a:t>
            </a:r>
            <a:r>
              <a:rPr lang="en-ID" dirty="0" err="1"/>
              <a:t>thực</a:t>
            </a:r>
            <a:r>
              <a:rPr lang="en-ID" dirty="0"/>
              <a:t> </a:t>
            </a:r>
            <a:r>
              <a:rPr lang="en-ID" dirty="0" err="1"/>
              <a:t>hiện</a:t>
            </a:r>
            <a:r>
              <a:rPr lang="en-ID" dirty="0"/>
              <a:t> </a:t>
            </a:r>
            <a:r>
              <a:rPr lang="en-ID" dirty="0" err="1"/>
              <a:t>thông</a:t>
            </a:r>
            <a:r>
              <a:rPr lang="en-ID" dirty="0"/>
              <a:t> qua </a:t>
            </a:r>
            <a:r>
              <a:rPr lang="en-ID" dirty="0" err="1"/>
              <a:t>ba</a:t>
            </a:r>
            <a:r>
              <a:rPr lang="en-ID" dirty="0"/>
              <a:t> </a:t>
            </a:r>
            <a:r>
              <a:rPr lang="en-ID" dirty="0" err="1"/>
              <a:t>phương</a:t>
            </a:r>
            <a:r>
              <a:rPr lang="en-ID" dirty="0"/>
              <a:t> </a:t>
            </a:r>
            <a:r>
              <a:rPr lang="en-ID" dirty="0" err="1"/>
              <a:t>pháp</a:t>
            </a:r>
            <a:r>
              <a:rPr lang="en-ID" dirty="0"/>
              <a:t> </a:t>
            </a:r>
            <a:r>
              <a:rPr lang="en-ID" dirty="0" err="1"/>
              <a:t>chính</a:t>
            </a:r>
            <a:r>
              <a:rPr lang="en-ID" dirty="0"/>
              <a:t>:</a:t>
            </a:r>
          </a:p>
          <a:p>
            <a:pPr marL="285750" indent="-285750">
              <a:buFont typeface="Arial" panose="020B0604020202020204" pitchFamily="34" charset="0"/>
              <a:buChar char="•"/>
            </a:pPr>
            <a:r>
              <a:rPr lang="en-ID" dirty="0"/>
              <a:t>Batch Ingestion (Thu </a:t>
            </a:r>
            <a:r>
              <a:rPr lang="en-ID" dirty="0" err="1"/>
              <a:t>thập</a:t>
            </a:r>
            <a:r>
              <a:rPr lang="en-ID" dirty="0"/>
              <a:t> </a:t>
            </a:r>
            <a:r>
              <a:rPr lang="en-ID" dirty="0" err="1"/>
              <a:t>theo</a:t>
            </a:r>
            <a:r>
              <a:rPr lang="en-ID" dirty="0"/>
              <a:t> </a:t>
            </a:r>
            <a:r>
              <a:rPr lang="en-ID" dirty="0" err="1"/>
              <a:t>lô</a:t>
            </a:r>
            <a:r>
              <a:rPr lang="en-ID" dirty="0"/>
              <a:t>)</a:t>
            </a:r>
          </a:p>
          <a:p>
            <a:pPr marL="285750" indent="-285750">
              <a:buFont typeface="Arial" panose="020B0604020202020204" pitchFamily="34" charset="0"/>
              <a:buChar char="•"/>
            </a:pPr>
            <a:r>
              <a:rPr lang="en-ID" dirty="0"/>
              <a:t>Real-Time/Streaming Ingestion (</a:t>
            </a:r>
            <a:r>
              <a:rPr lang="en-ID" dirty="0" err="1"/>
              <a:t>Thời</a:t>
            </a:r>
            <a:r>
              <a:rPr lang="en-ID" dirty="0"/>
              <a:t> </a:t>
            </a:r>
            <a:r>
              <a:rPr lang="en-ID" dirty="0" err="1"/>
              <a:t>gian</a:t>
            </a:r>
            <a:r>
              <a:rPr lang="en-ID" dirty="0"/>
              <a:t> </a:t>
            </a:r>
            <a:r>
              <a:rPr lang="en-ID" dirty="0" err="1"/>
              <a:t>thực</a:t>
            </a:r>
            <a:r>
              <a:rPr lang="en-ID" dirty="0"/>
              <a:t>)</a:t>
            </a:r>
          </a:p>
          <a:p>
            <a:pPr marL="285750" indent="-285750">
              <a:buFont typeface="Arial" panose="020B0604020202020204" pitchFamily="34" charset="0"/>
              <a:buChar char="•"/>
            </a:pPr>
            <a:r>
              <a:rPr lang="en-ID" dirty="0"/>
              <a:t>Micro-Batching</a:t>
            </a:r>
          </a:p>
          <a:p>
            <a:br>
              <a:rPr lang="en-ID" dirty="0"/>
            </a:br>
            <a:endParaRPr lang="en-ID" dirty="0"/>
          </a:p>
        </p:txBody>
      </p:sp>
      <p:pic>
        <p:nvPicPr>
          <p:cNvPr id="5" name="Picture 4">
            <a:extLst>
              <a:ext uri="{FF2B5EF4-FFF2-40B4-BE49-F238E27FC236}">
                <a16:creationId xmlns:a16="http://schemas.microsoft.com/office/drawing/2014/main" id="{1B50A399-D343-98AC-E318-E38BFFBFFB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2819400"/>
            <a:ext cx="6821714" cy="3581400"/>
          </a:xfrm>
          <a:prstGeom prst="rect">
            <a:avLst/>
          </a:prstGeom>
        </p:spPr>
      </p:pic>
    </p:spTree>
    <p:extLst>
      <p:ext uri="{BB962C8B-B14F-4D97-AF65-F5344CB8AC3E}">
        <p14:creationId xmlns:p14="http://schemas.microsoft.com/office/powerpoint/2010/main" val="4020550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6677-38D7-CD75-214A-C4DC5F332BFB}"/>
              </a:ext>
            </a:extLst>
          </p:cNvPr>
          <p:cNvSpPr>
            <a:spLocks noGrp="1"/>
          </p:cNvSpPr>
          <p:nvPr>
            <p:ph type="title"/>
          </p:nvPr>
        </p:nvSpPr>
        <p:spPr/>
        <p:txBody>
          <a:bodyPr/>
          <a:lstStyle/>
          <a:p>
            <a:r>
              <a:rPr lang="en-US" dirty="0"/>
              <a:t>Data Storage</a:t>
            </a:r>
            <a:endParaRPr lang="en-ID" dirty="0"/>
          </a:p>
        </p:txBody>
      </p:sp>
      <p:sp>
        <p:nvSpPr>
          <p:cNvPr id="3" name="Content Placeholder 2">
            <a:extLst>
              <a:ext uri="{FF2B5EF4-FFF2-40B4-BE49-F238E27FC236}">
                <a16:creationId xmlns:a16="http://schemas.microsoft.com/office/drawing/2014/main" id="{68A9BBF9-38E7-1650-B35B-C9A4046BA49B}"/>
              </a:ext>
            </a:extLst>
          </p:cNvPr>
          <p:cNvSpPr>
            <a:spLocks noGrp="1"/>
          </p:cNvSpPr>
          <p:nvPr>
            <p:ph idx="1"/>
          </p:nvPr>
        </p:nvSpPr>
        <p:spPr>
          <a:xfrm>
            <a:off x="6858001" y="2616976"/>
            <a:ext cx="4718302" cy="2438400"/>
          </a:xfrm>
        </p:spPr>
        <p:txBody>
          <a:bodyPr/>
          <a:lstStyle/>
          <a:p>
            <a:r>
              <a:rPr lang="en-ID" dirty="0"/>
              <a:t>Data Storage </a:t>
            </a:r>
            <a:r>
              <a:rPr lang="en-ID" dirty="0" err="1"/>
              <a:t>trong</a:t>
            </a:r>
            <a:r>
              <a:rPr lang="en-ID" dirty="0"/>
              <a:t> Big Data </a:t>
            </a:r>
            <a:r>
              <a:rPr lang="en-ID" dirty="0" err="1"/>
              <a:t>là</a:t>
            </a:r>
            <a:r>
              <a:rPr lang="en-ID" dirty="0"/>
              <a:t> </a:t>
            </a:r>
            <a:r>
              <a:rPr lang="en-ID" dirty="0" err="1"/>
              <a:t>việc</a:t>
            </a:r>
            <a:r>
              <a:rPr lang="en-ID" dirty="0"/>
              <a:t> </a:t>
            </a:r>
            <a:r>
              <a:rPr lang="en-ID" dirty="0" err="1"/>
              <a:t>sử</a:t>
            </a:r>
            <a:r>
              <a:rPr lang="en-ID" dirty="0"/>
              <a:t> </a:t>
            </a:r>
            <a:r>
              <a:rPr lang="en-ID" dirty="0" err="1"/>
              <a:t>dụng</a:t>
            </a:r>
            <a:r>
              <a:rPr lang="en-ID" dirty="0"/>
              <a:t> </a:t>
            </a:r>
            <a:r>
              <a:rPr lang="en-ID" dirty="0" err="1"/>
              <a:t>hệ</a:t>
            </a:r>
            <a:r>
              <a:rPr lang="en-ID" dirty="0"/>
              <a:t> </a:t>
            </a:r>
            <a:r>
              <a:rPr lang="en-ID" dirty="0" err="1"/>
              <a:t>thống</a:t>
            </a:r>
            <a:r>
              <a:rPr lang="en-ID" dirty="0"/>
              <a:t> </a:t>
            </a:r>
            <a:r>
              <a:rPr lang="en-ID" dirty="0" err="1"/>
              <a:t>tệp</a:t>
            </a:r>
            <a:r>
              <a:rPr lang="en-ID" dirty="0"/>
              <a:t> </a:t>
            </a:r>
            <a:r>
              <a:rPr lang="en-ID" dirty="0" err="1"/>
              <a:t>phân</a:t>
            </a:r>
            <a:r>
              <a:rPr lang="en-ID" dirty="0"/>
              <a:t> </a:t>
            </a:r>
            <a:r>
              <a:rPr lang="en-ID" dirty="0" err="1"/>
              <a:t>tán</a:t>
            </a:r>
            <a:r>
              <a:rPr lang="en-ID" dirty="0"/>
              <a:t> </a:t>
            </a:r>
            <a:r>
              <a:rPr lang="en-ID" dirty="0" err="1"/>
              <a:t>và</a:t>
            </a:r>
            <a:r>
              <a:rPr lang="en-ID" dirty="0"/>
              <a:t> </a:t>
            </a:r>
            <a:r>
              <a:rPr lang="en-ID" dirty="0" err="1"/>
              <a:t>các</a:t>
            </a:r>
            <a:r>
              <a:rPr lang="en-ID" dirty="0"/>
              <a:t> </a:t>
            </a:r>
            <a:r>
              <a:rPr lang="en-ID" dirty="0" err="1"/>
              <a:t>kiến</a:t>
            </a:r>
            <a:r>
              <a:rPr lang="en-ID" dirty="0"/>
              <a:t> </a:t>
            </a:r>
            <a:r>
              <a:rPr lang="en-ID" dirty="0" err="1"/>
              <a:t>trúc</a:t>
            </a:r>
            <a:r>
              <a:rPr lang="en-ID" dirty="0"/>
              <a:t> </a:t>
            </a:r>
            <a:r>
              <a:rPr lang="en-ID" dirty="0" err="1"/>
              <a:t>lưu</a:t>
            </a:r>
            <a:r>
              <a:rPr lang="en-ID" dirty="0"/>
              <a:t> </a:t>
            </a:r>
            <a:r>
              <a:rPr lang="en-ID" dirty="0" err="1"/>
              <a:t>trữ</a:t>
            </a:r>
            <a:r>
              <a:rPr lang="en-ID" dirty="0"/>
              <a:t> </a:t>
            </a:r>
            <a:r>
              <a:rPr lang="en-ID" dirty="0" err="1"/>
              <a:t>đám</a:t>
            </a:r>
            <a:r>
              <a:rPr lang="en-ID" dirty="0"/>
              <a:t> </a:t>
            </a:r>
            <a:r>
              <a:rPr lang="en-ID" dirty="0" err="1"/>
              <a:t>mây</a:t>
            </a:r>
            <a:r>
              <a:rPr lang="en-ID" dirty="0"/>
              <a:t> </a:t>
            </a:r>
            <a:r>
              <a:rPr lang="en-ID" dirty="0" err="1"/>
              <a:t>để</a:t>
            </a:r>
            <a:r>
              <a:rPr lang="en-ID" dirty="0"/>
              <a:t> </a:t>
            </a:r>
            <a:r>
              <a:rPr lang="en-ID" dirty="0" err="1"/>
              <a:t>lưu</a:t>
            </a:r>
            <a:r>
              <a:rPr lang="en-ID" dirty="0"/>
              <a:t> </a:t>
            </a:r>
            <a:r>
              <a:rPr lang="en-ID" dirty="0" err="1"/>
              <a:t>giữ</a:t>
            </a:r>
            <a:r>
              <a:rPr lang="en-ID" dirty="0"/>
              <a:t> </a:t>
            </a:r>
            <a:r>
              <a:rPr lang="en-ID" dirty="0" err="1"/>
              <a:t>khối</a:t>
            </a:r>
            <a:r>
              <a:rPr lang="en-ID" dirty="0"/>
              <a:t> </a:t>
            </a:r>
            <a:r>
              <a:rPr lang="en-ID" dirty="0" err="1"/>
              <a:t>lượng</a:t>
            </a:r>
            <a:r>
              <a:rPr lang="en-ID" dirty="0"/>
              <a:t> </a:t>
            </a:r>
            <a:r>
              <a:rPr lang="en-ID" dirty="0" err="1"/>
              <a:t>dữ</a:t>
            </a:r>
            <a:r>
              <a:rPr lang="en-ID" dirty="0"/>
              <a:t> </a:t>
            </a:r>
            <a:r>
              <a:rPr lang="en-ID" dirty="0" err="1"/>
              <a:t>liệu</a:t>
            </a:r>
            <a:r>
              <a:rPr lang="en-ID" dirty="0"/>
              <a:t> </a:t>
            </a:r>
            <a:r>
              <a:rPr lang="en-ID" dirty="0" err="1"/>
              <a:t>khổng</a:t>
            </a:r>
            <a:r>
              <a:rPr lang="en-ID" dirty="0"/>
              <a:t> </a:t>
            </a:r>
            <a:r>
              <a:rPr lang="en-ID" dirty="0" err="1"/>
              <a:t>lồ</a:t>
            </a:r>
            <a:r>
              <a:rPr lang="en-ID" dirty="0"/>
              <a:t> (Volume) </a:t>
            </a:r>
            <a:r>
              <a:rPr lang="en-ID" dirty="0" err="1"/>
              <a:t>với</a:t>
            </a:r>
            <a:r>
              <a:rPr lang="en-ID" dirty="0"/>
              <a:t> </a:t>
            </a:r>
            <a:r>
              <a:rPr lang="en-ID" dirty="0" err="1"/>
              <a:t>tốc</a:t>
            </a:r>
            <a:r>
              <a:rPr lang="en-ID" dirty="0"/>
              <a:t> </a:t>
            </a:r>
            <a:r>
              <a:rPr lang="en-ID" dirty="0" err="1"/>
              <a:t>độ</a:t>
            </a:r>
            <a:r>
              <a:rPr lang="en-ID" dirty="0"/>
              <a:t> </a:t>
            </a:r>
            <a:r>
              <a:rPr lang="en-ID" dirty="0" err="1"/>
              <a:t>cao</a:t>
            </a:r>
            <a:r>
              <a:rPr lang="en-ID" dirty="0"/>
              <a:t> (Velocity) </a:t>
            </a:r>
            <a:r>
              <a:rPr lang="en-ID" dirty="0" err="1"/>
              <a:t>và</a:t>
            </a:r>
            <a:r>
              <a:rPr lang="en-ID" dirty="0"/>
              <a:t> </a:t>
            </a:r>
            <a:r>
              <a:rPr lang="en-ID" dirty="0" err="1"/>
              <a:t>đa</a:t>
            </a:r>
            <a:r>
              <a:rPr lang="en-ID" dirty="0"/>
              <a:t> </a:t>
            </a:r>
            <a:r>
              <a:rPr lang="en-ID" dirty="0" err="1"/>
              <a:t>dạng</a:t>
            </a:r>
            <a:r>
              <a:rPr lang="en-ID" dirty="0"/>
              <a:t> </a:t>
            </a:r>
            <a:r>
              <a:rPr lang="en-ID" dirty="0" err="1"/>
              <a:t>định</a:t>
            </a:r>
            <a:r>
              <a:rPr lang="en-ID" dirty="0"/>
              <a:t> </a:t>
            </a:r>
            <a:r>
              <a:rPr lang="en-ID" dirty="0" err="1"/>
              <a:t>lượng</a:t>
            </a:r>
            <a:r>
              <a:rPr lang="en-ID" dirty="0"/>
              <a:t> (Variety), </a:t>
            </a:r>
            <a:r>
              <a:rPr lang="en-ID" dirty="0" err="1"/>
              <a:t>vượt</a:t>
            </a:r>
            <a:r>
              <a:rPr lang="en-ID" dirty="0"/>
              <a:t> </a:t>
            </a:r>
            <a:r>
              <a:rPr lang="en-ID" dirty="0" err="1"/>
              <a:t>quá</a:t>
            </a:r>
            <a:r>
              <a:rPr lang="en-ID" dirty="0"/>
              <a:t> </a:t>
            </a:r>
            <a:r>
              <a:rPr lang="en-ID" dirty="0" err="1"/>
              <a:t>khả</a:t>
            </a:r>
            <a:r>
              <a:rPr lang="en-ID" dirty="0"/>
              <a:t> </a:t>
            </a:r>
            <a:r>
              <a:rPr lang="en-ID" dirty="0" err="1"/>
              <a:t>năng</a:t>
            </a:r>
            <a:r>
              <a:rPr lang="en-ID" dirty="0"/>
              <a:t> </a:t>
            </a:r>
            <a:r>
              <a:rPr lang="en-ID" dirty="0" err="1"/>
              <a:t>xử</a:t>
            </a:r>
            <a:r>
              <a:rPr lang="en-ID" dirty="0"/>
              <a:t> </a:t>
            </a:r>
            <a:r>
              <a:rPr lang="en-ID" dirty="0" err="1"/>
              <a:t>lý</a:t>
            </a:r>
            <a:r>
              <a:rPr lang="en-ID" dirty="0"/>
              <a:t> </a:t>
            </a:r>
            <a:r>
              <a:rPr lang="en-ID" dirty="0" err="1"/>
              <a:t>của</a:t>
            </a:r>
            <a:r>
              <a:rPr lang="en-ID" dirty="0"/>
              <a:t> </a:t>
            </a:r>
            <a:r>
              <a:rPr lang="en-ID" dirty="0" err="1"/>
              <a:t>cơ</a:t>
            </a:r>
            <a:r>
              <a:rPr lang="en-ID" dirty="0"/>
              <a:t> </a:t>
            </a:r>
            <a:r>
              <a:rPr lang="en-ID" dirty="0" err="1"/>
              <a:t>sở</a:t>
            </a:r>
            <a:r>
              <a:rPr lang="en-ID" dirty="0"/>
              <a:t> </a:t>
            </a:r>
            <a:r>
              <a:rPr lang="en-ID" dirty="0" err="1"/>
              <a:t>dữ</a:t>
            </a:r>
            <a:r>
              <a:rPr lang="en-ID" dirty="0"/>
              <a:t> </a:t>
            </a:r>
            <a:r>
              <a:rPr lang="en-ID" dirty="0" err="1"/>
              <a:t>liệu</a:t>
            </a:r>
            <a:r>
              <a:rPr lang="en-ID" dirty="0"/>
              <a:t> </a:t>
            </a:r>
            <a:r>
              <a:rPr lang="en-ID" dirty="0" err="1"/>
              <a:t>truyền</a:t>
            </a:r>
            <a:r>
              <a:rPr lang="en-ID" dirty="0"/>
              <a:t> </a:t>
            </a:r>
            <a:r>
              <a:rPr lang="en-ID" dirty="0" err="1"/>
              <a:t>thống</a:t>
            </a:r>
            <a:r>
              <a:rPr lang="en-ID" dirty="0"/>
              <a:t>. Các </a:t>
            </a:r>
            <a:r>
              <a:rPr lang="en-ID" dirty="0" err="1"/>
              <a:t>kiến</a:t>
            </a:r>
            <a:r>
              <a:rPr lang="en-ID" dirty="0"/>
              <a:t> </a:t>
            </a:r>
            <a:r>
              <a:rPr lang="en-ID" dirty="0" err="1"/>
              <a:t>trúc</a:t>
            </a:r>
            <a:r>
              <a:rPr lang="en-ID" dirty="0"/>
              <a:t> </a:t>
            </a:r>
            <a:r>
              <a:rPr lang="en-ID" dirty="0" err="1"/>
              <a:t>lưu</a:t>
            </a:r>
            <a:r>
              <a:rPr lang="en-ID" dirty="0"/>
              <a:t> </a:t>
            </a:r>
            <a:r>
              <a:rPr lang="en-ID" dirty="0" err="1"/>
              <a:t>trữ</a:t>
            </a:r>
            <a:r>
              <a:rPr lang="en-ID" dirty="0"/>
              <a:t> </a:t>
            </a:r>
            <a:r>
              <a:rPr lang="en-ID" dirty="0" err="1"/>
              <a:t>phổ</a:t>
            </a:r>
            <a:r>
              <a:rPr lang="en-ID" dirty="0"/>
              <a:t> </a:t>
            </a:r>
            <a:r>
              <a:rPr lang="en-ID" dirty="0" err="1"/>
              <a:t>biến</a:t>
            </a:r>
            <a:r>
              <a:rPr lang="en-ID" dirty="0"/>
              <a:t> bao </a:t>
            </a:r>
            <a:r>
              <a:rPr lang="en-ID" dirty="0" err="1"/>
              <a:t>gồm</a:t>
            </a:r>
            <a:r>
              <a:rPr lang="en-ID" dirty="0"/>
              <a:t>:</a:t>
            </a:r>
          </a:p>
          <a:p>
            <a:pPr marL="285750" indent="-285750">
              <a:buFont typeface="Arial" panose="020B0604020202020204" pitchFamily="34" charset="0"/>
              <a:buChar char="•"/>
            </a:pPr>
            <a:r>
              <a:rPr lang="en-ID" dirty="0"/>
              <a:t>Data Lake</a:t>
            </a:r>
          </a:p>
          <a:p>
            <a:pPr marL="285750" indent="-285750">
              <a:buFont typeface="Arial" panose="020B0604020202020204" pitchFamily="34" charset="0"/>
              <a:buChar char="•"/>
            </a:pPr>
            <a:r>
              <a:rPr lang="en-ID" dirty="0"/>
              <a:t>Data Warehouse</a:t>
            </a:r>
          </a:p>
          <a:p>
            <a:pPr marL="285750" indent="-285750">
              <a:buFont typeface="Arial" panose="020B0604020202020204" pitchFamily="34" charset="0"/>
              <a:buChar char="•"/>
            </a:pPr>
            <a:r>
              <a:rPr lang="en-ID" dirty="0"/>
              <a:t>Data Lakehouse</a:t>
            </a:r>
          </a:p>
        </p:txBody>
      </p:sp>
      <p:pic>
        <p:nvPicPr>
          <p:cNvPr id="5" name="Picture 4">
            <a:extLst>
              <a:ext uri="{FF2B5EF4-FFF2-40B4-BE49-F238E27FC236}">
                <a16:creationId xmlns:a16="http://schemas.microsoft.com/office/drawing/2014/main" id="{54C15548-2BC5-3090-7CB8-BB112079E9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 y="1828800"/>
            <a:ext cx="6019190" cy="4014753"/>
          </a:xfrm>
          <a:prstGeom prst="rect">
            <a:avLst/>
          </a:prstGeom>
        </p:spPr>
      </p:pic>
    </p:spTree>
    <p:extLst>
      <p:ext uri="{BB962C8B-B14F-4D97-AF65-F5344CB8AC3E}">
        <p14:creationId xmlns:p14="http://schemas.microsoft.com/office/powerpoint/2010/main" val="1492631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02241-D4AD-A1D9-C016-10C451FD3FA0}"/>
              </a:ext>
            </a:extLst>
          </p:cNvPr>
          <p:cNvSpPr>
            <a:spLocks noGrp="1"/>
          </p:cNvSpPr>
          <p:nvPr>
            <p:ph type="title"/>
          </p:nvPr>
        </p:nvSpPr>
        <p:spPr/>
        <p:txBody>
          <a:bodyPr/>
          <a:lstStyle/>
          <a:p>
            <a:r>
              <a:rPr lang="en-US" dirty="0"/>
              <a:t>Data processing</a:t>
            </a:r>
            <a:endParaRPr lang="en-ID" dirty="0"/>
          </a:p>
        </p:txBody>
      </p:sp>
      <p:pic>
        <p:nvPicPr>
          <p:cNvPr id="5" name="Content Placeholder 4">
            <a:extLst>
              <a:ext uri="{FF2B5EF4-FFF2-40B4-BE49-F238E27FC236}">
                <a16:creationId xmlns:a16="http://schemas.microsoft.com/office/drawing/2014/main" id="{46373338-0C82-FDC3-1FD8-1EF0F87416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9" t="14035"/>
          <a:stretch>
            <a:fillRect/>
          </a:stretch>
        </p:blipFill>
        <p:spPr>
          <a:xfrm>
            <a:off x="987627" y="2133600"/>
            <a:ext cx="10213695" cy="3733800"/>
          </a:xfrm>
          <a:prstGeom prst="rect">
            <a:avLst/>
          </a:prstGeom>
        </p:spPr>
      </p:pic>
    </p:spTree>
    <p:extLst>
      <p:ext uri="{BB962C8B-B14F-4D97-AF65-F5344CB8AC3E}">
        <p14:creationId xmlns:p14="http://schemas.microsoft.com/office/powerpoint/2010/main" val="1165268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D5CB2-BCE0-D0F0-AF67-3E4102F8DA1C}"/>
              </a:ext>
            </a:extLst>
          </p:cNvPr>
          <p:cNvSpPr>
            <a:spLocks noGrp="1"/>
          </p:cNvSpPr>
          <p:nvPr>
            <p:ph type="title"/>
          </p:nvPr>
        </p:nvSpPr>
        <p:spPr>
          <a:xfrm>
            <a:off x="612647" y="685800"/>
            <a:ext cx="10963655" cy="1133170"/>
          </a:xfrm>
        </p:spPr>
        <p:txBody>
          <a:bodyPr anchor="b">
            <a:normAutofit/>
          </a:bodyPr>
          <a:lstStyle/>
          <a:p>
            <a:r>
              <a:rPr lang="en-US" dirty="0"/>
              <a:t>Data analytics</a:t>
            </a:r>
            <a:endParaRPr lang="en-ID" dirty="0"/>
          </a:p>
        </p:txBody>
      </p:sp>
      <p:sp>
        <p:nvSpPr>
          <p:cNvPr id="3" name="Content Placeholder 2">
            <a:extLst>
              <a:ext uri="{FF2B5EF4-FFF2-40B4-BE49-F238E27FC236}">
                <a16:creationId xmlns:a16="http://schemas.microsoft.com/office/drawing/2014/main" id="{FC421DF4-3C99-AC65-DD54-7A2E737EFCD9}"/>
              </a:ext>
            </a:extLst>
          </p:cNvPr>
          <p:cNvSpPr>
            <a:spLocks noGrp="1"/>
          </p:cNvSpPr>
          <p:nvPr>
            <p:ph sz="quarter" idx="15"/>
          </p:nvPr>
        </p:nvSpPr>
        <p:spPr>
          <a:xfrm>
            <a:off x="612775" y="1965960"/>
            <a:ext cx="5074920" cy="4195763"/>
          </a:xfrm>
        </p:spPr>
        <p:txBody>
          <a:bodyPr>
            <a:normAutofit/>
          </a:bodyPr>
          <a:lstStyle/>
          <a:p>
            <a:r>
              <a:rPr lang="en-ID" dirty="0"/>
              <a:t>Analytics/Query </a:t>
            </a:r>
            <a:r>
              <a:rPr lang="en-ID" dirty="0" err="1"/>
              <a:t>trong</a:t>
            </a:r>
            <a:r>
              <a:rPr lang="en-ID" dirty="0"/>
              <a:t> Big Data </a:t>
            </a:r>
            <a:r>
              <a:rPr lang="en-ID" dirty="0" err="1"/>
              <a:t>là</a:t>
            </a:r>
            <a:r>
              <a:rPr lang="en-ID" dirty="0"/>
              <a:t> </a:t>
            </a:r>
            <a:r>
              <a:rPr lang="en-ID" dirty="0" err="1"/>
              <a:t>quá</a:t>
            </a:r>
            <a:r>
              <a:rPr lang="en-ID" dirty="0"/>
              <a:t> </a:t>
            </a:r>
            <a:r>
              <a:rPr lang="en-ID" dirty="0" err="1"/>
              <a:t>trình</a:t>
            </a:r>
            <a:r>
              <a:rPr lang="en-ID" dirty="0"/>
              <a:t> </a:t>
            </a:r>
            <a:r>
              <a:rPr lang="en-ID" dirty="0" err="1"/>
              <a:t>thu</a:t>
            </a:r>
            <a:r>
              <a:rPr lang="en-ID" dirty="0"/>
              <a:t> </a:t>
            </a:r>
            <a:r>
              <a:rPr lang="en-ID" dirty="0" err="1"/>
              <a:t>thập</a:t>
            </a:r>
            <a:r>
              <a:rPr lang="en-ID" dirty="0"/>
              <a:t>, </a:t>
            </a:r>
            <a:r>
              <a:rPr lang="en-ID" dirty="0" err="1"/>
              <a:t>xử</a:t>
            </a:r>
            <a:r>
              <a:rPr lang="en-ID" dirty="0"/>
              <a:t> </a:t>
            </a:r>
            <a:r>
              <a:rPr lang="en-ID" dirty="0" err="1"/>
              <a:t>lý</a:t>
            </a:r>
            <a:r>
              <a:rPr lang="en-ID" dirty="0"/>
              <a:t> </a:t>
            </a:r>
            <a:r>
              <a:rPr lang="en-ID" dirty="0" err="1"/>
              <a:t>và</a:t>
            </a:r>
            <a:r>
              <a:rPr lang="en-ID" dirty="0"/>
              <a:t> </a:t>
            </a:r>
            <a:r>
              <a:rPr lang="en-ID" dirty="0" err="1"/>
              <a:t>diễn</a:t>
            </a:r>
            <a:r>
              <a:rPr lang="en-ID" dirty="0"/>
              <a:t> </a:t>
            </a:r>
            <a:r>
              <a:rPr lang="en-ID" dirty="0" err="1"/>
              <a:t>giải</a:t>
            </a:r>
            <a:r>
              <a:rPr lang="en-ID" dirty="0"/>
              <a:t> </a:t>
            </a:r>
            <a:r>
              <a:rPr lang="en-ID" dirty="0" err="1"/>
              <a:t>các</a:t>
            </a:r>
            <a:r>
              <a:rPr lang="en-ID" dirty="0"/>
              <a:t> </a:t>
            </a:r>
            <a:r>
              <a:rPr lang="en-ID" dirty="0" err="1"/>
              <a:t>tập</a:t>
            </a:r>
            <a:r>
              <a:rPr lang="en-ID" dirty="0"/>
              <a:t> </a:t>
            </a:r>
            <a:r>
              <a:rPr lang="en-ID" dirty="0" err="1"/>
              <a:t>dữ</a:t>
            </a:r>
            <a:r>
              <a:rPr lang="en-ID" dirty="0"/>
              <a:t> </a:t>
            </a:r>
            <a:r>
              <a:rPr lang="en-ID" dirty="0" err="1"/>
              <a:t>liệu</a:t>
            </a:r>
            <a:r>
              <a:rPr lang="en-ID" dirty="0"/>
              <a:t> </a:t>
            </a:r>
            <a:r>
              <a:rPr lang="en-ID" dirty="0" err="1"/>
              <a:t>khổng</a:t>
            </a:r>
            <a:r>
              <a:rPr lang="en-ID" dirty="0"/>
              <a:t> </a:t>
            </a:r>
            <a:r>
              <a:rPr lang="en-ID" dirty="0" err="1"/>
              <a:t>lồ</a:t>
            </a:r>
            <a:r>
              <a:rPr lang="en-ID" dirty="0"/>
              <a:t> </a:t>
            </a:r>
            <a:r>
              <a:rPr lang="en-ID" dirty="0" err="1"/>
              <a:t>nhằm</a:t>
            </a:r>
            <a:r>
              <a:rPr lang="en-ID" dirty="0"/>
              <a:t> </a:t>
            </a:r>
            <a:r>
              <a:rPr lang="en-ID" dirty="0" err="1"/>
              <a:t>khám</a:t>
            </a:r>
            <a:r>
              <a:rPr lang="en-ID" dirty="0"/>
              <a:t> </a:t>
            </a:r>
            <a:r>
              <a:rPr lang="en-ID" dirty="0" err="1"/>
              <a:t>phá</a:t>
            </a:r>
            <a:r>
              <a:rPr lang="en-ID" dirty="0"/>
              <a:t> </a:t>
            </a:r>
            <a:r>
              <a:rPr lang="en-ID" dirty="0" err="1"/>
              <a:t>các</a:t>
            </a:r>
            <a:r>
              <a:rPr lang="en-ID" dirty="0"/>
              <a:t> xu </a:t>
            </a:r>
            <a:r>
              <a:rPr lang="en-ID" dirty="0" err="1"/>
              <a:t>hướng</a:t>
            </a:r>
            <a:r>
              <a:rPr lang="en-ID" dirty="0"/>
              <a:t> </a:t>
            </a:r>
            <a:r>
              <a:rPr lang="en-ID" dirty="0" err="1"/>
              <a:t>ẩn</a:t>
            </a:r>
            <a:r>
              <a:rPr lang="en-ID" dirty="0"/>
              <a:t>, </a:t>
            </a:r>
            <a:r>
              <a:rPr lang="en-ID" dirty="0" err="1"/>
              <a:t>mô</a:t>
            </a:r>
            <a:r>
              <a:rPr lang="en-ID" dirty="0"/>
              <a:t> </a:t>
            </a:r>
            <a:r>
              <a:rPr lang="en-ID" dirty="0" err="1"/>
              <a:t>hình</a:t>
            </a:r>
            <a:r>
              <a:rPr lang="en-ID" dirty="0"/>
              <a:t> </a:t>
            </a:r>
            <a:r>
              <a:rPr lang="en-ID" dirty="0" err="1"/>
              <a:t>và</a:t>
            </a:r>
            <a:r>
              <a:rPr lang="en-ID" dirty="0"/>
              <a:t> </a:t>
            </a:r>
            <a:r>
              <a:rPr lang="en-ID" dirty="0" err="1"/>
              <a:t>thông</a:t>
            </a:r>
            <a:r>
              <a:rPr lang="en-ID" dirty="0"/>
              <a:t> tin </a:t>
            </a:r>
            <a:r>
              <a:rPr lang="en-ID" dirty="0" err="1"/>
              <a:t>giá</a:t>
            </a:r>
            <a:r>
              <a:rPr lang="en-ID" dirty="0"/>
              <a:t> </a:t>
            </a:r>
            <a:r>
              <a:rPr lang="en-ID" dirty="0" err="1"/>
              <a:t>trị</a:t>
            </a:r>
            <a:r>
              <a:rPr lang="en-ID" dirty="0"/>
              <a:t>. </a:t>
            </a:r>
            <a:r>
              <a:rPr lang="en-ID" dirty="0" err="1"/>
              <a:t>Nó</a:t>
            </a:r>
            <a:r>
              <a:rPr lang="en-ID" dirty="0"/>
              <a:t> </a:t>
            </a:r>
            <a:r>
              <a:rPr lang="en-ID" dirty="0" err="1"/>
              <a:t>giúp</a:t>
            </a:r>
            <a:r>
              <a:rPr lang="en-ID" dirty="0"/>
              <a:t> </a:t>
            </a:r>
            <a:r>
              <a:rPr lang="en-ID" dirty="0" err="1"/>
              <a:t>doanh</a:t>
            </a:r>
            <a:r>
              <a:rPr lang="en-ID" dirty="0"/>
              <a:t> </a:t>
            </a:r>
            <a:r>
              <a:rPr lang="en-ID" dirty="0" err="1"/>
              <a:t>nghiệp</a:t>
            </a:r>
            <a:r>
              <a:rPr lang="en-ID" dirty="0"/>
              <a:t> </a:t>
            </a:r>
            <a:r>
              <a:rPr lang="en-ID" dirty="0" err="1"/>
              <a:t>tối</a:t>
            </a:r>
            <a:r>
              <a:rPr lang="en-ID" dirty="0"/>
              <a:t> </a:t>
            </a:r>
            <a:r>
              <a:rPr lang="en-ID" dirty="0" err="1"/>
              <a:t>ưu</a:t>
            </a:r>
            <a:r>
              <a:rPr lang="en-ID" dirty="0"/>
              <a:t> </a:t>
            </a:r>
            <a:r>
              <a:rPr lang="en-ID" dirty="0" err="1"/>
              <a:t>hóa</a:t>
            </a:r>
            <a:r>
              <a:rPr lang="en-ID" dirty="0"/>
              <a:t> </a:t>
            </a:r>
            <a:r>
              <a:rPr lang="en-ID" dirty="0" err="1"/>
              <a:t>hoạt</a:t>
            </a:r>
            <a:r>
              <a:rPr lang="en-ID" dirty="0"/>
              <a:t> </a:t>
            </a:r>
            <a:r>
              <a:rPr lang="en-ID" dirty="0" err="1"/>
              <a:t>động</a:t>
            </a:r>
            <a:r>
              <a:rPr lang="en-ID" dirty="0"/>
              <a:t>, </a:t>
            </a:r>
            <a:r>
              <a:rPr lang="en-ID" dirty="0" err="1"/>
              <a:t>dự</a:t>
            </a:r>
            <a:r>
              <a:rPr lang="en-ID" dirty="0"/>
              <a:t> </a:t>
            </a:r>
            <a:r>
              <a:rPr lang="en-ID" dirty="0" err="1"/>
              <a:t>đoán</a:t>
            </a:r>
            <a:r>
              <a:rPr lang="en-ID" dirty="0"/>
              <a:t> </a:t>
            </a:r>
            <a:r>
              <a:rPr lang="en-ID" dirty="0" err="1"/>
              <a:t>thị</a:t>
            </a:r>
            <a:r>
              <a:rPr lang="en-ID" dirty="0"/>
              <a:t> </a:t>
            </a:r>
            <a:r>
              <a:rPr lang="en-ID" dirty="0" err="1"/>
              <a:t>trường</a:t>
            </a:r>
            <a:r>
              <a:rPr lang="en-ID" dirty="0"/>
              <a:t> </a:t>
            </a:r>
            <a:r>
              <a:rPr lang="en-ID" dirty="0" err="1"/>
              <a:t>và</a:t>
            </a:r>
            <a:r>
              <a:rPr lang="en-ID" dirty="0"/>
              <a:t> </a:t>
            </a:r>
            <a:r>
              <a:rPr lang="en-ID" dirty="0" err="1"/>
              <a:t>đưa</a:t>
            </a:r>
            <a:r>
              <a:rPr lang="en-ID" dirty="0"/>
              <a:t> </a:t>
            </a:r>
            <a:r>
              <a:rPr lang="en-ID" dirty="0" err="1"/>
              <a:t>ra</a:t>
            </a:r>
            <a:r>
              <a:rPr lang="en-ID" dirty="0"/>
              <a:t> </a:t>
            </a:r>
            <a:r>
              <a:rPr lang="en-ID" dirty="0" err="1"/>
              <a:t>các</a:t>
            </a:r>
            <a:r>
              <a:rPr lang="en-ID" dirty="0"/>
              <a:t> </a:t>
            </a:r>
            <a:r>
              <a:rPr lang="en-ID" dirty="0" err="1"/>
              <a:t>quyết</a:t>
            </a:r>
            <a:r>
              <a:rPr lang="en-ID" dirty="0"/>
              <a:t> </a:t>
            </a:r>
            <a:r>
              <a:rPr lang="en-ID" dirty="0" err="1"/>
              <a:t>định</a:t>
            </a:r>
            <a:r>
              <a:rPr lang="en-ID" dirty="0"/>
              <a:t> </a:t>
            </a:r>
            <a:r>
              <a:rPr lang="en-ID" dirty="0" err="1"/>
              <a:t>chính</a:t>
            </a:r>
            <a:r>
              <a:rPr lang="en-ID" dirty="0"/>
              <a:t> </a:t>
            </a:r>
            <a:r>
              <a:rPr lang="en-ID" dirty="0" err="1"/>
              <a:t>xác</a:t>
            </a:r>
            <a:r>
              <a:rPr lang="en-ID" dirty="0"/>
              <a:t>. Các </a:t>
            </a:r>
            <a:r>
              <a:rPr lang="en-ID" dirty="0" err="1"/>
              <a:t>loại</a:t>
            </a:r>
            <a:r>
              <a:rPr lang="en-ID" dirty="0"/>
              <a:t> </a:t>
            </a:r>
            <a:r>
              <a:rPr lang="en-ID" dirty="0" err="1"/>
              <a:t>hình</a:t>
            </a:r>
            <a:r>
              <a:rPr lang="en-ID" dirty="0"/>
              <a:t> </a:t>
            </a:r>
            <a:r>
              <a:rPr lang="en-ID" dirty="0" err="1"/>
              <a:t>phân</a:t>
            </a:r>
            <a:r>
              <a:rPr lang="en-ID" dirty="0"/>
              <a:t> </a:t>
            </a:r>
            <a:r>
              <a:rPr lang="en-ID" dirty="0" err="1"/>
              <a:t>tích</a:t>
            </a:r>
            <a:r>
              <a:rPr lang="en-ID" dirty="0"/>
              <a:t> </a:t>
            </a:r>
            <a:r>
              <a:rPr lang="en-ID" dirty="0" err="1"/>
              <a:t>chính</a:t>
            </a:r>
            <a:r>
              <a:rPr lang="en-ID" dirty="0"/>
              <a:t> bao </a:t>
            </a:r>
            <a:r>
              <a:rPr lang="en-ID" dirty="0" err="1"/>
              <a:t>gồm</a:t>
            </a:r>
            <a:r>
              <a:rPr lang="en-ID" dirty="0"/>
              <a:t>:</a:t>
            </a:r>
          </a:p>
          <a:p>
            <a:pPr marL="285750" indent="-285750" fontAlgn="base">
              <a:buFont typeface="Arial" panose="020B0604020202020204" pitchFamily="34" charset="0"/>
              <a:buChar char="•"/>
            </a:pPr>
            <a:r>
              <a:rPr lang="en-ID" dirty="0" err="1"/>
              <a:t>Phân</a:t>
            </a:r>
            <a:r>
              <a:rPr lang="en-ID" dirty="0"/>
              <a:t> </a:t>
            </a:r>
            <a:r>
              <a:rPr lang="en-ID" dirty="0" err="1"/>
              <a:t>tích</a:t>
            </a:r>
            <a:r>
              <a:rPr lang="en-ID" dirty="0"/>
              <a:t> </a:t>
            </a:r>
            <a:r>
              <a:rPr lang="en-ID" dirty="0" err="1"/>
              <a:t>mô</a:t>
            </a:r>
            <a:r>
              <a:rPr lang="en-ID" dirty="0"/>
              <a:t> </a:t>
            </a:r>
            <a:r>
              <a:rPr lang="en-ID" dirty="0" err="1"/>
              <a:t>tả</a:t>
            </a:r>
            <a:r>
              <a:rPr lang="en-ID" dirty="0"/>
              <a:t> (Descriptive)</a:t>
            </a:r>
          </a:p>
          <a:p>
            <a:pPr marL="285750" indent="-285750" fontAlgn="base">
              <a:buFont typeface="Arial" panose="020B0604020202020204" pitchFamily="34" charset="0"/>
              <a:buChar char="•"/>
            </a:pPr>
            <a:r>
              <a:rPr lang="en-ID" dirty="0" err="1"/>
              <a:t>Phân</a:t>
            </a:r>
            <a:r>
              <a:rPr lang="en-ID" dirty="0"/>
              <a:t> </a:t>
            </a:r>
            <a:r>
              <a:rPr lang="en-ID" dirty="0" err="1"/>
              <a:t>tích</a:t>
            </a:r>
            <a:r>
              <a:rPr lang="en-ID" dirty="0"/>
              <a:t> </a:t>
            </a:r>
            <a:r>
              <a:rPr lang="en-ID" dirty="0" err="1"/>
              <a:t>chẩn</a:t>
            </a:r>
            <a:r>
              <a:rPr lang="en-ID" dirty="0"/>
              <a:t> </a:t>
            </a:r>
            <a:r>
              <a:rPr lang="en-ID" dirty="0" err="1"/>
              <a:t>đoán</a:t>
            </a:r>
            <a:r>
              <a:rPr lang="en-ID" dirty="0"/>
              <a:t> (Diagnostic)</a:t>
            </a:r>
          </a:p>
          <a:p>
            <a:pPr marL="285750" indent="-285750" fontAlgn="base">
              <a:buFont typeface="Arial" panose="020B0604020202020204" pitchFamily="34" charset="0"/>
              <a:buChar char="•"/>
            </a:pPr>
            <a:r>
              <a:rPr lang="en-ID" dirty="0" err="1"/>
              <a:t>Phân</a:t>
            </a:r>
            <a:r>
              <a:rPr lang="en-ID" dirty="0"/>
              <a:t> </a:t>
            </a:r>
            <a:r>
              <a:rPr lang="en-ID" dirty="0" err="1"/>
              <a:t>tích</a:t>
            </a:r>
            <a:r>
              <a:rPr lang="en-ID" dirty="0"/>
              <a:t> </a:t>
            </a:r>
            <a:r>
              <a:rPr lang="en-ID" dirty="0" err="1"/>
              <a:t>dữ</a:t>
            </a:r>
            <a:r>
              <a:rPr lang="en-ID" dirty="0"/>
              <a:t> </a:t>
            </a:r>
            <a:r>
              <a:rPr lang="en-ID" dirty="0" err="1"/>
              <a:t>đoán</a:t>
            </a:r>
            <a:r>
              <a:rPr lang="en-ID" dirty="0"/>
              <a:t> (Predictive)</a:t>
            </a:r>
          </a:p>
          <a:p>
            <a:pPr marL="285750" indent="-285750" fontAlgn="base">
              <a:buFont typeface="Arial" panose="020B0604020202020204" pitchFamily="34" charset="0"/>
              <a:buChar char="•"/>
            </a:pPr>
            <a:r>
              <a:rPr lang="en-ID" dirty="0" err="1"/>
              <a:t>Phân</a:t>
            </a:r>
            <a:r>
              <a:rPr lang="en-ID" dirty="0"/>
              <a:t> </a:t>
            </a:r>
            <a:r>
              <a:rPr lang="en-ID" dirty="0" err="1"/>
              <a:t>tích</a:t>
            </a:r>
            <a:r>
              <a:rPr lang="en-ID" dirty="0"/>
              <a:t> </a:t>
            </a:r>
            <a:r>
              <a:rPr lang="en-ID" dirty="0" err="1"/>
              <a:t>đề</a:t>
            </a:r>
            <a:r>
              <a:rPr lang="en-ID" dirty="0"/>
              <a:t> </a:t>
            </a:r>
            <a:r>
              <a:rPr lang="en-ID" dirty="0" err="1"/>
              <a:t>xuất</a:t>
            </a:r>
            <a:r>
              <a:rPr lang="en-ID" dirty="0"/>
              <a:t> (Prescriptive)</a:t>
            </a:r>
          </a:p>
        </p:txBody>
      </p:sp>
      <p:pic>
        <p:nvPicPr>
          <p:cNvPr id="5" name="Picture 4">
            <a:extLst>
              <a:ext uri="{FF2B5EF4-FFF2-40B4-BE49-F238E27FC236}">
                <a16:creationId xmlns:a16="http://schemas.microsoft.com/office/drawing/2014/main" id="{E1A6E38A-33C9-C107-95AB-266C6E7DA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7229" y="1965960"/>
            <a:ext cx="4822716" cy="4195763"/>
          </a:xfrm>
          <a:prstGeom prst="rect">
            <a:avLst/>
          </a:prstGeom>
          <a:noFill/>
        </p:spPr>
      </p:pic>
    </p:spTree>
    <p:extLst>
      <p:ext uri="{BB962C8B-B14F-4D97-AF65-F5344CB8AC3E}">
        <p14:creationId xmlns:p14="http://schemas.microsoft.com/office/powerpoint/2010/main" val="3857394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DA647-B27C-2C75-574A-E30BB8062CB0}"/>
              </a:ext>
            </a:extLst>
          </p:cNvPr>
          <p:cNvSpPr>
            <a:spLocks noGrp="1"/>
          </p:cNvSpPr>
          <p:nvPr>
            <p:ph type="title"/>
          </p:nvPr>
        </p:nvSpPr>
        <p:spPr/>
        <p:txBody>
          <a:bodyPr/>
          <a:lstStyle/>
          <a:p>
            <a:r>
              <a:rPr lang="en-US" dirty="0"/>
              <a:t>Data visualization</a:t>
            </a:r>
            <a:endParaRPr lang="en-ID" dirty="0"/>
          </a:p>
        </p:txBody>
      </p:sp>
      <p:sp>
        <p:nvSpPr>
          <p:cNvPr id="5" name="Content Placeholder 4">
            <a:extLst>
              <a:ext uri="{FF2B5EF4-FFF2-40B4-BE49-F238E27FC236}">
                <a16:creationId xmlns:a16="http://schemas.microsoft.com/office/drawing/2014/main" id="{34D09BB9-6F48-F629-AC15-141006D3789C}"/>
              </a:ext>
            </a:extLst>
          </p:cNvPr>
          <p:cNvSpPr>
            <a:spLocks noGrp="1"/>
          </p:cNvSpPr>
          <p:nvPr>
            <p:ph idx="1"/>
          </p:nvPr>
        </p:nvSpPr>
        <p:spPr/>
        <p:txBody>
          <a:bodyPr/>
          <a:lstStyle/>
          <a:p>
            <a:r>
              <a:rPr lang="en-ID" dirty="0"/>
              <a:t>Data Visualization </a:t>
            </a:r>
            <a:r>
              <a:rPr lang="en-ID" dirty="0" err="1"/>
              <a:t>trong</a:t>
            </a:r>
            <a:r>
              <a:rPr lang="en-ID" dirty="0"/>
              <a:t> Big Data </a:t>
            </a:r>
            <a:r>
              <a:rPr lang="en-ID" dirty="0" err="1"/>
              <a:t>là</a:t>
            </a:r>
            <a:r>
              <a:rPr lang="en-ID" dirty="0"/>
              <a:t> </a:t>
            </a:r>
            <a:r>
              <a:rPr lang="en-ID" dirty="0" err="1"/>
              <a:t>quá</a:t>
            </a:r>
            <a:r>
              <a:rPr lang="en-ID" dirty="0"/>
              <a:t> </a:t>
            </a:r>
            <a:r>
              <a:rPr lang="en-ID" dirty="0" err="1"/>
              <a:t>trình</a:t>
            </a:r>
            <a:r>
              <a:rPr lang="en-ID" dirty="0"/>
              <a:t> </a:t>
            </a:r>
            <a:r>
              <a:rPr lang="en-ID" dirty="0" err="1"/>
              <a:t>chuyển</a:t>
            </a:r>
            <a:r>
              <a:rPr lang="en-ID" dirty="0"/>
              <a:t> </a:t>
            </a:r>
            <a:r>
              <a:rPr lang="en-ID" dirty="0" err="1"/>
              <a:t>đổi</a:t>
            </a:r>
            <a:r>
              <a:rPr lang="en-ID" dirty="0"/>
              <a:t> </a:t>
            </a:r>
            <a:r>
              <a:rPr lang="en-ID" dirty="0" err="1"/>
              <a:t>các</a:t>
            </a:r>
            <a:r>
              <a:rPr lang="en-ID" dirty="0"/>
              <a:t> </a:t>
            </a:r>
            <a:r>
              <a:rPr lang="en-ID" dirty="0" err="1"/>
              <a:t>tập</a:t>
            </a:r>
            <a:r>
              <a:rPr lang="en-ID" dirty="0"/>
              <a:t> </a:t>
            </a:r>
            <a:r>
              <a:rPr lang="en-ID" dirty="0" err="1"/>
              <a:t>dữ</a:t>
            </a:r>
            <a:r>
              <a:rPr lang="en-ID" dirty="0"/>
              <a:t> </a:t>
            </a:r>
            <a:r>
              <a:rPr lang="en-ID" dirty="0" err="1"/>
              <a:t>liệu</a:t>
            </a:r>
            <a:r>
              <a:rPr lang="en-ID" dirty="0"/>
              <a:t> </a:t>
            </a:r>
            <a:r>
              <a:rPr lang="en-ID" dirty="0" err="1"/>
              <a:t>khổng</a:t>
            </a:r>
            <a:r>
              <a:rPr lang="en-ID" dirty="0"/>
              <a:t> </a:t>
            </a:r>
            <a:r>
              <a:rPr lang="en-ID" dirty="0" err="1"/>
              <a:t>lồ</a:t>
            </a:r>
            <a:r>
              <a:rPr lang="en-ID" dirty="0"/>
              <a:t> (Volume) </a:t>
            </a:r>
            <a:r>
              <a:rPr lang="en-ID" dirty="0" err="1"/>
              <a:t>và</a:t>
            </a:r>
            <a:r>
              <a:rPr lang="en-ID" dirty="0"/>
              <a:t> </a:t>
            </a:r>
            <a:r>
              <a:rPr lang="en-ID" dirty="0" err="1"/>
              <a:t>đa</a:t>
            </a:r>
            <a:r>
              <a:rPr lang="en-ID" dirty="0"/>
              <a:t> </a:t>
            </a:r>
            <a:r>
              <a:rPr lang="en-ID" dirty="0" err="1"/>
              <a:t>dạng</a:t>
            </a:r>
            <a:r>
              <a:rPr lang="en-ID" dirty="0"/>
              <a:t> (Variety) </a:t>
            </a:r>
            <a:r>
              <a:rPr lang="en-ID" dirty="0" err="1"/>
              <a:t>thành</a:t>
            </a:r>
            <a:r>
              <a:rPr lang="en-ID" dirty="0"/>
              <a:t> </a:t>
            </a:r>
            <a:r>
              <a:rPr lang="en-ID" dirty="0" err="1"/>
              <a:t>các</a:t>
            </a:r>
            <a:r>
              <a:rPr lang="en-ID" dirty="0"/>
              <a:t> </a:t>
            </a:r>
            <a:r>
              <a:rPr lang="en-ID" dirty="0" err="1"/>
              <a:t>dạng</a:t>
            </a:r>
            <a:r>
              <a:rPr lang="en-ID" dirty="0"/>
              <a:t> </a:t>
            </a:r>
            <a:r>
              <a:rPr lang="en-ID" dirty="0" err="1"/>
              <a:t>trực</a:t>
            </a:r>
            <a:r>
              <a:rPr lang="en-ID" dirty="0"/>
              <a:t> </a:t>
            </a:r>
            <a:r>
              <a:rPr lang="en-ID" dirty="0" err="1"/>
              <a:t>quan</a:t>
            </a:r>
            <a:r>
              <a:rPr lang="en-ID" dirty="0"/>
              <a:t> </a:t>
            </a:r>
            <a:r>
              <a:rPr lang="en-ID" dirty="0" err="1"/>
              <a:t>như</a:t>
            </a:r>
            <a:r>
              <a:rPr lang="en-ID" dirty="0"/>
              <a:t> </a:t>
            </a:r>
            <a:r>
              <a:rPr lang="en-ID" dirty="0" err="1"/>
              <a:t>biểu</a:t>
            </a:r>
            <a:r>
              <a:rPr lang="en-ID" dirty="0"/>
              <a:t> </a:t>
            </a:r>
            <a:r>
              <a:rPr lang="en-ID" dirty="0" err="1"/>
              <a:t>đồ</a:t>
            </a:r>
            <a:r>
              <a:rPr lang="en-ID" dirty="0"/>
              <a:t>, </a:t>
            </a:r>
            <a:r>
              <a:rPr lang="en-ID" dirty="0" err="1"/>
              <a:t>bản</a:t>
            </a:r>
            <a:r>
              <a:rPr lang="en-ID" dirty="0"/>
              <a:t> </a:t>
            </a:r>
            <a:r>
              <a:rPr lang="en-ID" dirty="0" err="1"/>
              <a:t>đồ</a:t>
            </a:r>
            <a:r>
              <a:rPr lang="en-ID" dirty="0"/>
              <a:t> </a:t>
            </a:r>
            <a:r>
              <a:rPr lang="en-ID" dirty="0" err="1"/>
              <a:t>hoặc</a:t>
            </a:r>
            <a:r>
              <a:rPr lang="en-ID" dirty="0"/>
              <a:t> dashboard. </a:t>
            </a:r>
            <a:r>
              <a:rPr lang="en-ID" dirty="0" err="1"/>
              <a:t>Đây</a:t>
            </a:r>
            <a:r>
              <a:rPr lang="en-ID" dirty="0"/>
              <a:t> </a:t>
            </a:r>
            <a:r>
              <a:rPr lang="en-ID" dirty="0" err="1"/>
              <a:t>là</a:t>
            </a:r>
            <a:r>
              <a:rPr lang="en-ID" dirty="0"/>
              <a:t> </a:t>
            </a:r>
            <a:r>
              <a:rPr lang="en-ID" dirty="0" err="1"/>
              <a:t>bước</a:t>
            </a:r>
            <a:r>
              <a:rPr lang="en-ID" dirty="0"/>
              <a:t> then </a:t>
            </a:r>
            <a:r>
              <a:rPr lang="en-ID" dirty="0" err="1"/>
              <a:t>chốt</a:t>
            </a:r>
            <a:r>
              <a:rPr lang="en-ID" dirty="0"/>
              <a:t> </a:t>
            </a:r>
            <a:r>
              <a:rPr lang="en-ID" dirty="0" err="1"/>
              <a:t>giúp</a:t>
            </a:r>
            <a:r>
              <a:rPr lang="en-ID" dirty="0"/>
              <a:t> </a:t>
            </a:r>
            <a:r>
              <a:rPr lang="en-ID" dirty="0" err="1"/>
              <a:t>doanh</a:t>
            </a:r>
            <a:r>
              <a:rPr lang="en-ID" dirty="0"/>
              <a:t> </a:t>
            </a:r>
            <a:r>
              <a:rPr lang="en-ID" dirty="0" err="1"/>
              <a:t>nghiệp</a:t>
            </a:r>
            <a:r>
              <a:rPr lang="en-ID" dirty="0"/>
              <a:t> </a:t>
            </a:r>
            <a:r>
              <a:rPr lang="en-ID" dirty="0" err="1"/>
              <a:t>hiểu</a:t>
            </a:r>
            <a:r>
              <a:rPr lang="en-ID" dirty="0"/>
              <a:t> </a:t>
            </a:r>
            <a:r>
              <a:rPr lang="en-ID" dirty="0" err="1"/>
              <a:t>được</a:t>
            </a:r>
            <a:r>
              <a:rPr lang="en-ID" dirty="0"/>
              <a:t> </a:t>
            </a:r>
            <a:r>
              <a:rPr lang="en-ID" dirty="0" err="1"/>
              <a:t>dữ</a:t>
            </a:r>
            <a:r>
              <a:rPr lang="en-ID" dirty="0"/>
              <a:t> </a:t>
            </a:r>
            <a:r>
              <a:rPr lang="en-ID" dirty="0" err="1"/>
              <a:t>liệu</a:t>
            </a:r>
            <a:r>
              <a:rPr lang="en-ID" dirty="0"/>
              <a:t>, </a:t>
            </a:r>
            <a:r>
              <a:rPr lang="en-ID" dirty="0" err="1"/>
              <a:t>phát</a:t>
            </a:r>
            <a:r>
              <a:rPr lang="en-ID" dirty="0"/>
              <a:t> </a:t>
            </a:r>
            <a:r>
              <a:rPr lang="en-ID" dirty="0" err="1"/>
              <a:t>hiện</a:t>
            </a:r>
            <a:r>
              <a:rPr lang="en-ID" dirty="0"/>
              <a:t> </a:t>
            </a:r>
            <a:r>
              <a:rPr lang="en-ID" dirty="0" err="1"/>
              <a:t>các</a:t>
            </a:r>
            <a:r>
              <a:rPr lang="en-ID" dirty="0"/>
              <a:t> xu </a:t>
            </a:r>
            <a:r>
              <a:rPr lang="en-ID" dirty="0" err="1"/>
              <a:t>hướng</a:t>
            </a:r>
            <a:r>
              <a:rPr lang="en-ID" dirty="0"/>
              <a:t> </a:t>
            </a:r>
            <a:r>
              <a:rPr lang="en-ID" dirty="0" err="1"/>
              <a:t>ẩn</a:t>
            </a:r>
            <a:r>
              <a:rPr lang="en-ID" dirty="0"/>
              <a:t> </a:t>
            </a:r>
            <a:r>
              <a:rPr lang="en-ID" dirty="0" err="1"/>
              <a:t>giấu</a:t>
            </a:r>
            <a:r>
              <a:rPr lang="en-ID" dirty="0"/>
              <a:t> </a:t>
            </a:r>
            <a:r>
              <a:rPr lang="en-ID" dirty="0" err="1"/>
              <a:t>và</a:t>
            </a:r>
            <a:r>
              <a:rPr lang="en-ID" dirty="0"/>
              <a:t> </a:t>
            </a:r>
            <a:r>
              <a:rPr lang="en-ID" dirty="0" err="1"/>
              <a:t>đưa</a:t>
            </a:r>
            <a:r>
              <a:rPr lang="en-ID" dirty="0"/>
              <a:t> </a:t>
            </a:r>
            <a:r>
              <a:rPr lang="en-ID" dirty="0" err="1"/>
              <a:t>ra</a:t>
            </a:r>
            <a:r>
              <a:rPr lang="en-ID" dirty="0"/>
              <a:t> </a:t>
            </a:r>
            <a:r>
              <a:rPr lang="en-ID" dirty="0" err="1"/>
              <a:t>quyết</a:t>
            </a:r>
            <a:r>
              <a:rPr lang="en-ID" dirty="0"/>
              <a:t> </a:t>
            </a:r>
            <a:r>
              <a:rPr lang="en-ID" dirty="0" err="1"/>
              <a:t>định</a:t>
            </a:r>
            <a:r>
              <a:rPr lang="en-ID" dirty="0"/>
              <a:t> </a:t>
            </a:r>
            <a:r>
              <a:rPr lang="en-ID" dirty="0" err="1"/>
              <a:t>nhanh</a:t>
            </a:r>
            <a:r>
              <a:rPr lang="en-ID" dirty="0"/>
              <a:t> </a:t>
            </a:r>
            <a:r>
              <a:rPr lang="en-ID" dirty="0" err="1"/>
              <a:t>chóng</a:t>
            </a:r>
            <a:r>
              <a:rPr lang="en-ID" dirty="0"/>
              <a:t>.</a:t>
            </a:r>
          </a:p>
        </p:txBody>
      </p:sp>
      <p:pic>
        <p:nvPicPr>
          <p:cNvPr id="7" name="Picture 6">
            <a:extLst>
              <a:ext uri="{FF2B5EF4-FFF2-40B4-BE49-F238E27FC236}">
                <a16:creationId xmlns:a16="http://schemas.microsoft.com/office/drawing/2014/main" id="{3258FA0C-625F-93A9-53E2-644B76880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1725" y="2819400"/>
            <a:ext cx="5905500" cy="3352800"/>
          </a:xfrm>
          <a:prstGeom prst="rect">
            <a:avLst/>
          </a:prstGeom>
        </p:spPr>
      </p:pic>
    </p:spTree>
    <p:extLst>
      <p:ext uri="{BB962C8B-B14F-4D97-AF65-F5344CB8AC3E}">
        <p14:creationId xmlns:p14="http://schemas.microsoft.com/office/powerpoint/2010/main" val="2648559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A593A-0D2A-3903-779A-F843AACFF51A}"/>
              </a:ext>
            </a:extLst>
          </p:cNvPr>
          <p:cNvSpPr>
            <a:spLocks noGrp="1"/>
          </p:cNvSpPr>
          <p:nvPr>
            <p:ph type="title"/>
          </p:nvPr>
        </p:nvSpPr>
        <p:spPr/>
        <p:txBody>
          <a:bodyPr/>
          <a:lstStyle/>
          <a:p>
            <a:r>
              <a:rPr lang="en-US" dirty="0"/>
              <a:t>Structured Data</a:t>
            </a:r>
            <a:endParaRPr lang="en-ID" dirty="0"/>
          </a:p>
        </p:txBody>
      </p:sp>
      <p:sp>
        <p:nvSpPr>
          <p:cNvPr id="3" name="Content Placeholder 2">
            <a:extLst>
              <a:ext uri="{FF2B5EF4-FFF2-40B4-BE49-F238E27FC236}">
                <a16:creationId xmlns:a16="http://schemas.microsoft.com/office/drawing/2014/main" id="{48DCDB1E-06BB-0A20-7214-C5B4A89F0677}"/>
              </a:ext>
            </a:extLst>
          </p:cNvPr>
          <p:cNvSpPr>
            <a:spLocks noGrp="1"/>
          </p:cNvSpPr>
          <p:nvPr>
            <p:ph idx="1"/>
          </p:nvPr>
        </p:nvSpPr>
        <p:spPr/>
        <p:txBody>
          <a:bodyPr/>
          <a:lstStyle/>
          <a:p>
            <a:r>
              <a:rPr lang="vi-VN" dirty="0"/>
              <a:t>Structured Data (Dữ liệu có cấu trúc) là loại dữ liệu được tổ chức theo các mô hình hoặc khuôn mẫu định sẵn, thường được lưu trữ dưới dạng bảng gồm các hàng và cột. Nó tuân thủ các lược đồ (schema) rõ ràng, giúp cả con người và máy tính dễ dàng truy xuất, tìm kiếm và phân tích.</a:t>
            </a:r>
            <a:endParaRPr lang="en-ID" dirty="0"/>
          </a:p>
        </p:txBody>
      </p:sp>
      <p:pic>
        <p:nvPicPr>
          <p:cNvPr id="5" name="Picture 4">
            <a:extLst>
              <a:ext uri="{FF2B5EF4-FFF2-40B4-BE49-F238E27FC236}">
                <a16:creationId xmlns:a16="http://schemas.microsoft.com/office/drawing/2014/main" id="{9CAEC540-B424-32DA-A7CE-0ED086D5E0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3390" y="2514600"/>
            <a:ext cx="7022170" cy="3992165"/>
          </a:xfrm>
          <a:prstGeom prst="rect">
            <a:avLst/>
          </a:prstGeom>
        </p:spPr>
      </p:pic>
    </p:spTree>
    <p:extLst>
      <p:ext uri="{BB962C8B-B14F-4D97-AF65-F5344CB8AC3E}">
        <p14:creationId xmlns:p14="http://schemas.microsoft.com/office/powerpoint/2010/main" val="2193683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2F755-84F3-E437-004E-20CD18EDC032}"/>
              </a:ext>
            </a:extLst>
          </p:cNvPr>
          <p:cNvSpPr>
            <a:spLocks noGrp="1"/>
          </p:cNvSpPr>
          <p:nvPr>
            <p:ph type="title"/>
          </p:nvPr>
        </p:nvSpPr>
        <p:spPr/>
        <p:txBody>
          <a:bodyPr/>
          <a:lstStyle/>
          <a:p>
            <a:r>
              <a:rPr lang="en-US" dirty="0"/>
              <a:t>Semi-structured data</a:t>
            </a:r>
            <a:endParaRPr lang="en-ID" dirty="0"/>
          </a:p>
        </p:txBody>
      </p:sp>
      <p:sp>
        <p:nvSpPr>
          <p:cNvPr id="3" name="Content Placeholder 2">
            <a:extLst>
              <a:ext uri="{FF2B5EF4-FFF2-40B4-BE49-F238E27FC236}">
                <a16:creationId xmlns:a16="http://schemas.microsoft.com/office/drawing/2014/main" id="{0F0C1B59-F2CA-30FE-E3F0-779B6DA26EDB}"/>
              </a:ext>
            </a:extLst>
          </p:cNvPr>
          <p:cNvSpPr>
            <a:spLocks noGrp="1"/>
          </p:cNvSpPr>
          <p:nvPr>
            <p:ph idx="1"/>
          </p:nvPr>
        </p:nvSpPr>
        <p:spPr>
          <a:xfrm>
            <a:off x="7568184" y="3065295"/>
            <a:ext cx="4032503" cy="1447800"/>
          </a:xfrm>
        </p:spPr>
        <p:txBody>
          <a:bodyPr/>
          <a:lstStyle/>
          <a:p>
            <a:r>
              <a:rPr lang="en-ID" dirty="0"/>
              <a:t>Semi-structured Data (</a:t>
            </a:r>
            <a:r>
              <a:rPr lang="en-ID" dirty="0" err="1"/>
              <a:t>Dữ</a:t>
            </a:r>
            <a:r>
              <a:rPr lang="en-ID" dirty="0"/>
              <a:t> </a:t>
            </a:r>
            <a:r>
              <a:rPr lang="en-ID" dirty="0" err="1"/>
              <a:t>liệu</a:t>
            </a:r>
            <a:r>
              <a:rPr lang="en-ID" dirty="0"/>
              <a:t> </a:t>
            </a:r>
            <a:r>
              <a:rPr lang="en-ID" dirty="0" err="1"/>
              <a:t>bán</a:t>
            </a:r>
            <a:r>
              <a:rPr lang="en-ID" dirty="0"/>
              <a:t> </a:t>
            </a:r>
            <a:r>
              <a:rPr lang="en-ID" dirty="0" err="1"/>
              <a:t>cấu</a:t>
            </a:r>
            <a:r>
              <a:rPr lang="en-ID" dirty="0"/>
              <a:t> </a:t>
            </a:r>
            <a:r>
              <a:rPr lang="en-ID" dirty="0" err="1"/>
              <a:t>trúc</a:t>
            </a:r>
            <a:r>
              <a:rPr lang="en-ID" dirty="0"/>
              <a:t>) </a:t>
            </a:r>
            <a:r>
              <a:rPr lang="en-ID" dirty="0" err="1"/>
              <a:t>là</a:t>
            </a:r>
            <a:r>
              <a:rPr lang="en-ID" dirty="0"/>
              <a:t> </a:t>
            </a:r>
            <a:r>
              <a:rPr lang="en-ID" dirty="0" err="1"/>
              <a:t>dạng</a:t>
            </a:r>
            <a:r>
              <a:rPr lang="en-ID" dirty="0"/>
              <a:t> </a:t>
            </a:r>
            <a:r>
              <a:rPr lang="en-ID" dirty="0" err="1"/>
              <a:t>dữ</a:t>
            </a:r>
            <a:r>
              <a:rPr lang="en-ID" dirty="0"/>
              <a:t> </a:t>
            </a:r>
            <a:r>
              <a:rPr lang="en-ID" dirty="0" err="1"/>
              <a:t>liệu</a:t>
            </a:r>
            <a:r>
              <a:rPr lang="en-ID" dirty="0"/>
              <a:t> </a:t>
            </a:r>
            <a:r>
              <a:rPr lang="en-ID" dirty="0" err="1"/>
              <a:t>có</a:t>
            </a:r>
            <a:r>
              <a:rPr lang="en-ID" dirty="0"/>
              <a:t> </a:t>
            </a:r>
            <a:r>
              <a:rPr lang="en-ID" dirty="0" err="1"/>
              <a:t>tổ</a:t>
            </a:r>
            <a:r>
              <a:rPr lang="en-ID" dirty="0"/>
              <a:t> </a:t>
            </a:r>
            <a:r>
              <a:rPr lang="en-ID" dirty="0" err="1"/>
              <a:t>chức</a:t>
            </a:r>
            <a:r>
              <a:rPr lang="en-ID" dirty="0"/>
              <a:t> </a:t>
            </a:r>
            <a:r>
              <a:rPr lang="en-ID" dirty="0" err="1"/>
              <a:t>nhưng</a:t>
            </a:r>
            <a:r>
              <a:rPr lang="en-ID" dirty="0"/>
              <a:t> </a:t>
            </a:r>
            <a:r>
              <a:rPr lang="en-ID" dirty="0" err="1"/>
              <a:t>không</a:t>
            </a:r>
            <a:r>
              <a:rPr lang="en-ID" dirty="0"/>
              <a:t> </a:t>
            </a:r>
            <a:r>
              <a:rPr lang="en-ID" dirty="0" err="1"/>
              <a:t>tuân</a:t>
            </a:r>
            <a:r>
              <a:rPr lang="en-ID" dirty="0"/>
              <a:t> </a:t>
            </a:r>
            <a:r>
              <a:rPr lang="en-ID" dirty="0" err="1"/>
              <a:t>theo</a:t>
            </a:r>
            <a:r>
              <a:rPr lang="en-ID" dirty="0"/>
              <a:t> </a:t>
            </a:r>
            <a:r>
              <a:rPr lang="en-ID" dirty="0" err="1"/>
              <a:t>một</a:t>
            </a:r>
            <a:r>
              <a:rPr lang="en-ID" dirty="0"/>
              <a:t> </a:t>
            </a:r>
            <a:r>
              <a:rPr lang="en-ID" dirty="0" err="1"/>
              <a:t>khuôn</a:t>
            </a:r>
            <a:r>
              <a:rPr lang="en-ID" dirty="0"/>
              <a:t> </a:t>
            </a:r>
            <a:r>
              <a:rPr lang="en-ID" dirty="0" err="1"/>
              <a:t>mẫu</a:t>
            </a:r>
            <a:r>
              <a:rPr lang="en-ID" dirty="0"/>
              <a:t> </a:t>
            </a:r>
            <a:r>
              <a:rPr lang="en-ID" dirty="0" err="1"/>
              <a:t>bảng</a:t>
            </a:r>
            <a:r>
              <a:rPr lang="en-ID" dirty="0"/>
              <a:t> </a:t>
            </a:r>
            <a:r>
              <a:rPr lang="en-ID" dirty="0" err="1"/>
              <a:t>cứng</a:t>
            </a:r>
            <a:r>
              <a:rPr lang="en-ID" dirty="0"/>
              <a:t> </a:t>
            </a:r>
            <a:r>
              <a:rPr lang="en-ID" dirty="0" err="1"/>
              <a:t>nhắc</a:t>
            </a:r>
            <a:r>
              <a:rPr lang="en-ID" dirty="0"/>
              <a:t> </a:t>
            </a:r>
            <a:r>
              <a:rPr lang="en-ID" dirty="0" err="1"/>
              <a:t>như</a:t>
            </a:r>
            <a:r>
              <a:rPr lang="en-ID" dirty="0"/>
              <a:t> RDBMS. Thay </a:t>
            </a:r>
            <a:r>
              <a:rPr lang="en-ID" dirty="0" err="1"/>
              <a:t>vì</a:t>
            </a:r>
            <a:r>
              <a:rPr lang="en-ID" dirty="0"/>
              <a:t> </a:t>
            </a:r>
            <a:r>
              <a:rPr lang="en-ID" dirty="0" err="1"/>
              <a:t>dùng</a:t>
            </a:r>
            <a:r>
              <a:rPr lang="en-ID" dirty="0"/>
              <a:t> </a:t>
            </a:r>
            <a:r>
              <a:rPr lang="en-ID" dirty="0" err="1"/>
              <a:t>hàng</a:t>
            </a:r>
            <a:r>
              <a:rPr lang="en-ID" dirty="0"/>
              <a:t> </a:t>
            </a:r>
            <a:r>
              <a:rPr lang="en-ID" dirty="0" err="1"/>
              <a:t>và</a:t>
            </a:r>
            <a:r>
              <a:rPr lang="en-ID" dirty="0"/>
              <a:t> </a:t>
            </a:r>
            <a:r>
              <a:rPr lang="en-ID" dirty="0" err="1"/>
              <a:t>cột</a:t>
            </a:r>
            <a:r>
              <a:rPr lang="en-ID" dirty="0"/>
              <a:t>, </a:t>
            </a:r>
            <a:r>
              <a:rPr lang="en-ID" dirty="0" err="1"/>
              <a:t>dữ</a:t>
            </a:r>
            <a:r>
              <a:rPr lang="en-ID" dirty="0"/>
              <a:t> </a:t>
            </a:r>
            <a:r>
              <a:rPr lang="en-ID" dirty="0" err="1"/>
              <a:t>liệu</a:t>
            </a:r>
            <a:r>
              <a:rPr lang="en-ID" dirty="0"/>
              <a:t> </a:t>
            </a:r>
            <a:r>
              <a:rPr lang="en-ID" dirty="0" err="1"/>
              <a:t>này</a:t>
            </a:r>
            <a:r>
              <a:rPr lang="en-ID" dirty="0"/>
              <a:t> </a:t>
            </a:r>
            <a:r>
              <a:rPr lang="en-ID" dirty="0" err="1"/>
              <a:t>thường</a:t>
            </a:r>
            <a:r>
              <a:rPr lang="en-ID" dirty="0"/>
              <a:t> </a:t>
            </a:r>
            <a:r>
              <a:rPr lang="en-ID" dirty="0" err="1"/>
              <a:t>được</a:t>
            </a:r>
            <a:r>
              <a:rPr lang="en-ID" dirty="0"/>
              <a:t> </a:t>
            </a:r>
            <a:r>
              <a:rPr lang="en-ID" dirty="0" err="1"/>
              <a:t>lưu</a:t>
            </a:r>
            <a:r>
              <a:rPr lang="en-ID" dirty="0"/>
              <a:t> </a:t>
            </a:r>
            <a:r>
              <a:rPr lang="en-ID" dirty="0" err="1"/>
              <a:t>trữ</a:t>
            </a:r>
            <a:r>
              <a:rPr lang="en-ID" dirty="0"/>
              <a:t> </a:t>
            </a:r>
            <a:r>
              <a:rPr lang="en-ID" dirty="0" err="1"/>
              <a:t>dưới</a:t>
            </a:r>
            <a:r>
              <a:rPr lang="en-ID" dirty="0"/>
              <a:t> </a:t>
            </a:r>
            <a:r>
              <a:rPr lang="en-ID" dirty="0" err="1"/>
              <a:t>dạng</a:t>
            </a:r>
            <a:r>
              <a:rPr lang="en-ID" dirty="0"/>
              <a:t> </a:t>
            </a:r>
            <a:r>
              <a:rPr lang="en-ID" dirty="0" err="1"/>
              <a:t>các</a:t>
            </a:r>
            <a:r>
              <a:rPr lang="en-ID" dirty="0"/>
              <a:t> </a:t>
            </a:r>
            <a:r>
              <a:rPr lang="en-ID" dirty="0" err="1"/>
              <a:t>tệp</a:t>
            </a:r>
            <a:r>
              <a:rPr lang="en-ID" dirty="0"/>
              <a:t> </a:t>
            </a:r>
            <a:r>
              <a:rPr lang="en-ID" dirty="0" err="1"/>
              <a:t>văn</a:t>
            </a:r>
            <a:r>
              <a:rPr lang="en-ID" dirty="0"/>
              <a:t> </a:t>
            </a:r>
            <a:r>
              <a:rPr lang="en-ID" dirty="0" err="1"/>
              <a:t>bản</a:t>
            </a:r>
            <a:r>
              <a:rPr lang="en-ID" dirty="0"/>
              <a:t> </a:t>
            </a:r>
            <a:r>
              <a:rPr lang="en-ID" dirty="0" err="1"/>
              <a:t>như</a:t>
            </a:r>
            <a:r>
              <a:rPr lang="en-ID" dirty="0"/>
              <a:t> JSON, XML </a:t>
            </a:r>
            <a:r>
              <a:rPr lang="en-ID" dirty="0" err="1"/>
              <a:t>hoặc</a:t>
            </a:r>
            <a:r>
              <a:rPr lang="en-ID" dirty="0"/>
              <a:t> YAML.</a:t>
            </a:r>
          </a:p>
        </p:txBody>
      </p:sp>
      <p:pic>
        <p:nvPicPr>
          <p:cNvPr id="5" name="Picture 4">
            <a:extLst>
              <a:ext uri="{FF2B5EF4-FFF2-40B4-BE49-F238E27FC236}">
                <a16:creationId xmlns:a16="http://schemas.microsoft.com/office/drawing/2014/main" id="{7B07B94E-640A-BDD9-BA74-6D8D788DD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 y="1905000"/>
            <a:ext cx="6783102" cy="3768390"/>
          </a:xfrm>
          <a:prstGeom prst="rect">
            <a:avLst/>
          </a:prstGeom>
        </p:spPr>
      </p:pic>
    </p:spTree>
    <p:extLst>
      <p:ext uri="{BB962C8B-B14F-4D97-AF65-F5344CB8AC3E}">
        <p14:creationId xmlns:p14="http://schemas.microsoft.com/office/powerpoint/2010/main" val="3937492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E8316-6C73-34D6-01E4-F288298ED8AC}"/>
              </a:ext>
            </a:extLst>
          </p:cNvPr>
          <p:cNvSpPr>
            <a:spLocks noGrp="1"/>
          </p:cNvSpPr>
          <p:nvPr>
            <p:ph type="title"/>
          </p:nvPr>
        </p:nvSpPr>
        <p:spPr/>
        <p:txBody>
          <a:bodyPr/>
          <a:lstStyle/>
          <a:p>
            <a:r>
              <a:rPr lang="en-US" dirty="0"/>
              <a:t>Unstructured data</a:t>
            </a:r>
            <a:endParaRPr lang="en-ID" dirty="0"/>
          </a:p>
        </p:txBody>
      </p:sp>
      <p:sp>
        <p:nvSpPr>
          <p:cNvPr id="3" name="Content Placeholder 2">
            <a:extLst>
              <a:ext uri="{FF2B5EF4-FFF2-40B4-BE49-F238E27FC236}">
                <a16:creationId xmlns:a16="http://schemas.microsoft.com/office/drawing/2014/main" id="{5EA88EDD-1DD9-2FBC-14B5-EE87D93F5268}"/>
              </a:ext>
            </a:extLst>
          </p:cNvPr>
          <p:cNvSpPr>
            <a:spLocks noGrp="1"/>
          </p:cNvSpPr>
          <p:nvPr>
            <p:ph idx="1"/>
          </p:nvPr>
        </p:nvSpPr>
        <p:spPr/>
        <p:txBody>
          <a:bodyPr/>
          <a:lstStyle/>
          <a:p>
            <a:r>
              <a:rPr lang="en-ID" dirty="0"/>
              <a:t>Unstructured Data (</a:t>
            </a:r>
            <a:r>
              <a:rPr lang="en-ID" dirty="0" err="1"/>
              <a:t>dữ</a:t>
            </a:r>
            <a:r>
              <a:rPr lang="en-ID" dirty="0"/>
              <a:t> </a:t>
            </a:r>
            <a:r>
              <a:rPr lang="en-ID" dirty="0" err="1"/>
              <a:t>liệu</a:t>
            </a:r>
            <a:r>
              <a:rPr lang="en-ID" dirty="0"/>
              <a:t> phi </a:t>
            </a:r>
            <a:r>
              <a:rPr lang="en-ID" dirty="0" err="1"/>
              <a:t>cấu</a:t>
            </a:r>
            <a:r>
              <a:rPr lang="en-ID" dirty="0"/>
              <a:t> </a:t>
            </a:r>
            <a:r>
              <a:rPr lang="en-ID" dirty="0" err="1"/>
              <a:t>trúc</a:t>
            </a:r>
            <a:r>
              <a:rPr lang="en-ID" dirty="0"/>
              <a:t>) </a:t>
            </a:r>
            <a:r>
              <a:rPr lang="en-ID" dirty="0" err="1"/>
              <a:t>là</a:t>
            </a:r>
            <a:r>
              <a:rPr lang="en-ID" dirty="0"/>
              <a:t> </a:t>
            </a:r>
            <a:r>
              <a:rPr lang="en-ID" dirty="0" err="1"/>
              <a:t>thông</a:t>
            </a:r>
            <a:r>
              <a:rPr lang="en-ID" dirty="0"/>
              <a:t> tin </a:t>
            </a:r>
            <a:r>
              <a:rPr lang="en-ID" dirty="0" err="1"/>
              <a:t>không</a:t>
            </a:r>
            <a:r>
              <a:rPr lang="en-ID" dirty="0"/>
              <a:t> </a:t>
            </a:r>
            <a:r>
              <a:rPr lang="en-ID" dirty="0" err="1"/>
              <a:t>tuân</a:t>
            </a:r>
            <a:r>
              <a:rPr lang="en-ID" dirty="0"/>
              <a:t> </a:t>
            </a:r>
            <a:r>
              <a:rPr lang="en-ID" dirty="0" err="1"/>
              <a:t>theo</a:t>
            </a:r>
            <a:r>
              <a:rPr lang="en-ID" dirty="0"/>
              <a:t> </a:t>
            </a:r>
            <a:r>
              <a:rPr lang="en-ID" dirty="0" err="1"/>
              <a:t>mô</a:t>
            </a:r>
            <a:r>
              <a:rPr lang="en-ID" dirty="0"/>
              <a:t> </a:t>
            </a:r>
            <a:r>
              <a:rPr lang="en-ID" dirty="0" err="1"/>
              <a:t>hình</a:t>
            </a:r>
            <a:r>
              <a:rPr lang="en-ID" dirty="0"/>
              <a:t>, </a:t>
            </a:r>
            <a:r>
              <a:rPr lang="en-ID" dirty="0" err="1"/>
              <a:t>định</a:t>
            </a:r>
            <a:r>
              <a:rPr lang="en-ID" dirty="0"/>
              <a:t> </a:t>
            </a:r>
            <a:r>
              <a:rPr lang="en-ID" dirty="0" err="1"/>
              <a:t>dạng</a:t>
            </a:r>
            <a:r>
              <a:rPr lang="en-ID" dirty="0"/>
              <a:t> </a:t>
            </a:r>
            <a:r>
              <a:rPr lang="en-ID" dirty="0" err="1"/>
              <a:t>hoặc</a:t>
            </a:r>
            <a:r>
              <a:rPr lang="en-ID" dirty="0"/>
              <a:t> </a:t>
            </a:r>
            <a:r>
              <a:rPr lang="en-ID" dirty="0" err="1"/>
              <a:t>lược</a:t>
            </a:r>
            <a:r>
              <a:rPr lang="en-ID" dirty="0"/>
              <a:t> </a:t>
            </a:r>
            <a:r>
              <a:rPr lang="en-ID" dirty="0" err="1"/>
              <a:t>đồ</a:t>
            </a:r>
            <a:r>
              <a:rPr lang="en-ID" dirty="0"/>
              <a:t> </a:t>
            </a:r>
            <a:r>
              <a:rPr lang="en-ID" dirty="0" err="1"/>
              <a:t>dữ</a:t>
            </a:r>
            <a:r>
              <a:rPr lang="en-ID" dirty="0"/>
              <a:t> </a:t>
            </a:r>
            <a:r>
              <a:rPr lang="en-ID" dirty="0" err="1"/>
              <a:t>liệu</a:t>
            </a:r>
            <a:r>
              <a:rPr lang="en-ID" dirty="0"/>
              <a:t> </a:t>
            </a:r>
            <a:r>
              <a:rPr lang="en-ID" dirty="0" err="1"/>
              <a:t>được</a:t>
            </a:r>
            <a:r>
              <a:rPr lang="en-ID" dirty="0"/>
              <a:t> </a:t>
            </a:r>
            <a:r>
              <a:rPr lang="en-ID" dirty="0" err="1"/>
              <a:t>xác</a:t>
            </a:r>
            <a:r>
              <a:rPr lang="en-ID" dirty="0"/>
              <a:t> </a:t>
            </a:r>
            <a:r>
              <a:rPr lang="en-ID" dirty="0" err="1"/>
              <a:t>định</a:t>
            </a:r>
            <a:r>
              <a:rPr lang="en-ID" dirty="0"/>
              <a:t> </a:t>
            </a:r>
            <a:r>
              <a:rPr lang="en-ID" dirty="0" err="1"/>
              <a:t>trước</a:t>
            </a:r>
            <a:r>
              <a:rPr lang="en-ID" dirty="0"/>
              <a:t>. </a:t>
            </a:r>
            <a:r>
              <a:rPr lang="en-ID" dirty="0" err="1"/>
              <a:t>Loại</a:t>
            </a:r>
            <a:r>
              <a:rPr lang="en-ID" dirty="0"/>
              <a:t> </a:t>
            </a:r>
            <a:r>
              <a:rPr lang="en-ID" dirty="0" err="1"/>
              <a:t>dữ</a:t>
            </a:r>
            <a:r>
              <a:rPr lang="en-ID" dirty="0"/>
              <a:t> </a:t>
            </a:r>
            <a:r>
              <a:rPr lang="en-ID" dirty="0" err="1"/>
              <a:t>liệu</a:t>
            </a:r>
            <a:r>
              <a:rPr lang="en-ID" dirty="0"/>
              <a:t> </a:t>
            </a:r>
            <a:r>
              <a:rPr lang="en-ID" dirty="0" err="1"/>
              <a:t>này</a:t>
            </a:r>
            <a:r>
              <a:rPr lang="en-ID" dirty="0"/>
              <a:t> </a:t>
            </a:r>
            <a:r>
              <a:rPr lang="en-ID" dirty="0" err="1"/>
              <a:t>không</a:t>
            </a:r>
            <a:r>
              <a:rPr lang="en-ID" dirty="0"/>
              <a:t> </a:t>
            </a:r>
            <a:r>
              <a:rPr lang="en-ID" dirty="0" err="1"/>
              <a:t>thể</a:t>
            </a:r>
            <a:r>
              <a:rPr lang="en-ID" dirty="0"/>
              <a:t> </a:t>
            </a:r>
            <a:r>
              <a:rPr lang="en-ID" dirty="0" err="1"/>
              <a:t>lưu</a:t>
            </a:r>
            <a:r>
              <a:rPr lang="en-ID" dirty="0"/>
              <a:t> </a:t>
            </a:r>
            <a:r>
              <a:rPr lang="en-ID" dirty="0" err="1"/>
              <a:t>trữ</a:t>
            </a:r>
            <a:r>
              <a:rPr lang="en-ID" dirty="0"/>
              <a:t> </a:t>
            </a:r>
            <a:r>
              <a:rPr lang="en-ID" dirty="0" err="1"/>
              <a:t>trong</a:t>
            </a:r>
            <a:r>
              <a:rPr lang="en-ID" dirty="0"/>
              <a:t> </a:t>
            </a:r>
            <a:r>
              <a:rPr lang="en-ID" dirty="0" err="1"/>
              <a:t>các</a:t>
            </a:r>
            <a:r>
              <a:rPr lang="en-ID" dirty="0"/>
              <a:t> </a:t>
            </a:r>
            <a:r>
              <a:rPr lang="en-ID" dirty="0" err="1"/>
              <a:t>cơ</a:t>
            </a:r>
            <a:r>
              <a:rPr lang="en-ID" dirty="0"/>
              <a:t> </a:t>
            </a:r>
            <a:r>
              <a:rPr lang="en-ID" dirty="0" err="1"/>
              <a:t>sở</a:t>
            </a:r>
            <a:r>
              <a:rPr lang="en-ID" dirty="0"/>
              <a:t> </a:t>
            </a:r>
            <a:r>
              <a:rPr lang="en-ID" dirty="0" err="1"/>
              <a:t>dữ</a:t>
            </a:r>
            <a:r>
              <a:rPr lang="en-ID" dirty="0"/>
              <a:t> </a:t>
            </a:r>
            <a:r>
              <a:rPr lang="en-ID" dirty="0" err="1"/>
              <a:t>liệu</a:t>
            </a:r>
            <a:r>
              <a:rPr lang="en-ID" dirty="0"/>
              <a:t> </a:t>
            </a:r>
            <a:r>
              <a:rPr lang="en-ID" dirty="0" err="1"/>
              <a:t>dạng</a:t>
            </a:r>
            <a:r>
              <a:rPr lang="en-ID" dirty="0"/>
              <a:t> </a:t>
            </a:r>
            <a:r>
              <a:rPr lang="en-ID" dirty="0" err="1"/>
              <a:t>bảng</a:t>
            </a:r>
            <a:r>
              <a:rPr lang="en-ID" dirty="0"/>
              <a:t> </a:t>
            </a:r>
            <a:r>
              <a:rPr lang="en-ID" dirty="0" err="1"/>
              <a:t>truyền</a:t>
            </a:r>
            <a:r>
              <a:rPr lang="en-ID" dirty="0"/>
              <a:t> </a:t>
            </a:r>
            <a:r>
              <a:rPr lang="en-ID" dirty="0" err="1"/>
              <a:t>thống</a:t>
            </a:r>
            <a:r>
              <a:rPr lang="en-ID" dirty="0"/>
              <a:t> </a:t>
            </a:r>
            <a:r>
              <a:rPr lang="en-ID" dirty="0" err="1"/>
              <a:t>mà</a:t>
            </a:r>
            <a:r>
              <a:rPr lang="en-ID" dirty="0"/>
              <a:t> </a:t>
            </a:r>
            <a:r>
              <a:rPr lang="en-ID" dirty="0" err="1"/>
              <a:t>thường</a:t>
            </a:r>
            <a:r>
              <a:rPr lang="en-ID" dirty="0"/>
              <a:t> </a:t>
            </a:r>
            <a:r>
              <a:rPr lang="en-ID" dirty="0" err="1"/>
              <a:t>tồn</a:t>
            </a:r>
            <a:r>
              <a:rPr lang="en-ID" dirty="0"/>
              <a:t> </a:t>
            </a:r>
            <a:r>
              <a:rPr lang="en-ID" dirty="0" err="1"/>
              <a:t>tại</a:t>
            </a:r>
            <a:r>
              <a:rPr lang="en-ID" dirty="0"/>
              <a:t> </a:t>
            </a:r>
            <a:r>
              <a:rPr lang="en-ID" dirty="0" err="1"/>
              <a:t>dưới</a:t>
            </a:r>
            <a:r>
              <a:rPr lang="en-ID" dirty="0"/>
              <a:t> </a:t>
            </a:r>
            <a:r>
              <a:rPr lang="en-ID" dirty="0" err="1"/>
              <a:t>dạng</a:t>
            </a:r>
            <a:r>
              <a:rPr lang="en-ID" dirty="0"/>
              <a:t> </a:t>
            </a:r>
            <a:r>
              <a:rPr lang="en-ID" dirty="0" err="1"/>
              <a:t>các</a:t>
            </a:r>
            <a:r>
              <a:rPr lang="en-ID" dirty="0"/>
              <a:t> </a:t>
            </a:r>
            <a:r>
              <a:rPr lang="en-ID" dirty="0" err="1"/>
              <a:t>tệp</a:t>
            </a:r>
            <a:r>
              <a:rPr lang="en-ID" dirty="0"/>
              <a:t> </a:t>
            </a:r>
            <a:r>
              <a:rPr lang="en-ID" dirty="0" err="1"/>
              <a:t>văn</a:t>
            </a:r>
            <a:r>
              <a:rPr lang="en-ID" dirty="0"/>
              <a:t> </a:t>
            </a:r>
            <a:r>
              <a:rPr lang="en-ID" dirty="0" err="1"/>
              <a:t>bản</a:t>
            </a:r>
            <a:r>
              <a:rPr lang="en-ID" dirty="0"/>
              <a:t>, </a:t>
            </a:r>
            <a:r>
              <a:rPr lang="en-ID" dirty="0" err="1"/>
              <a:t>hình</a:t>
            </a:r>
            <a:r>
              <a:rPr lang="en-ID" dirty="0"/>
              <a:t> </a:t>
            </a:r>
            <a:r>
              <a:rPr lang="en-ID" dirty="0" err="1"/>
              <a:t>ảnh</a:t>
            </a:r>
            <a:r>
              <a:rPr lang="en-ID" dirty="0"/>
              <a:t>, </a:t>
            </a:r>
            <a:r>
              <a:rPr lang="en-ID" dirty="0" err="1"/>
              <a:t>âm</a:t>
            </a:r>
            <a:r>
              <a:rPr lang="en-ID" dirty="0"/>
              <a:t> </a:t>
            </a:r>
            <a:r>
              <a:rPr lang="en-ID" dirty="0" err="1"/>
              <a:t>thanh</a:t>
            </a:r>
            <a:r>
              <a:rPr lang="en-ID" dirty="0"/>
              <a:t> </a:t>
            </a:r>
            <a:r>
              <a:rPr lang="en-ID" dirty="0" err="1"/>
              <a:t>hoặc</a:t>
            </a:r>
            <a:r>
              <a:rPr lang="en-ID" dirty="0"/>
              <a:t> video.</a:t>
            </a:r>
          </a:p>
        </p:txBody>
      </p:sp>
      <p:pic>
        <p:nvPicPr>
          <p:cNvPr id="5" name="Picture 4">
            <a:extLst>
              <a:ext uri="{FF2B5EF4-FFF2-40B4-BE49-F238E27FC236}">
                <a16:creationId xmlns:a16="http://schemas.microsoft.com/office/drawing/2014/main" id="{2FF81D7F-4496-DF63-EE64-6AFACF027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900" y="2895600"/>
            <a:ext cx="8661149" cy="3124200"/>
          </a:xfrm>
          <a:prstGeom prst="rect">
            <a:avLst/>
          </a:prstGeom>
        </p:spPr>
      </p:pic>
    </p:spTree>
    <p:extLst>
      <p:ext uri="{BB962C8B-B14F-4D97-AF65-F5344CB8AC3E}">
        <p14:creationId xmlns:p14="http://schemas.microsoft.com/office/powerpoint/2010/main" val="481012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50979-C383-6A8B-30DD-D184BBA2C712}"/>
              </a:ext>
            </a:extLst>
          </p:cNvPr>
          <p:cNvSpPr>
            <a:spLocks noGrp="1"/>
          </p:cNvSpPr>
          <p:nvPr>
            <p:ph type="title"/>
          </p:nvPr>
        </p:nvSpPr>
        <p:spPr/>
        <p:txBody>
          <a:bodyPr/>
          <a:lstStyle/>
          <a:p>
            <a:r>
              <a:rPr lang="en-US" dirty="0"/>
              <a:t>Data warehouse</a:t>
            </a:r>
            <a:endParaRPr lang="en-ID" dirty="0"/>
          </a:p>
        </p:txBody>
      </p:sp>
      <p:sp>
        <p:nvSpPr>
          <p:cNvPr id="3" name="Content Placeholder 2">
            <a:extLst>
              <a:ext uri="{FF2B5EF4-FFF2-40B4-BE49-F238E27FC236}">
                <a16:creationId xmlns:a16="http://schemas.microsoft.com/office/drawing/2014/main" id="{D0B1675D-F155-9569-58CB-9ECA3D17C328}"/>
              </a:ext>
            </a:extLst>
          </p:cNvPr>
          <p:cNvSpPr>
            <a:spLocks noGrp="1"/>
          </p:cNvSpPr>
          <p:nvPr>
            <p:ph idx="1"/>
          </p:nvPr>
        </p:nvSpPr>
        <p:spPr/>
        <p:txBody>
          <a:bodyPr/>
          <a:lstStyle/>
          <a:p>
            <a:r>
              <a:rPr lang="en-ID" dirty="0"/>
              <a:t>Data Warehouse (DWH) </a:t>
            </a:r>
            <a:r>
              <a:rPr lang="en-ID" dirty="0" err="1"/>
              <a:t>là</a:t>
            </a:r>
            <a:r>
              <a:rPr lang="en-ID" dirty="0"/>
              <a:t> </a:t>
            </a:r>
            <a:r>
              <a:rPr lang="en-ID" dirty="0" err="1"/>
              <a:t>hệ</a:t>
            </a:r>
            <a:r>
              <a:rPr lang="en-ID" dirty="0"/>
              <a:t> </a:t>
            </a:r>
            <a:r>
              <a:rPr lang="en-ID" dirty="0" err="1"/>
              <a:t>thống</a:t>
            </a:r>
            <a:r>
              <a:rPr lang="en-ID" dirty="0"/>
              <a:t> </a:t>
            </a:r>
            <a:r>
              <a:rPr lang="en-ID" dirty="0" err="1"/>
              <a:t>lưu</a:t>
            </a:r>
            <a:r>
              <a:rPr lang="en-ID" dirty="0"/>
              <a:t> </a:t>
            </a:r>
            <a:r>
              <a:rPr lang="en-ID" dirty="0" err="1"/>
              <a:t>trữ</a:t>
            </a:r>
            <a:r>
              <a:rPr lang="en-ID" dirty="0"/>
              <a:t> </a:t>
            </a:r>
            <a:r>
              <a:rPr lang="en-ID" dirty="0" err="1"/>
              <a:t>tập</a:t>
            </a:r>
            <a:r>
              <a:rPr lang="en-ID" dirty="0"/>
              <a:t> </a:t>
            </a:r>
            <a:r>
              <a:rPr lang="en-ID" dirty="0" err="1"/>
              <a:t>trung</a:t>
            </a:r>
            <a:r>
              <a:rPr lang="en-ID" dirty="0"/>
              <a:t> </a:t>
            </a:r>
            <a:r>
              <a:rPr lang="en-ID" dirty="0" err="1"/>
              <a:t>dữ</a:t>
            </a:r>
            <a:r>
              <a:rPr lang="en-ID" dirty="0"/>
              <a:t> </a:t>
            </a:r>
            <a:r>
              <a:rPr lang="en-ID" dirty="0" err="1"/>
              <a:t>liệu</a:t>
            </a:r>
            <a:r>
              <a:rPr lang="en-ID" dirty="0"/>
              <a:t> </a:t>
            </a:r>
            <a:r>
              <a:rPr lang="en-ID" dirty="0" err="1"/>
              <a:t>lịch</a:t>
            </a:r>
            <a:r>
              <a:rPr lang="en-ID" dirty="0"/>
              <a:t> </a:t>
            </a:r>
            <a:r>
              <a:rPr lang="en-ID" dirty="0" err="1"/>
              <a:t>sử</a:t>
            </a:r>
            <a:r>
              <a:rPr lang="en-ID" dirty="0"/>
              <a:t> </a:t>
            </a:r>
            <a:r>
              <a:rPr lang="en-ID" dirty="0" err="1"/>
              <a:t>và</a:t>
            </a:r>
            <a:r>
              <a:rPr lang="en-ID" dirty="0"/>
              <a:t> </a:t>
            </a:r>
            <a:r>
              <a:rPr lang="en-ID" dirty="0" err="1"/>
              <a:t>hiện</a:t>
            </a:r>
            <a:r>
              <a:rPr lang="en-ID" dirty="0"/>
              <a:t> </a:t>
            </a:r>
            <a:r>
              <a:rPr lang="en-ID" dirty="0" err="1"/>
              <a:t>tại</a:t>
            </a:r>
            <a:r>
              <a:rPr lang="en-ID" dirty="0"/>
              <a:t> </a:t>
            </a:r>
            <a:r>
              <a:rPr lang="en-ID" dirty="0" err="1"/>
              <a:t>từ</a:t>
            </a:r>
            <a:r>
              <a:rPr lang="en-ID" dirty="0"/>
              <a:t> </a:t>
            </a:r>
            <a:r>
              <a:rPr lang="en-ID" dirty="0" err="1"/>
              <a:t>nhiều</a:t>
            </a:r>
            <a:r>
              <a:rPr lang="en-ID" dirty="0"/>
              <a:t> </a:t>
            </a:r>
            <a:r>
              <a:rPr lang="en-ID" dirty="0" err="1"/>
              <a:t>nguồn</a:t>
            </a:r>
            <a:r>
              <a:rPr lang="en-ID" dirty="0"/>
              <a:t> </a:t>
            </a:r>
            <a:r>
              <a:rPr lang="en-ID" dirty="0" err="1"/>
              <a:t>khác</a:t>
            </a:r>
            <a:r>
              <a:rPr lang="en-ID" dirty="0"/>
              <a:t> </a:t>
            </a:r>
            <a:r>
              <a:rPr lang="en-ID" dirty="0" err="1"/>
              <a:t>nhau</a:t>
            </a:r>
            <a:r>
              <a:rPr lang="en-ID" dirty="0"/>
              <a:t>. </a:t>
            </a:r>
            <a:r>
              <a:rPr lang="en-ID" dirty="0" err="1"/>
              <a:t>Mục</a:t>
            </a:r>
            <a:r>
              <a:rPr lang="en-ID" dirty="0"/>
              <a:t> </a:t>
            </a:r>
            <a:r>
              <a:rPr lang="en-ID" dirty="0" err="1"/>
              <a:t>đích</a:t>
            </a:r>
            <a:r>
              <a:rPr lang="en-ID" dirty="0"/>
              <a:t> </a:t>
            </a:r>
            <a:r>
              <a:rPr lang="en-ID" dirty="0" err="1"/>
              <a:t>chính</a:t>
            </a:r>
            <a:r>
              <a:rPr lang="en-ID" dirty="0"/>
              <a:t> </a:t>
            </a:r>
            <a:r>
              <a:rPr lang="en-ID" dirty="0" err="1"/>
              <a:t>của</a:t>
            </a:r>
            <a:r>
              <a:rPr lang="en-ID" dirty="0"/>
              <a:t> DWH </a:t>
            </a:r>
            <a:r>
              <a:rPr lang="en-ID" dirty="0" err="1"/>
              <a:t>là</a:t>
            </a:r>
            <a:r>
              <a:rPr lang="en-ID" dirty="0"/>
              <a:t> </a:t>
            </a:r>
            <a:r>
              <a:rPr lang="en-ID" dirty="0" err="1"/>
              <a:t>phục</a:t>
            </a:r>
            <a:r>
              <a:rPr lang="en-ID" dirty="0"/>
              <a:t> </a:t>
            </a:r>
            <a:r>
              <a:rPr lang="en-ID" dirty="0" err="1"/>
              <a:t>vụ</a:t>
            </a:r>
            <a:r>
              <a:rPr lang="en-ID" dirty="0"/>
              <a:t> </a:t>
            </a:r>
            <a:r>
              <a:rPr lang="en-ID" dirty="0" err="1"/>
              <a:t>phân</a:t>
            </a:r>
            <a:r>
              <a:rPr lang="en-ID" dirty="0"/>
              <a:t> </a:t>
            </a:r>
            <a:r>
              <a:rPr lang="en-ID" dirty="0" err="1"/>
              <a:t>tích</a:t>
            </a:r>
            <a:r>
              <a:rPr lang="en-ID" dirty="0"/>
              <a:t>, </a:t>
            </a:r>
            <a:r>
              <a:rPr lang="en-ID" dirty="0" err="1"/>
              <a:t>lập</a:t>
            </a:r>
            <a:r>
              <a:rPr lang="en-ID" dirty="0"/>
              <a:t> </a:t>
            </a:r>
            <a:r>
              <a:rPr lang="en-ID" dirty="0" err="1"/>
              <a:t>báo</a:t>
            </a:r>
            <a:r>
              <a:rPr lang="en-ID" dirty="0"/>
              <a:t> </a:t>
            </a:r>
            <a:r>
              <a:rPr lang="en-ID" dirty="0" err="1"/>
              <a:t>cáo</a:t>
            </a:r>
            <a:r>
              <a:rPr lang="en-ID" dirty="0"/>
              <a:t> </a:t>
            </a:r>
            <a:r>
              <a:rPr lang="en-ID" dirty="0" err="1"/>
              <a:t>và</a:t>
            </a:r>
            <a:r>
              <a:rPr lang="en-ID" dirty="0"/>
              <a:t> </a:t>
            </a:r>
            <a:r>
              <a:rPr lang="en-ID" dirty="0" err="1"/>
              <a:t>hỗ</a:t>
            </a:r>
            <a:r>
              <a:rPr lang="en-ID" dirty="0"/>
              <a:t> </a:t>
            </a:r>
            <a:r>
              <a:rPr lang="en-ID" dirty="0" err="1"/>
              <a:t>trợ</a:t>
            </a:r>
            <a:r>
              <a:rPr lang="en-ID" dirty="0"/>
              <a:t> </a:t>
            </a:r>
            <a:r>
              <a:rPr lang="en-ID" dirty="0" err="1"/>
              <a:t>ra</a:t>
            </a:r>
            <a:r>
              <a:rPr lang="en-ID" dirty="0"/>
              <a:t> </a:t>
            </a:r>
            <a:r>
              <a:rPr lang="en-ID" dirty="0" err="1"/>
              <a:t>quyết</a:t>
            </a:r>
            <a:r>
              <a:rPr lang="en-ID" dirty="0"/>
              <a:t> </a:t>
            </a:r>
            <a:r>
              <a:rPr lang="en-ID" dirty="0" err="1"/>
              <a:t>định</a:t>
            </a:r>
            <a:r>
              <a:rPr lang="en-ID" dirty="0"/>
              <a:t> </a:t>
            </a:r>
            <a:r>
              <a:rPr lang="en-ID" dirty="0" err="1"/>
              <a:t>kinh</a:t>
            </a:r>
            <a:r>
              <a:rPr lang="en-ID" dirty="0"/>
              <a:t> </a:t>
            </a:r>
            <a:r>
              <a:rPr lang="en-ID" dirty="0" err="1"/>
              <a:t>doanh</a:t>
            </a:r>
            <a:r>
              <a:rPr lang="en-ID" dirty="0"/>
              <a:t>, </a:t>
            </a:r>
            <a:r>
              <a:rPr lang="en-ID" dirty="0" err="1"/>
              <a:t>thay</a:t>
            </a:r>
            <a:r>
              <a:rPr lang="en-ID" dirty="0"/>
              <a:t> </a:t>
            </a:r>
            <a:r>
              <a:rPr lang="en-ID" dirty="0" err="1"/>
              <a:t>vì</a:t>
            </a:r>
            <a:r>
              <a:rPr lang="en-ID" dirty="0"/>
              <a:t> </a:t>
            </a:r>
            <a:r>
              <a:rPr lang="en-ID" dirty="0" err="1"/>
              <a:t>chỉ</a:t>
            </a:r>
            <a:r>
              <a:rPr lang="en-ID" dirty="0"/>
              <a:t> </a:t>
            </a:r>
            <a:r>
              <a:rPr lang="en-ID" dirty="0" err="1"/>
              <a:t>xử</a:t>
            </a:r>
            <a:r>
              <a:rPr lang="en-ID" dirty="0"/>
              <a:t> </a:t>
            </a:r>
            <a:r>
              <a:rPr lang="en-ID" dirty="0" err="1"/>
              <a:t>lý</a:t>
            </a:r>
            <a:r>
              <a:rPr lang="en-ID" dirty="0"/>
              <a:t> </a:t>
            </a:r>
            <a:r>
              <a:rPr lang="en-ID" dirty="0" err="1"/>
              <a:t>các</a:t>
            </a:r>
            <a:r>
              <a:rPr lang="en-ID" dirty="0"/>
              <a:t> </a:t>
            </a:r>
            <a:r>
              <a:rPr lang="en-ID" dirty="0" err="1"/>
              <a:t>giao</a:t>
            </a:r>
            <a:r>
              <a:rPr lang="en-ID" dirty="0"/>
              <a:t> </a:t>
            </a:r>
            <a:r>
              <a:rPr lang="en-ID" dirty="0" err="1"/>
              <a:t>dịch</a:t>
            </a:r>
            <a:r>
              <a:rPr lang="en-ID" dirty="0"/>
              <a:t> </a:t>
            </a:r>
            <a:r>
              <a:rPr lang="en-ID" dirty="0" err="1"/>
              <a:t>hàng</a:t>
            </a:r>
            <a:r>
              <a:rPr lang="en-ID" dirty="0"/>
              <a:t> </a:t>
            </a:r>
            <a:r>
              <a:rPr lang="en-ID" dirty="0" err="1"/>
              <a:t>ngày</a:t>
            </a:r>
            <a:r>
              <a:rPr lang="en-ID" dirty="0"/>
              <a:t>. </a:t>
            </a:r>
          </a:p>
        </p:txBody>
      </p:sp>
      <p:pic>
        <p:nvPicPr>
          <p:cNvPr id="5" name="Picture 4">
            <a:extLst>
              <a:ext uri="{FF2B5EF4-FFF2-40B4-BE49-F238E27FC236}">
                <a16:creationId xmlns:a16="http://schemas.microsoft.com/office/drawing/2014/main" id="{7032BBC2-D5E1-8BAE-0880-1996FEE67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5437" y="2590800"/>
            <a:ext cx="7458075" cy="3724275"/>
          </a:xfrm>
          <a:prstGeom prst="rect">
            <a:avLst/>
          </a:prstGeom>
        </p:spPr>
      </p:pic>
    </p:spTree>
    <p:extLst>
      <p:ext uri="{BB962C8B-B14F-4D97-AF65-F5344CB8AC3E}">
        <p14:creationId xmlns:p14="http://schemas.microsoft.com/office/powerpoint/2010/main" val="2354205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47ACE-62BA-33B2-CA84-2276C451D4E1}"/>
              </a:ext>
            </a:extLst>
          </p:cNvPr>
          <p:cNvSpPr>
            <a:spLocks noGrp="1"/>
          </p:cNvSpPr>
          <p:nvPr>
            <p:ph type="title"/>
          </p:nvPr>
        </p:nvSpPr>
        <p:spPr/>
        <p:txBody>
          <a:bodyPr/>
          <a:lstStyle/>
          <a:p>
            <a:r>
              <a:rPr lang="en-US" dirty="0"/>
              <a:t>Data lake</a:t>
            </a:r>
            <a:endParaRPr lang="en-ID" dirty="0"/>
          </a:p>
        </p:txBody>
      </p:sp>
      <p:sp>
        <p:nvSpPr>
          <p:cNvPr id="3" name="Content Placeholder 2">
            <a:extLst>
              <a:ext uri="{FF2B5EF4-FFF2-40B4-BE49-F238E27FC236}">
                <a16:creationId xmlns:a16="http://schemas.microsoft.com/office/drawing/2014/main" id="{B3D99C20-9B27-A17B-0C75-FDD4258BDF2B}"/>
              </a:ext>
            </a:extLst>
          </p:cNvPr>
          <p:cNvSpPr>
            <a:spLocks noGrp="1"/>
          </p:cNvSpPr>
          <p:nvPr>
            <p:ph idx="1"/>
          </p:nvPr>
        </p:nvSpPr>
        <p:spPr/>
        <p:txBody>
          <a:bodyPr/>
          <a:lstStyle/>
          <a:p>
            <a:r>
              <a:rPr lang="en-ID" dirty="0"/>
              <a:t>Data Lake (</a:t>
            </a:r>
            <a:r>
              <a:rPr lang="en-ID" dirty="0" err="1"/>
              <a:t>hồ</a:t>
            </a:r>
            <a:r>
              <a:rPr lang="en-ID" dirty="0"/>
              <a:t> </a:t>
            </a:r>
            <a:r>
              <a:rPr lang="en-ID" dirty="0" err="1"/>
              <a:t>dữ</a:t>
            </a:r>
            <a:r>
              <a:rPr lang="en-ID" dirty="0"/>
              <a:t> </a:t>
            </a:r>
            <a:r>
              <a:rPr lang="en-ID" dirty="0" err="1"/>
              <a:t>liệu</a:t>
            </a:r>
            <a:r>
              <a:rPr lang="en-ID" dirty="0"/>
              <a:t>) </a:t>
            </a:r>
            <a:r>
              <a:rPr lang="en-ID" dirty="0" err="1"/>
              <a:t>là</a:t>
            </a:r>
            <a:r>
              <a:rPr lang="en-ID" dirty="0"/>
              <a:t> </a:t>
            </a:r>
            <a:r>
              <a:rPr lang="en-ID" dirty="0" err="1"/>
              <a:t>một</a:t>
            </a:r>
            <a:r>
              <a:rPr lang="en-ID" dirty="0"/>
              <a:t> </a:t>
            </a:r>
            <a:r>
              <a:rPr lang="en-ID" dirty="0" err="1"/>
              <a:t>kho</a:t>
            </a:r>
            <a:r>
              <a:rPr lang="en-ID" dirty="0"/>
              <a:t> </a:t>
            </a:r>
            <a:r>
              <a:rPr lang="en-ID" dirty="0" err="1"/>
              <a:t>lưu</a:t>
            </a:r>
            <a:r>
              <a:rPr lang="en-ID" dirty="0"/>
              <a:t> </a:t>
            </a:r>
            <a:r>
              <a:rPr lang="en-ID" dirty="0" err="1"/>
              <a:t>trữ</a:t>
            </a:r>
            <a:r>
              <a:rPr lang="en-ID" dirty="0"/>
              <a:t> </a:t>
            </a:r>
            <a:r>
              <a:rPr lang="en-ID" dirty="0" err="1"/>
              <a:t>tập</a:t>
            </a:r>
            <a:r>
              <a:rPr lang="en-ID" dirty="0"/>
              <a:t> </a:t>
            </a:r>
            <a:r>
              <a:rPr lang="en-ID" dirty="0" err="1"/>
              <a:t>trung</a:t>
            </a:r>
            <a:r>
              <a:rPr lang="en-ID" dirty="0"/>
              <a:t> </a:t>
            </a:r>
            <a:r>
              <a:rPr lang="en-ID" dirty="0" err="1"/>
              <a:t>cho</a:t>
            </a:r>
            <a:r>
              <a:rPr lang="en-ID" dirty="0"/>
              <a:t> </a:t>
            </a:r>
            <a:r>
              <a:rPr lang="en-ID" dirty="0" err="1"/>
              <a:t>phép</a:t>
            </a:r>
            <a:r>
              <a:rPr lang="en-ID" dirty="0"/>
              <a:t> </a:t>
            </a:r>
            <a:r>
              <a:rPr lang="en-ID" dirty="0" err="1"/>
              <a:t>lưu</a:t>
            </a:r>
            <a:r>
              <a:rPr lang="en-ID" dirty="0"/>
              <a:t> </a:t>
            </a:r>
            <a:r>
              <a:rPr lang="en-ID" dirty="0" err="1"/>
              <a:t>trữ</a:t>
            </a:r>
            <a:r>
              <a:rPr lang="en-ID" dirty="0"/>
              <a:t> </a:t>
            </a:r>
            <a:r>
              <a:rPr lang="en-ID" dirty="0" err="1"/>
              <a:t>khối</a:t>
            </a:r>
            <a:r>
              <a:rPr lang="en-ID" dirty="0"/>
              <a:t> </a:t>
            </a:r>
            <a:r>
              <a:rPr lang="en-ID" dirty="0" err="1"/>
              <a:t>lượng</a:t>
            </a:r>
            <a:r>
              <a:rPr lang="en-ID" dirty="0"/>
              <a:t> </a:t>
            </a:r>
            <a:r>
              <a:rPr lang="en-ID" dirty="0" err="1"/>
              <a:t>lớn</a:t>
            </a:r>
            <a:r>
              <a:rPr lang="en-ID" dirty="0"/>
              <a:t> </a:t>
            </a:r>
            <a:r>
              <a:rPr lang="en-ID" dirty="0" err="1"/>
              <a:t>dữ</a:t>
            </a:r>
            <a:r>
              <a:rPr lang="en-ID" dirty="0"/>
              <a:t> </a:t>
            </a:r>
            <a:r>
              <a:rPr lang="en-ID" dirty="0" err="1"/>
              <a:t>liệu</a:t>
            </a:r>
            <a:r>
              <a:rPr lang="en-ID" dirty="0"/>
              <a:t> ở </a:t>
            </a:r>
            <a:r>
              <a:rPr lang="en-ID" dirty="0" err="1"/>
              <a:t>dạng</a:t>
            </a:r>
            <a:r>
              <a:rPr lang="en-ID" dirty="0"/>
              <a:t> </a:t>
            </a:r>
            <a:r>
              <a:rPr lang="en-ID" dirty="0" err="1"/>
              <a:t>nguyên</a:t>
            </a:r>
            <a:r>
              <a:rPr lang="en-ID" dirty="0"/>
              <a:t> </a:t>
            </a:r>
            <a:r>
              <a:rPr lang="en-ID" dirty="0" err="1"/>
              <a:t>bản</a:t>
            </a:r>
            <a:r>
              <a:rPr lang="en-ID" dirty="0"/>
              <a:t> (raw data). </a:t>
            </a:r>
            <a:r>
              <a:rPr lang="en-ID" dirty="0" err="1"/>
              <a:t>Nó</a:t>
            </a:r>
            <a:r>
              <a:rPr lang="en-ID" dirty="0"/>
              <a:t> </a:t>
            </a:r>
            <a:r>
              <a:rPr lang="en-ID" dirty="0" err="1"/>
              <a:t>chứa</a:t>
            </a:r>
            <a:r>
              <a:rPr lang="en-ID" dirty="0"/>
              <a:t> </a:t>
            </a:r>
            <a:r>
              <a:rPr lang="en-ID" dirty="0" err="1"/>
              <a:t>mọi</a:t>
            </a:r>
            <a:r>
              <a:rPr lang="en-ID" dirty="0"/>
              <a:t> </a:t>
            </a:r>
            <a:r>
              <a:rPr lang="en-ID" dirty="0" err="1"/>
              <a:t>loại</a:t>
            </a:r>
            <a:r>
              <a:rPr lang="en-ID" dirty="0"/>
              <a:t> </a:t>
            </a:r>
            <a:r>
              <a:rPr lang="en-ID" dirty="0" err="1"/>
              <a:t>dữ</a:t>
            </a:r>
            <a:r>
              <a:rPr lang="en-ID" dirty="0"/>
              <a:t> </a:t>
            </a:r>
            <a:r>
              <a:rPr lang="en-ID" dirty="0" err="1"/>
              <a:t>liệu</a:t>
            </a:r>
            <a:r>
              <a:rPr lang="en-ID" dirty="0"/>
              <a:t> (</a:t>
            </a:r>
            <a:r>
              <a:rPr lang="en-ID" dirty="0" err="1"/>
              <a:t>có</a:t>
            </a:r>
            <a:r>
              <a:rPr lang="en-ID" dirty="0"/>
              <a:t> </a:t>
            </a:r>
            <a:r>
              <a:rPr lang="en-ID" dirty="0" err="1"/>
              <a:t>cấu</a:t>
            </a:r>
            <a:r>
              <a:rPr lang="en-ID" dirty="0"/>
              <a:t> </a:t>
            </a:r>
            <a:r>
              <a:rPr lang="en-ID" dirty="0" err="1"/>
              <a:t>trúc</a:t>
            </a:r>
            <a:r>
              <a:rPr lang="en-ID" dirty="0"/>
              <a:t>, </a:t>
            </a:r>
            <a:r>
              <a:rPr lang="en-ID" dirty="0" err="1"/>
              <a:t>bán</a:t>
            </a:r>
            <a:r>
              <a:rPr lang="en-ID" dirty="0"/>
              <a:t> </a:t>
            </a:r>
            <a:r>
              <a:rPr lang="en-ID" dirty="0" err="1"/>
              <a:t>cấu</a:t>
            </a:r>
            <a:r>
              <a:rPr lang="en-ID" dirty="0"/>
              <a:t> </a:t>
            </a:r>
            <a:r>
              <a:rPr lang="en-ID" dirty="0" err="1"/>
              <a:t>trúc</a:t>
            </a:r>
            <a:r>
              <a:rPr lang="en-ID" dirty="0"/>
              <a:t> </a:t>
            </a:r>
            <a:r>
              <a:rPr lang="en-ID" dirty="0" err="1"/>
              <a:t>và</a:t>
            </a:r>
            <a:r>
              <a:rPr lang="en-ID" dirty="0"/>
              <a:t> phi </a:t>
            </a:r>
            <a:r>
              <a:rPr lang="en-ID" dirty="0" err="1"/>
              <a:t>cấu</a:t>
            </a:r>
            <a:r>
              <a:rPr lang="en-ID" dirty="0"/>
              <a:t> </a:t>
            </a:r>
            <a:r>
              <a:rPr lang="en-ID" dirty="0" err="1"/>
              <a:t>trúc</a:t>
            </a:r>
            <a:r>
              <a:rPr lang="en-ID" dirty="0"/>
              <a:t>) </a:t>
            </a:r>
            <a:r>
              <a:rPr lang="en-ID" dirty="0" err="1"/>
              <a:t>mà</a:t>
            </a:r>
            <a:r>
              <a:rPr lang="en-ID" dirty="0"/>
              <a:t> </a:t>
            </a:r>
            <a:r>
              <a:rPr lang="en-ID" dirty="0" err="1"/>
              <a:t>không</a:t>
            </a:r>
            <a:r>
              <a:rPr lang="en-ID" dirty="0"/>
              <a:t> </a:t>
            </a:r>
            <a:r>
              <a:rPr lang="en-ID" dirty="0" err="1"/>
              <a:t>cần</a:t>
            </a:r>
            <a:r>
              <a:rPr lang="en-ID" dirty="0"/>
              <a:t> </a:t>
            </a:r>
            <a:r>
              <a:rPr lang="en-ID" dirty="0" err="1"/>
              <a:t>phải</a:t>
            </a:r>
            <a:r>
              <a:rPr lang="en-ID" dirty="0"/>
              <a:t> </a:t>
            </a:r>
            <a:r>
              <a:rPr lang="en-ID" dirty="0" err="1"/>
              <a:t>phân</a:t>
            </a:r>
            <a:r>
              <a:rPr lang="en-ID" dirty="0"/>
              <a:t> </a:t>
            </a:r>
            <a:r>
              <a:rPr lang="en-ID" dirty="0" err="1"/>
              <a:t>loại</a:t>
            </a:r>
            <a:r>
              <a:rPr lang="en-ID" dirty="0"/>
              <a:t>, </a:t>
            </a:r>
            <a:r>
              <a:rPr lang="en-ID" dirty="0" err="1"/>
              <a:t>làm</a:t>
            </a:r>
            <a:r>
              <a:rPr lang="en-ID" dirty="0"/>
              <a:t> </a:t>
            </a:r>
            <a:r>
              <a:rPr lang="en-ID" dirty="0" err="1"/>
              <a:t>sạch</a:t>
            </a:r>
            <a:r>
              <a:rPr lang="en-ID" dirty="0"/>
              <a:t> hay </a:t>
            </a:r>
            <a:r>
              <a:rPr lang="en-ID" dirty="0" err="1"/>
              <a:t>xử</a:t>
            </a:r>
            <a:r>
              <a:rPr lang="en-ID" dirty="0"/>
              <a:t> </a:t>
            </a:r>
            <a:r>
              <a:rPr lang="en-ID" dirty="0" err="1"/>
              <a:t>lý</a:t>
            </a:r>
            <a:r>
              <a:rPr lang="en-ID" dirty="0"/>
              <a:t> </a:t>
            </a:r>
            <a:r>
              <a:rPr lang="en-ID" dirty="0" err="1"/>
              <a:t>trước</a:t>
            </a:r>
            <a:r>
              <a:rPr lang="en-ID" dirty="0"/>
              <a:t> </a:t>
            </a:r>
            <a:r>
              <a:rPr lang="en-ID" dirty="0" err="1"/>
              <a:t>khi</a:t>
            </a:r>
            <a:r>
              <a:rPr lang="en-ID" dirty="0"/>
              <a:t> </a:t>
            </a:r>
            <a:r>
              <a:rPr lang="en-ID" dirty="0" err="1"/>
              <a:t>lưu</a:t>
            </a:r>
            <a:r>
              <a:rPr lang="en-ID" dirty="0"/>
              <a:t>.</a:t>
            </a:r>
          </a:p>
        </p:txBody>
      </p:sp>
      <p:pic>
        <p:nvPicPr>
          <p:cNvPr id="5" name="Picture 4">
            <a:extLst>
              <a:ext uri="{FF2B5EF4-FFF2-40B4-BE49-F238E27FC236}">
                <a16:creationId xmlns:a16="http://schemas.microsoft.com/office/drawing/2014/main" id="{E121E631-8DE2-BD6F-1CB3-62C03D8C1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5975" y="2528887"/>
            <a:ext cx="6477000" cy="3643313"/>
          </a:xfrm>
          <a:prstGeom prst="rect">
            <a:avLst/>
          </a:prstGeom>
        </p:spPr>
      </p:pic>
    </p:spTree>
    <p:extLst>
      <p:ext uri="{BB962C8B-B14F-4D97-AF65-F5344CB8AC3E}">
        <p14:creationId xmlns:p14="http://schemas.microsoft.com/office/powerpoint/2010/main" val="3031295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8B342-9CC9-48F4-8CD7-C2F2ADAC7519}"/>
              </a:ext>
            </a:extLst>
          </p:cNvPr>
          <p:cNvSpPr>
            <a:spLocks noGrp="1"/>
          </p:cNvSpPr>
          <p:nvPr>
            <p:ph type="title"/>
          </p:nvPr>
        </p:nvSpPr>
        <p:spPr/>
        <p:txBody>
          <a:bodyPr/>
          <a:lstStyle/>
          <a:p>
            <a:r>
              <a:rPr lang="en-US" dirty="0"/>
              <a:t>Data </a:t>
            </a:r>
            <a:r>
              <a:rPr lang="en-US" dirty="0" err="1"/>
              <a:t>lakehouse</a:t>
            </a:r>
            <a:endParaRPr lang="en-ID" dirty="0"/>
          </a:p>
        </p:txBody>
      </p:sp>
      <p:sp>
        <p:nvSpPr>
          <p:cNvPr id="3" name="Content Placeholder 2">
            <a:extLst>
              <a:ext uri="{FF2B5EF4-FFF2-40B4-BE49-F238E27FC236}">
                <a16:creationId xmlns:a16="http://schemas.microsoft.com/office/drawing/2014/main" id="{BA32FA0B-153B-9B8E-27F9-547BE85432A7}"/>
              </a:ext>
            </a:extLst>
          </p:cNvPr>
          <p:cNvSpPr>
            <a:spLocks noGrp="1"/>
          </p:cNvSpPr>
          <p:nvPr>
            <p:ph idx="1"/>
          </p:nvPr>
        </p:nvSpPr>
        <p:spPr>
          <a:xfrm>
            <a:off x="640079" y="2857500"/>
            <a:ext cx="4949953" cy="1447800"/>
          </a:xfrm>
        </p:spPr>
        <p:txBody>
          <a:bodyPr/>
          <a:lstStyle/>
          <a:p>
            <a:r>
              <a:rPr lang="en-ID" dirty="0"/>
              <a:t>Data Lakehouse </a:t>
            </a:r>
            <a:r>
              <a:rPr lang="en-ID" dirty="0" err="1"/>
              <a:t>là</a:t>
            </a:r>
            <a:r>
              <a:rPr lang="en-ID" dirty="0"/>
              <a:t> </a:t>
            </a:r>
            <a:r>
              <a:rPr lang="en-ID" dirty="0" err="1"/>
              <a:t>một</a:t>
            </a:r>
            <a:r>
              <a:rPr lang="en-ID" dirty="0"/>
              <a:t> </a:t>
            </a:r>
            <a:r>
              <a:rPr lang="en-ID" dirty="0" err="1"/>
              <a:t>kiến</a:t>
            </a:r>
            <a:r>
              <a:rPr lang="en-ID" dirty="0"/>
              <a:t> </a:t>
            </a:r>
            <a:r>
              <a:rPr lang="en-ID" dirty="0" err="1"/>
              <a:t>trúc</a:t>
            </a:r>
            <a:r>
              <a:rPr lang="en-ID" dirty="0"/>
              <a:t> </a:t>
            </a:r>
            <a:r>
              <a:rPr lang="en-ID" dirty="0" err="1"/>
              <a:t>quản</a:t>
            </a:r>
            <a:r>
              <a:rPr lang="en-ID" dirty="0"/>
              <a:t> </a:t>
            </a:r>
            <a:r>
              <a:rPr lang="en-ID" dirty="0" err="1"/>
              <a:t>lý</a:t>
            </a:r>
            <a:r>
              <a:rPr lang="en-ID" dirty="0"/>
              <a:t> </a:t>
            </a:r>
            <a:r>
              <a:rPr lang="en-ID" dirty="0" err="1"/>
              <a:t>dữ</a:t>
            </a:r>
            <a:r>
              <a:rPr lang="en-ID" dirty="0"/>
              <a:t> </a:t>
            </a:r>
            <a:r>
              <a:rPr lang="en-ID" dirty="0" err="1"/>
              <a:t>liệu</a:t>
            </a:r>
            <a:r>
              <a:rPr lang="en-ID" dirty="0"/>
              <a:t> </a:t>
            </a:r>
            <a:r>
              <a:rPr lang="en-ID" dirty="0" err="1"/>
              <a:t>hiện</a:t>
            </a:r>
            <a:r>
              <a:rPr lang="en-ID" dirty="0"/>
              <a:t> </a:t>
            </a:r>
            <a:r>
              <a:rPr lang="en-ID" dirty="0" err="1"/>
              <a:t>đại</a:t>
            </a:r>
            <a:r>
              <a:rPr lang="en-ID" dirty="0"/>
              <a:t> </a:t>
            </a:r>
            <a:r>
              <a:rPr lang="en-ID" dirty="0" err="1"/>
              <a:t>kết</a:t>
            </a:r>
            <a:r>
              <a:rPr lang="en-ID" dirty="0"/>
              <a:t> </a:t>
            </a:r>
            <a:r>
              <a:rPr lang="en-ID" dirty="0" err="1"/>
              <a:t>hợp</a:t>
            </a:r>
            <a:r>
              <a:rPr lang="en-ID" dirty="0"/>
              <a:t> </a:t>
            </a:r>
            <a:r>
              <a:rPr lang="en-ID" dirty="0" err="1"/>
              <a:t>tốt</a:t>
            </a:r>
            <a:r>
              <a:rPr lang="en-ID" dirty="0"/>
              <a:t> </a:t>
            </a:r>
            <a:r>
              <a:rPr lang="en-ID" dirty="0" err="1"/>
              <a:t>ưu</a:t>
            </a:r>
            <a:r>
              <a:rPr lang="en-ID" dirty="0"/>
              <a:t> </a:t>
            </a:r>
            <a:r>
              <a:rPr lang="en-ID" dirty="0" err="1"/>
              <a:t>điểm</a:t>
            </a:r>
            <a:r>
              <a:rPr lang="en-ID" dirty="0"/>
              <a:t> </a:t>
            </a:r>
            <a:r>
              <a:rPr lang="en-ID" dirty="0" err="1"/>
              <a:t>của</a:t>
            </a:r>
            <a:r>
              <a:rPr lang="en-ID" dirty="0"/>
              <a:t> Data Lake (</a:t>
            </a:r>
            <a:r>
              <a:rPr lang="en-ID" dirty="0" err="1"/>
              <a:t>lưu</a:t>
            </a:r>
            <a:r>
              <a:rPr lang="en-ID" dirty="0"/>
              <a:t> </a:t>
            </a:r>
            <a:r>
              <a:rPr lang="en-ID" dirty="0" err="1"/>
              <a:t>trữ</a:t>
            </a:r>
            <a:r>
              <a:rPr lang="en-ID" dirty="0"/>
              <a:t> </a:t>
            </a:r>
            <a:r>
              <a:rPr lang="en-ID" dirty="0" err="1"/>
              <a:t>linh</a:t>
            </a:r>
            <a:r>
              <a:rPr lang="en-ID" dirty="0"/>
              <a:t> </a:t>
            </a:r>
            <a:r>
              <a:rPr lang="en-ID" dirty="0" err="1"/>
              <a:t>hoạt</a:t>
            </a:r>
            <a:r>
              <a:rPr lang="en-ID" dirty="0"/>
              <a:t>, chi </a:t>
            </a:r>
            <a:r>
              <a:rPr lang="en-ID" dirty="0" err="1"/>
              <a:t>phí</a:t>
            </a:r>
            <a:r>
              <a:rPr lang="en-ID" dirty="0"/>
              <a:t> </a:t>
            </a:r>
            <a:r>
              <a:rPr lang="en-ID" dirty="0" err="1"/>
              <a:t>rẻ</a:t>
            </a:r>
            <a:r>
              <a:rPr lang="en-ID" dirty="0"/>
              <a:t>) </a:t>
            </a:r>
            <a:r>
              <a:rPr lang="en-ID" dirty="0" err="1"/>
              <a:t>và</a:t>
            </a:r>
            <a:r>
              <a:rPr lang="en-ID" dirty="0"/>
              <a:t> Data Warehouse (</a:t>
            </a:r>
            <a:r>
              <a:rPr lang="en-ID" dirty="0" err="1"/>
              <a:t>quản</a:t>
            </a:r>
            <a:r>
              <a:rPr lang="en-ID" dirty="0"/>
              <a:t> </a:t>
            </a:r>
            <a:r>
              <a:rPr lang="en-ID" dirty="0" err="1"/>
              <a:t>lý</a:t>
            </a:r>
            <a:r>
              <a:rPr lang="en-ID" dirty="0"/>
              <a:t> </a:t>
            </a:r>
            <a:r>
              <a:rPr lang="en-ID" dirty="0" err="1"/>
              <a:t>cấu</a:t>
            </a:r>
            <a:r>
              <a:rPr lang="en-ID" dirty="0"/>
              <a:t> </a:t>
            </a:r>
            <a:r>
              <a:rPr lang="en-ID" dirty="0" err="1"/>
              <a:t>trúc</a:t>
            </a:r>
            <a:r>
              <a:rPr lang="en-ID" dirty="0"/>
              <a:t> </a:t>
            </a:r>
            <a:r>
              <a:rPr lang="en-ID" dirty="0" err="1"/>
              <a:t>tốt</a:t>
            </a:r>
            <a:r>
              <a:rPr lang="en-ID" dirty="0"/>
              <a:t>, </a:t>
            </a:r>
            <a:r>
              <a:rPr lang="en-ID" dirty="0" err="1"/>
              <a:t>hiệu</a:t>
            </a:r>
            <a:r>
              <a:rPr lang="en-ID" dirty="0"/>
              <a:t> </a:t>
            </a:r>
            <a:r>
              <a:rPr lang="en-ID" dirty="0" err="1"/>
              <a:t>suất</a:t>
            </a:r>
            <a:r>
              <a:rPr lang="en-ID" dirty="0"/>
              <a:t> </a:t>
            </a:r>
            <a:r>
              <a:rPr lang="en-ID" dirty="0" err="1"/>
              <a:t>cao</a:t>
            </a:r>
            <a:r>
              <a:rPr lang="en-ID" dirty="0"/>
              <a:t>). </a:t>
            </a:r>
            <a:r>
              <a:rPr lang="en-ID" dirty="0" err="1"/>
              <a:t>Nó</a:t>
            </a:r>
            <a:r>
              <a:rPr lang="en-ID" dirty="0"/>
              <a:t> </a:t>
            </a:r>
            <a:r>
              <a:rPr lang="en-ID" dirty="0" err="1"/>
              <a:t>cho</a:t>
            </a:r>
            <a:r>
              <a:rPr lang="en-ID" dirty="0"/>
              <a:t> </a:t>
            </a:r>
            <a:r>
              <a:rPr lang="en-ID" dirty="0" err="1"/>
              <a:t>phép</a:t>
            </a:r>
            <a:r>
              <a:rPr lang="en-ID" dirty="0"/>
              <a:t> </a:t>
            </a:r>
            <a:r>
              <a:rPr lang="en-ID" dirty="0" err="1"/>
              <a:t>doanh</a:t>
            </a:r>
            <a:r>
              <a:rPr lang="en-ID" dirty="0"/>
              <a:t> </a:t>
            </a:r>
            <a:r>
              <a:rPr lang="en-ID" dirty="0" err="1"/>
              <a:t>nghiệp</a:t>
            </a:r>
            <a:r>
              <a:rPr lang="en-ID" dirty="0"/>
              <a:t> </a:t>
            </a:r>
            <a:r>
              <a:rPr lang="en-ID" dirty="0" err="1"/>
              <a:t>lưu</a:t>
            </a:r>
            <a:r>
              <a:rPr lang="en-ID" dirty="0"/>
              <a:t> </a:t>
            </a:r>
            <a:r>
              <a:rPr lang="en-ID" dirty="0" err="1"/>
              <a:t>trữ</a:t>
            </a:r>
            <a:r>
              <a:rPr lang="en-ID" dirty="0"/>
              <a:t> </a:t>
            </a:r>
            <a:r>
              <a:rPr lang="en-ID" dirty="0" err="1"/>
              <a:t>mọi</a:t>
            </a:r>
            <a:r>
              <a:rPr lang="en-ID" dirty="0"/>
              <a:t> </a:t>
            </a:r>
            <a:r>
              <a:rPr lang="en-ID" dirty="0" err="1"/>
              <a:t>loại</a:t>
            </a:r>
            <a:r>
              <a:rPr lang="en-ID" dirty="0"/>
              <a:t> </a:t>
            </a:r>
            <a:r>
              <a:rPr lang="en-ID" dirty="0" err="1"/>
              <a:t>dữ</a:t>
            </a:r>
            <a:r>
              <a:rPr lang="en-ID" dirty="0"/>
              <a:t> </a:t>
            </a:r>
            <a:r>
              <a:rPr lang="en-ID" dirty="0" err="1"/>
              <a:t>liệu</a:t>
            </a:r>
            <a:r>
              <a:rPr lang="en-ID" dirty="0"/>
              <a:t> </a:t>
            </a:r>
            <a:r>
              <a:rPr lang="en-ID" dirty="0" err="1"/>
              <a:t>và</a:t>
            </a:r>
            <a:r>
              <a:rPr lang="en-ID" dirty="0"/>
              <a:t> </a:t>
            </a:r>
            <a:r>
              <a:rPr lang="en-ID" dirty="0" err="1"/>
              <a:t>trực</a:t>
            </a:r>
            <a:r>
              <a:rPr lang="en-ID" dirty="0"/>
              <a:t> </a:t>
            </a:r>
            <a:r>
              <a:rPr lang="en-ID" dirty="0" err="1"/>
              <a:t>tiếp</a:t>
            </a:r>
            <a:r>
              <a:rPr lang="en-ID" dirty="0"/>
              <a:t> </a:t>
            </a:r>
            <a:r>
              <a:rPr lang="en-ID" dirty="0" err="1"/>
              <a:t>thực</a:t>
            </a:r>
            <a:r>
              <a:rPr lang="en-ID" dirty="0"/>
              <a:t> </a:t>
            </a:r>
            <a:r>
              <a:rPr lang="en-ID" dirty="0" err="1"/>
              <a:t>hiện</a:t>
            </a:r>
            <a:r>
              <a:rPr lang="en-ID" dirty="0"/>
              <a:t> </a:t>
            </a:r>
            <a:r>
              <a:rPr lang="en-ID" dirty="0" err="1"/>
              <a:t>phân</a:t>
            </a:r>
            <a:r>
              <a:rPr lang="en-ID" dirty="0"/>
              <a:t> </a:t>
            </a:r>
            <a:r>
              <a:rPr lang="en-ID" dirty="0" err="1"/>
              <a:t>tích</a:t>
            </a:r>
            <a:r>
              <a:rPr lang="en-ID" dirty="0"/>
              <a:t> hay </a:t>
            </a:r>
            <a:r>
              <a:rPr lang="en-ID" dirty="0" err="1"/>
              <a:t>học</a:t>
            </a:r>
            <a:r>
              <a:rPr lang="en-ID" dirty="0"/>
              <a:t> </a:t>
            </a:r>
            <a:r>
              <a:rPr lang="en-ID" dirty="0" err="1"/>
              <a:t>máy</a:t>
            </a:r>
            <a:r>
              <a:rPr lang="en-ID" dirty="0"/>
              <a:t> (Machine Learning) </a:t>
            </a:r>
            <a:r>
              <a:rPr lang="en-ID" dirty="0" err="1"/>
              <a:t>trên</a:t>
            </a:r>
            <a:r>
              <a:rPr lang="en-ID" dirty="0"/>
              <a:t> </a:t>
            </a:r>
            <a:r>
              <a:rPr lang="en-ID" dirty="0" err="1"/>
              <a:t>cùng</a:t>
            </a:r>
            <a:r>
              <a:rPr lang="en-ID" dirty="0"/>
              <a:t> </a:t>
            </a:r>
            <a:r>
              <a:rPr lang="en-ID" dirty="0" err="1"/>
              <a:t>một</a:t>
            </a:r>
            <a:r>
              <a:rPr lang="en-ID" dirty="0"/>
              <a:t> </a:t>
            </a:r>
            <a:r>
              <a:rPr lang="en-ID" dirty="0" err="1"/>
              <a:t>hệ</a:t>
            </a:r>
            <a:r>
              <a:rPr lang="en-ID" dirty="0"/>
              <a:t> </a:t>
            </a:r>
            <a:r>
              <a:rPr lang="en-ID" dirty="0" err="1"/>
              <a:t>thống</a:t>
            </a:r>
            <a:r>
              <a:rPr lang="en-ID" dirty="0"/>
              <a:t>.</a:t>
            </a:r>
          </a:p>
        </p:txBody>
      </p:sp>
      <p:pic>
        <p:nvPicPr>
          <p:cNvPr id="5" name="Picture 4">
            <a:extLst>
              <a:ext uri="{FF2B5EF4-FFF2-40B4-BE49-F238E27FC236}">
                <a16:creationId xmlns:a16="http://schemas.microsoft.com/office/drawing/2014/main" id="{7F6396F3-D7A5-C17D-DDFE-8DFBA10E6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1744" y="1652245"/>
            <a:ext cx="6163436" cy="3858311"/>
          </a:xfrm>
          <a:prstGeom prst="rect">
            <a:avLst/>
          </a:prstGeom>
        </p:spPr>
      </p:pic>
    </p:spTree>
    <p:extLst>
      <p:ext uri="{BB962C8B-B14F-4D97-AF65-F5344CB8AC3E}">
        <p14:creationId xmlns:p14="http://schemas.microsoft.com/office/powerpoint/2010/main" val="1450710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D4C4-3CD2-C4DF-3A83-684E8AE4DB7C}"/>
              </a:ext>
            </a:extLst>
          </p:cNvPr>
          <p:cNvSpPr>
            <a:spLocks noGrp="1"/>
          </p:cNvSpPr>
          <p:nvPr>
            <p:ph type="title"/>
          </p:nvPr>
        </p:nvSpPr>
        <p:spPr/>
        <p:txBody>
          <a:bodyPr/>
          <a:lstStyle/>
          <a:p>
            <a:r>
              <a:rPr lang="en-US" dirty="0" err="1"/>
              <a:t>Hortonwork</a:t>
            </a:r>
            <a:r>
              <a:rPr lang="en-US" dirty="0"/>
              <a:t> data platform</a:t>
            </a:r>
            <a:endParaRPr lang="en-ID" dirty="0"/>
          </a:p>
        </p:txBody>
      </p:sp>
      <p:sp>
        <p:nvSpPr>
          <p:cNvPr id="3" name="Content Placeholder 2">
            <a:extLst>
              <a:ext uri="{FF2B5EF4-FFF2-40B4-BE49-F238E27FC236}">
                <a16:creationId xmlns:a16="http://schemas.microsoft.com/office/drawing/2014/main" id="{66A4B3AD-6E57-BA45-1B20-80CAD784BFD3}"/>
              </a:ext>
            </a:extLst>
          </p:cNvPr>
          <p:cNvSpPr>
            <a:spLocks noGrp="1"/>
          </p:cNvSpPr>
          <p:nvPr>
            <p:ph idx="1"/>
          </p:nvPr>
        </p:nvSpPr>
        <p:spPr/>
        <p:txBody>
          <a:bodyPr/>
          <a:lstStyle/>
          <a:p>
            <a:r>
              <a:rPr lang="en-ID" dirty="0" err="1"/>
              <a:t>Hortonwork</a:t>
            </a:r>
            <a:r>
              <a:rPr lang="en-ID" dirty="0"/>
              <a:t> Data Platform (HDP) </a:t>
            </a:r>
            <a:r>
              <a:rPr lang="en-ID" dirty="0" err="1"/>
              <a:t>là</a:t>
            </a:r>
            <a:r>
              <a:rPr lang="en-ID" dirty="0"/>
              <a:t> </a:t>
            </a:r>
            <a:r>
              <a:rPr lang="en-ID" dirty="0" err="1"/>
              <a:t>một</a:t>
            </a:r>
            <a:r>
              <a:rPr lang="en-ID" dirty="0"/>
              <a:t> </a:t>
            </a:r>
            <a:r>
              <a:rPr lang="en-ID" dirty="0" err="1"/>
              <a:t>nền</a:t>
            </a:r>
            <a:r>
              <a:rPr lang="en-ID" dirty="0"/>
              <a:t> </a:t>
            </a:r>
            <a:r>
              <a:rPr lang="en-ID" dirty="0" err="1"/>
              <a:t>tảng</a:t>
            </a:r>
            <a:r>
              <a:rPr lang="en-ID" dirty="0"/>
              <a:t> </a:t>
            </a:r>
            <a:r>
              <a:rPr lang="en-ID" dirty="0" err="1"/>
              <a:t>dữ</a:t>
            </a:r>
            <a:r>
              <a:rPr lang="en-ID" dirty="0"/>
              <a:t> </a:t>
            </a:r>
            <a:r>
              <a:rPr lang="en-ID" dirty="0" err="1"/>
              <a:t>liệu</a:t>
            </a:r>
            <a:r>
              <a:rPr lang="en-ID" dirty="0"/>
              <a:t> </a:t>
            </a:r>
            <a:r>
              <a:rPr lang="en-ID" dirty="0" err="1"/>
              <a:t>lớn</a:t>
            </a:r>
            <a:r>
              <a:rPr lang="en-ID" dirty="0"/>
              <a:t> (Big Data) </a:t>
            </a:r>
            <a:r>
              <a:rPr lang="en-ID" dirty="0" err="1"/>
              <a:t>mã</a:t>
            </a:r>
            <a:r>
              <a:rPr lang="en-ID" dirty="0"/>
              <a:t> </a:t>
            </a:r>
            <a:r>
              <a:rPr lang="en-ID" dirty="0" err="1"/>
              <a:t>nguồn</a:t>
            </a:r>
            <a:r>
              <a:rPr lang="en-ID" dirty="0"/>
              <a:t> </a:t>
            </a:r>
            <a:r>
              <a:rPr lang="en-ID" dirty="0" err="1"/>
              <a:t>mở</a:t>
            </a:r>
            <a:r>
              <a:rPr lang="en-ID" dirty="0"/>
              <a:t>, </a:t>
            </a:r>
            <a:r>
              <a:rPr lang="en-ID" dirty="0" err="1"/>
              <a:t>được</a:t>
            </a:r>
            <a:r>
              <a:rPr lang="en-ID" dirty="0"/>
              <a:t> </a:t>
            </a:r>
            <a:r>
              <a:rPr lang="en-ID" dirty="0" err="1"/>
              <a:t>xây</a:t>
            </a:r>
            <a:r>
              <a:rPr lang="en-ID" dirty="0"/>
              <a:t> </a:t>
            </a:r>
            <a:r>
              <a:rPr lang="en-ID" dirty="0" err="1"/>
              <a:t>dựng</a:t>
            </a:r>
            <a:r>
              <a:rPr lang="en-ID" dirty="0"/>
              <a:t> </a:t>
            </a:r>
            <a:r>
              <a:rPr lang="en-ID" dirty="0" err="1"/>
              <a:t>dựa</a:t>
            </a:r>
            <a:r>
              <a:rPr lang="en-ID" dirty="0"/>
              <a:t> </a:t>
            </a:r>
            <a:r>
              <a:rPr lang="en-ID" dirty="0" err="1"/>
              <a:t>trên</a:t>
            </a:r>
            <a:r>
              <a:rPr lang="en-ID" dirty="0"/>
              <a:t> Apache Hadoop. </a:t>
            </a:r>
            <a:r>
              <a:rPr lang="en-ID" dirty="0" err="1"/>
              <a:t>Nền</a:t>
            </a:r>
            <a:r>
              <a:rPr lang="en-ID" dirty="0"/>
              <a:t> </a:t>
            </a:r>
            <a:r>
              <a:rPr lang="en-ID" dirty="0" err="1"/>
              <a:t>tảng</a:t>
            </a:r>
            <a:r>
              <a:rPr lang="en-ID" dirty="0"/>
              <a:t> </a:t>
            </a:r>
            <a:r>
              <a:rPr lang="en-ID" dirty="0" err="1"/>
              <a:t>này</a:t>
            </a:r>
            <a:r>
              <a:rPr lang="en-ID" dirty="0"/>
              <a:t> </a:t>
            </a:r>
            <a:r>
              <a:rPr lang="en-ID" dirty="0" err="1"/>
              <a:t>cung</a:t>
            </a:r>
            <a:r>
              <a:rPr lang="en-ID" dirty="0"/>
              <a:t> </a:t>
            </a:r>
            <a:r>
              <a:rPr lang="en-ID" dirty="0" err="1"/>
              <a:t>cấp</a:t>
            </a:r>
            <a:r>
              <a:rPr lang="en-ID" dirty="0"/>
              <a:t> </a:t>
            </a:r>
            <a:r>
              <a:rPr lang="en-ID" dirty="0" err="1"/>
              <a:t>cho</a:t>
            </a:r>
            <a:r>
              <a:rPr lang="en-ID" dirty="0"/>
              <a:t> </a:t>
            </a:r>
            <a:r>
              <a:rPr lang="en-ID" dirty="0" err="1"/>
              <a:t>doanh</a:t>
            </a:r>
            <a:r>
              <a:rPr lang="en-ID" dirty="0"/>
              <a:t> </a:t>
            </a:r>
            <a:r>
              <a:rPr lang="en-ID" dirty="0" err="1"/>
              <a:t>nghiệp</a:t>
            </a:r>
            <a:r>
              <a:rPr lang="en-ID" dirty="0"/>
              <a:t> </a:t>
            </a:r>
            <a:r>
              <a:rPr lang="en-ID" dirty="0" err="1"/>
              <a:t>bộ</a:t>
            </a:r>
            <a:r>
              <a:rPr lang="en-ID" dirty="0"/>
              <a:t> </a:t>
            </a:r>
            <a:r>
              <a:rPr lang="en-ID" dirty="0" err="1"/>
              <a:t>công</a:t>
            </a:r>
            <a:r>
              <a:rPr lang="en-ID" dirty="0"/>
              <a:t> </a:t>
            </a:r>
            <a:r>
              <a:rPr lang="en-ID" dirty="0" err="1"/>
              <a:t>cụ</a:t>
            </a:r>
            <a:r>
              <a:rPr lang="en-ID" dirty="0"/>
              <a:t> </a:t>
            </a:r>
            <a:r>
              <a:rPr lang="en-ID" dirty="0" err="1"/>
              <a:t>toàn</a:t>
            </a:r>
            <a:r>
              <a:rPr lang="en-ID" dirty="0"/>
              <a:t> </a:t>
            </a:r>
            <a:r>
              <a:rPr lang="en-ID" dirty="0" err="1"/>
              <a:t>diện</a:t>
            </a:r>
            <a:r>
              <a:rPr lang="en-ID" dirty="0"/>
              <a:t> </a:t>
            </a:r>
            <a:r>
              <a:rPr lang="en-ID" dirty="0" err="1"/>
              <a:t>để</a:t>
            </a:r>
            <a:r>
              <a:rPr lang="en-ID" dirty="0"/>
              <a:t> </a:t>
            </a:r>
            <a:r>
              <a:rPr lang="en-ID" dirty="0" err="1"/>
              <a:t>lưu</a:t>
            </a:r>
            <a:r>
              <a:rPr lang="en-ID" dirty="0"/>
              <a:t> </a:t>
            </a:r>
            <a:r>
              <a:rPr lang="en-ID" dirty="0" err="1"/>
              <a:t>trữ</a:t>
            </a:r>
            <a:r>
              <a:rPr lang="en-ID" dirty="0"/>
              <a:t>, </a:t>
            </a:r>
            <a:r>
              <a:rPr lang="en-ID" dirty="0" err="1"/>
              <a:t>quản</a:t>
            </a:r>
            <a:r>
              <a:rPr lang="en-ID" dirty="0"/>
              <a:t> </a:t>
            </a:r>
            <a:r>
              <a:rPr lang="en-ID" dirty="0" err="1"/>
              <a:t>lý</a:t>
            </a:r>
            <a:r>
              <a:rPr lang="en-ID" dirty="0"/>
              <a:t>, </a:t>
            </a:r>
            <a:r>
              <a:rPr lang="en-ID" dirty="0" err="1"/>
              <a:t>xử</a:t>
            </a:r>
            <a:r>
              <a:rPr lang="en-ID" dirty="0"/>
              <a:t> </a:t>
            </a:r>
            <a:r>
              <a:rPr lang="en-ID" dirty="0" err="1"/>
              <a:t>lý</a:t>
            </a:r>
            <a:r>
              <a:rPr lang="en-ID" dirty="0"/>
              <a:t> </a:t>
            </a:r>
            <a:r>
              <a:rPr lang="en-ID" dirty="0" err="1"/>
              <a:t>và</a:t>
            </a:r>
            <a:r>
              <a:rPr lang="en-ID" dirty="0"/>
              <a:t> </a:t>
            </a:r>
            <a:r>
              <a:rPr lang="en-ID" dirty="0" err="1"/>
              <a:t>phân</a:t>
            </a:r>
            <a:r>
              <a:rPr lang="en-ID" dirty="0"/>
              <a:t> </a:t>
            </a:r>
            <a:r>
              <a:rPr lang="en-ID" dirty="0" err="1"/>
              <a:t>tích</a:t>
            </a:r>
            <a:r>
              <a:rPr lang="en-ID" dirty="0"/>
              <a:t> </a:t>
            </a:r>
            <a:r>
              <a:rPr lang="en-ID" dirty="0" err="1"/>
              <a:t>khối</a:t>
            </a:r>
            <a:r>
              <a:rPr lang="en-ID" dirty="0"/>
              <a:t> </a:t>
            </a:r>
            <a:r>
              <a:rPr lang="en-ID" dirty="0" err="1"/>
              <a:t>lượng</a:t>
            </a:r>
            <a:r>
              <a:rPr lang="en-ID" dirty="0"/>
              <a:t> </a:t>
            </a:r>
            <a:r>
              <a:rPr lang="en-ID" dirty="0" err="1"/>
              <a:t>dữ</a:t>
            </a:r>
            <a:r>
              <a:rPr lang="en-ID" dirty="0"/>
              <a:t> </a:t>
            </a:r>
            <a:r>
              <a:rPr lang="en-ID" dirty="0" err="1"/>
              <a:t>liệu</a:t>
            </a:r>
            <a:r>
              <a:rPr lang="en-ID" dirty="0"/>
              <a:t> </a:t>
            </a:r>
            <a:r>
              <a:rPr lang="en-ID" dirty="0" err="1"/>
              <a:t>khổng</a:t>
            </a:r>
            <a:r>
              <a:rPr lang="en-ID" dirty="0"/>
              <a:t> </a:t>
            </a:r>
            <a:r>
              <a:rPr lang="en-ID" dirty="0" err="1"/>
              <a:t>lồ</a:t>
            </a:r>
            <a:r>
              <a:rPr lang="en-ID" dirty="0"/>
              <a:t> </a:t>
            </a:r>
            <a:r>
              <a:rPr lang="en-ID" dirty="0" err="1"/>
              <a:t>từ</a:t>
            </a:r>
            <a:r>
              <a:rPr lang="en-ID" dirty="0"/>
              <a:t> </a:t>
            </a:r>
            <a:r>
              <a:rPr lang="en-ID" dirty="0" err="1"/>
              <a:t>nhiều</a:t>
            </a:r>
            <a:r>
              <a:rPr lang="en-ID" dirty="0"/>
              <a:t> </a:t>
            </a:r>
            <a:r>
              <a:rPr lang="en-ID" dirty="0" err="1"/>
              <a:t>nguồn</a:t>
            </a:r>
            <a:r>
              <a:rPr lang="en-ID" dirty="0"/>
              <a:t> </a:t>
            </a:r>
            <a:r>
              <a:rPr lang="en-ID" dirty="0" err="1"/>
              <a:t>khác</a:t>
            </a:r>
            <a:r>
              <a:rPr lang="en-ID" dirty="0"/>
              <a:t> </a:t>
            </a:r>
            <a:r>
              <a:rPr lang="en-ID" dirty="0" err="1"/>
              <a:t>nhau</a:t>
            </a:r>
            <a:r>
              <a:rPr lang="en-ID" dirty="0"/>
              <a:t>.</a:t>
            </a:r>
          </a:p>
          <a:p>
            <a:r>
              <a:rPr lang="en-ID" dirty="0" err="1"/>
              <a:t>Hortonwork</a:t>
            </a:r>
            <a:r>
              <a:rPr lang="en-ID" dirty="0"/>
              <a:t> Data Platform </a:t>
            </a:r>
            <a:r>
              <a:rPr lang="en-ID" dirty="0" err="1"/>
              <a:t>phù</a:t>
            </a:r>
            <a:r>
              <a:rPr lang="en-ID" dirty="0"/>
              <a:t> </a:t>
            </a:r>
            <a:r>
              <a:rPr lang="en-ID" dirty="0" err="1"/>
              <a:t>hợp</a:t>
            </a:r>
            <a:r>
              <a:rPr lang="en-ID" dirty="0"/>
              <a:t> </a:t>
            </a:r>
            <a:r>
              <a:rPr lang="en-ID" dirty="0" err="1"/>
              <a:t>nhất</a:t>
            </a:r>
            <a:r>
              <a:rPr lang="en-ID" dirty="0"/>
              <a:t> </a:t>
            </a:r>
            <a:r>
              <a:rPr lang="en-ID" dirty="0" err="1"/>
              <a:t>cho</a:t>
            </a:r>
            <a:r>
              <a:rPr lang="en-ID" dirty="0"/>
              <a:t> </a:t>
            </a:r>
            <a:r>
              <a:rPr lang="en-ID" dirty="0" err="1"/>
              <a:t>các</a:t>
            </a:r>
            <a:r>
              <a:rPr lang="en-ID" dirty="0"/>
              <a:t> </a:t>
            </a:r>
            <a:r>
              <a:rPr lang="en-ID" dirty="0" err="1"/>
              <a:t>bài</a:t>
            </a:r>
            <a:r>
              <a:rPr lang="en-ID" dirty="0"/>
              <a:t> </a:t>
            </a:r>
            <a:r>
              <a:rPr lang="en-ID" dirty="0" err="1"/>
              <a:t>toán</a:t>
            </a:r>
            <a:r>
              <a:rPr lang="en-ID" dirty="0"/>
              <a:t> </a:t>
            </a:r>
            <a:r>
              <a:rPr lang="en-ID" dirty="0" err="1"/>
              <a:t>xử</a:t>
            </a:r>
            <a:r>
              <a:rPr lang="en-ID" dirty="0"/>
              <a:t> </a:t>
            </a:r>
            <a:r>
              <a:rPr lang="en-ID" dirty="0" err="1"/>
              <a:t>lý</a:t>
            </a:r>
            <a:r>
              <a:rPr lang="en-ID" dirty="0"/>
              <a:t> </a:t>
            </a:r>
            <a:r>
              <a:rPr lang="en-ID" dirty="0" err="1"/>
              <a:t>dữ</a:t>
            </a:r>
            <a:r>
              <a:rPr lang="en-ID" dirty="0"/>
              <a:t> </a:t>
            </a:r>
            <a:r>
              <a:rPr lang="en-ID" dirty="0" err="1"/>
              <a:t>liệu</a:t>
            </a:r>
            <a:r>
              <a:rPr lang="en-ID" dirty="0"/>
              <a:t> </a:t>
            </a:r>
            <a:r>
              <a:rPr lang="en-ID" dirty="0" err="1"/>
              <a:t>lớn</a:t>
            </a:r>
            <a:r>
              <a:rPr lang="en-ID" dirty="0"/>
              <a:t> ở </a:t>
            </a:r>
            <a:r>
              <a:rPr lang="en-ID" dirty="0" err="1"/>
              <a:t>quy</a:t>
            </a:r>
            <a:r>
              <a:rPr lang="en-ID" dirty="0"/>
              <a:t> </a:t>
            </a:r>
            <a:r>
              <a:rPr lang="en-ID" dirty="0" err="1"/>
              <a:t>mô</a:t>
            </a:r>
            <a:r>
              <a:rPr lang="en-ID" dirty="0"/>
              <a:t> </a:t>
            </a:r>
            <a:r>
              <a:rPr lang="en-ID" dirty="0" err="1"/>
              <a:t>từ</a:t>
            </a:r>
            <a:r>
              <a:rPr lang="en-ID" dirty="0"/>
              <a:t> </a:t>
            </a:r>
            <a:r>
              <a:rPr lang="en-ID" dirty="0" err="1"/>
              <a:t>vài</a:t>
            </a:r>
            <a:r>
              <a:rPr lang="en-ID" dirty="0"/>
              <a:t> Terabyte </a:t>
            </a:r>
            <a:r>
              <a:rPr lang="en-ID" dirty="0" err="1"/>
              <a:t>đến</a:t>
            </a:r>
            <a:r>
              <a:rPr lang="en-ID" dirty="0"/>
              <a:t> </a:t>
            </a:r>
            <a:r>
              <a:rPr lang="en-ID" dirty="0" err="1"/>
              <a:t>hàng</a:t>
            </a:r>
            <a:r>
              <a:rPr lang="en-ID" dirty="0"/>
              <a:t> Petabyte, </a:t>
            </a:r>
            <a:r>
              <a:rPr lang="en-ID" dirty="0" err="1"/>
              <a:t>nơi</a:t>
            </a:r>
            <a:r>
              <a:rPr lang="en-ID" dirty="0"/>
              <a:t> </a:t>
            </a:r>
            <a:r>
              <a:rPr lang="en-ID" dirty="0" err="1"/>
              <a:t>các</a:t>
            </a:r>
            <a:r>
              <a:rPr lang="en-ID" dirty="0"/>
              <a:t> </a:t>
            </a:r>
            <a:r>
              <a:rPr lang="en-ID" dirty="0" err="1"/>
              <a:t>cơ</a:t>
            </a:r>
            <a:r>
              <a:rPr lang="en-ID" dirty="0"/>
              <a:t> </a:t>
            </a:r>
            <a:r>
              <a:rPr lang="en-ID" dirty="0" err="1"/>
              <a:t>sở</a:t>
            </a:r>
            <a:r>
              <a:rPr lang="en-ID" dirty="0"/>
              <a:t> </a:t>
            </a:r>
            <a:r>
              <a:rPr lang="en-ID" dirty="0" err="1"/>
              <a:t>dữ</a:t>
            </a:r>
            <a:r>
              <a:rPr lang="en-ID" dirty="0"/>
              <a:t> </a:t>
            </a:r>
            <a:r>
              <a:rPr lang="en-ID" dirty="0" err="1"/>
              <a:t>liệu</a:t>
            </a:r>
            <a:r>
              <a:rPr lang="en-ID" dirty="0"/>
              <a:t> </a:t>
            </a:r>
            <a:r>
              <a:rPr lang="en-ID" dirty="0" err="1"/>
              <a:t>truyền</a:t>
            </a:r>
            <a:r>
              <a:rPr lang="en-ID" dirty="0"/>
              <a:t> </a:t>
            </a:r>
            <a:r>
              <a:rPr lang="en-ID" dirty="0" err="1"/>
              <a:t>thống</a:t>
            </a:r>
            <a:r>
              <a:rPr lang="en-ID" dirty="0"/>
              <a:t> </a:t>
            </a:r>
            <a:r>
              <a:rPr lang="en-ID" dirty="0" err="1"/>
              <a:t>không</a:t>
            </a:r>
            <a:r>
              <a:rPr lang="en-ID" dirty="0"/>
              <a:t> </a:t>
            </a:r>
            <a:r>
              <a:rPr lang="en-ID" dirty="0" err="1"/>
              <a:t>thể</a:t>
            </a:r>
            <a:r>
              <a:rPr lang="en-ID" dirty="0"/>
              <a:t> </a:t>
            </a:r>
            <a:r>
              <a:rPr lang="en-ID" dirty="0" err="1"/>
              <a:t>đáp</a:t>
            </a:r>
            <a:r>
              <a:rPr lang="en-ID" dirty="0"/>
              <a:t> </a:t>
            </a:r>
            <a:r>
              <a:rPr lang="en-ID" dirty="0" err="1"/>
              <a:t>ứng</a:t>
            </a:r>
            <a:r>
              <a:rPr lang="en-ID" dirty="0"/>
              <a:t> </a:t>
            </a:r>
            <a:r>
              <a:rPr lang="en-ID" dirty="0" err="1"/>
              <a:t>được</a:t>
            </a:r>
            <a:r>
              <a:rPr lang="en-ID" dirty="0"/>
              <a:t>. Các </a:t>
            </a:r>
            <a:r>
              <a:rPr lang="en-ID" dirty="0" err="1"/>
              <a:t>bài</a:t>
            </a:r>
            <a:r>
              <a:rPr lang="en-ID" dirty="0"/>
              <a:t> </a:t>
            </a:r>
            <a:r>
              <a:rPr lang="en-ID" dirty="0" err="1"/>
              <a:t>toán</a:t>
            </a:r>
            <a:r>
              <a:rPr lang="en-ID" dirty="0"/>
              <a:t> </a:t>
            </a:r>
            <a:r>
              <a:rPr lang="en-ID" dirty="0" err="1"/>
              <a:t>tiêu</a:t>
            </a:r>
            <a:r>
              <a:rPr lang="en-ID" dirty="0"/>
              <a:t> </a:t>
            </a:r>
            <a:r>
              <a:rPr lang="en-ID" dirty="0" err="1"/>
              <a:t>biểu</a:t>
            </a:r>
            <a:r>
              <a:rPr lang="en-ID" dirty="0"/>
              <a:t> bao </a:t>
            </a:r>
            <a:r>
              <a:rPr lang="en-ID" dirty="0" err="1"/>
              <a:t>gồm</a:t>
            </a:r>
            <a:r>
              <a:rPr lang="en-ID" dirty="0"/>
              <a:t>:</a:t>
            </a:r>
          </a:p>
          <a:p>
            <a:pPr marL="285750" indent="-285750">
              <a:buFont typeface="Arial" panose="020B0604020202020204" pitchFamily="34" charset="0"/>
              <a:buChar char="•"/>
            </a:pPr>
            <a:r>
              <a:rPr lang="en-ID" dirty="0" err="1"/>
              <a:t>Xây</a:t>
            </a:r>
            <a:r>
              <a:rPr lang="en-ID" dirty="0"/>
              <a:t> </a:t>
            </a:r>
            <a:r>
              <a:rPr lang="en-ID" dirty="0" err="1"/>
              <a:t>dựng</a:t>
            </a:r>
            <a:r>
              <a:rPr lang="en-ID" dirty="0"/>
              <a:t> </a:t>
            </a:r>
            <a:r>
              <a:rPr lang="en-ID" dirty="0" err="1"/>
              <a:t>Hồ</a:t>
            </a:r>
            <a:r>
              <a:rPr lang="en-ID" dirty="0"/>
              <a:t> </a:t>
            </a:r>
            <a:r>
              <a:rPr lang="en-ID" dirty="0" err="1"/>
              <a:t>dữ</a:t>
            </a:r>
            <a:r>
              <a:rPr lang="en-ID" dirty="0"/>
              <a:t> </a:t>
            </a:r>
            <a:r>
              <a:rPr lang="en-ID" dirty="0" err="1"/>
              <a:t>liệu</a:t>
            </a:r>
            <a:r>
              <a:rPr lang="en-ID" dirty="0"/>
              <a:t> </a:t>
            </a:r>
            <a:r>
              <a:rPr lang="en-ID" dirty="0" err="1"/>
              <a:t>doanh</a:t>
            </a:r>
            <a:r>
              <a:rPr lang="en-ID" dirty="0"/>
              <a:t> </a:t>
            </a:r>
            <a:r>
              <a:rPr lang="en-ID" dirty="0" err="1"/>
              <a:t>nghiệp</a:t>
            </a:r>
            <a:r>
              <a:rPr lang="en-ID" dirty="0"/>
              <a:t> (Enterprise Data Lake)</a:t>
            </a:r>
          </a:p>
          <a:p>
            <a:pPr marL="285750" indent="-285750">
              <a:buFont typeface="Arial" panose="020B0604020202020204" pitchFamily="34" charset="0"/>
              <a:buChar char="•"/>
            </a:pPr>
            <a:r>
              <a:rPr lang="en-ID" dirty="0" err="1"/>
              <a:t>Phân</a:t>
            </a:r>
            <a:r>
              <a:rPr lang="en-ID" dirty="0"/>
              <a:t> </a:t>
            </a:r>
            <a:r>
              <a:rPr lang="en-ID" dirty="0" err="1"/>
              <a:t>tích</a:t>
            </a:r>
            <a:r>
              <a:rPr lang="en-ID" dirty="0"/>
              <a:t> </a:t>
            </a:r>
            <a:r>
              <a:rPr lang="en-ID" dirty="0" err="1"/>
              <a:t>dữ</a:t>
            </a:r>
            <a:r>
              <a:rPr lang="en-ID" dirty="0"/>
              <a:t> </a:t>
            </a:r>
            <a:r>
              <a:rPr lang="en-ID" dirty="0" err="1"/>
              <a:t>liệu</a:t>
            </a:r>
            <a:r>
              <a:rPr lang="en-ID" dirty="0"/>
              <a:t> </a:t>
            </a:r>
            <a:r>
              <a:rPr lang="en-ID" dirty="0" err="1"/>
              <a:t>và</a:t>
            </a:r>
            <a:r>
              <a:rPr lang="en-ID" dirty="0"/>
              <a:t> Báo </a:t>
            </a:r>
            <a:r>
              <a:rPr lang="en-ID" dirty="0" err="1"/>
              <a:t>cáo</a:t>
            </a:r>
            <a:r>
              <a:rPr lang="en-ID" dirty="0"/>
              <a:t> </a:t>
            </a:r>
            <a:r>
              <a:rPr lang="en-ID" dirty="0" err="1"/>
              <a:t>nâng</a:t>
            </a:r>
            <a:r>
              <a:rPr lang="en-ID" dirty="0"/>
              <a:t> </a:t>
            </a:r>
            <a:r>
              <a:rPr lang="en-ID" dirty="0" err="1"/>
              <a:t>cao</a:t>
            </a:r>
            <a:r>
              <a:rPr lang="en-ID" dirty="0"/>
              <a:t> (Advanced Analytics)</a:t>
            </a:r>
          </a:p>
          <a:p>
            <a:pPr marL="285750" indent="-285750">
              <a:buFont typeface="Arial" panose="020B0604020202020204" pitchFamily="34" charset="0"/>
              <a:buChar char="•"/>
            </a:pPr>
            <a:r>
              <a:rPr lang="en-ID" dirty="0" err="1"/>
              <a:t>Xử</a:t>
            </a:r>
            <a:r>
              <a:rPr lang="en-ID" dirty="0"/>
              <a:t> </a:t>
            </a:r>
            <a:r>
              <a:rPr lang="en-ID" dirty="0" err="1"/>
              <a:t>lý</a:t>
            </a:r>
            <a:r>
              <a:rPr lang="en-ID" dirty="0"/>
              <a:t> </a:t>
            </a:r>
            <a:r>
              <a:rPr lang="en-ID" dirty="0" err="1"/>
              <a:t>dữ</a:t>
            </a:r>
            <a:r>
              <a:rPr lang="en-ID" dirty="0"/>
              <a:t> </a:t>
            </a:r>
            <a:r>
              <a:rPr lang="en-ID" dirty="0" err="1"/>
              <a:t>liệu</a:t>
            </a:r>
            <a:r>
              <a:rPr lang="en-ID" dirty="0"/>
              <a:t> </a:t>
            </a:r>
            <a:r>
              <a:rPr lang="en-ID" dirty="0" err="1"/>
              <a:t>thời</a:t>
            </a:r>
            <a:r>
              <a:rPr lang="en-ID" dirty="0"/>
              <a:t> </a:t>
            </a:r>
            <a:r>
              <a:rPr lang="en-ID" dirty="0" err="1"/>
              <a:t>gian</a:t>
            </a:r>
            <a:r>
              <a:rPr lang="en-ID" dirty="0"/>
              <a:t> </a:t>
            </a:r>
            <a:r>
              <a:rPr lang="en-ID" dirty="0" err="1"/>
              <a:t>thực</a:t>
            </a:r>
            <a:r>
              <a:rPr lang="en-ID" dirty="0"/>
              <a:t> (Real-time Streaming &amp; IoT)</a:t>
            </a:r>
          </a:p>
          <a:p>
            <a:pPr marL="285750" indent="-285750">
              <a:buFont typeface="Arial" panose="020B0604020202020204" pitchFamily="34" charset="0"/>
              <a:buChar char="•"/>
            </a:pPr>
            <a:r>
              <a:rPr lang="en-ID" dirty="0"/>
              <a:t>Học </a:t>
            </a:r>
            <a:r>
              <a:rPr lang="en-ID" dirty="0" err="1"/>
              <a:t>máy</a:t>
            </a:r>
            <a:r>
              <a:rPr lang="en-ID" dirty="0"/>
              <a:t> </a:t>
            </a:r>
            <a:r>
              <a:rPr lang="en-ID" dirty="0" err="1"/>
              <a:t>và</a:t>
            </a:r>
            <a:r>
              <a:rPr lang="en-ID" dirty="0"/>
              <a:t> Trí </a:t>
            </a:r>
            <a:r>
              <a:rPr lang="en-ID" dirty="0" err="1"/>
              <a:t>tuệ</a:t>
            </a:r>
            <a:r>
              <a:rPr lang="en-ID" dirty="0"/>
              <a:t> </a:t>
            </a:r>
            <a:r>
              <a:rPr lang="en-ID" dirty="0" err="1"/>
              <a:t>nhân</a:t>
            </a:r>
            <a:r>
              <a:rPr lang="en-ID" dirty="0"/>
              <a:t> </a:t>
            </a:r>
            <a:r>
              <a:rPr lang="en-ID" dirty="0" err="1"/>
              <a:t>tạo</a:t>
            </a:r>
            <a:r>
              <a:rPr lang="en-ID" dirty="0"/>
              <a:t> (Machine Learning &amp; AI)</a:t>
            </a:r>
          </a:p>
        </p:txBody>
      </p:sp>
      <p:pic>
        <p:nvPicPr>
          <p:cNvPr id="11" name="Picture 10">
            <a:extLst>
              <a:ext uri="{FF2B5EF4-FFF2-40B4-BE49-F238E27FC236}">
                <a16:creationId xmlns:a16="http://schemas.microsoft.com/office/drawing/2014/main" id="{0CA6827A-3CBB-5B63-93B6-22447CC05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0" y="3181350"/>
            <a:ext cx="2667000" cy="2990850"/>
          </a:xfrm>
          <a:prstGeom prst="rect">
            <a:avLst/>
          </a:prstGeom>
        </p:spPr>
      </p:pic>
    </p:spTree>
    <p:extLst>
      <p:ext uri="{BB962C8B-B14F-4D97-AF65-F5344CB8AC3E}">
        <p14:creationId xmlns:p14="http://schemas.microsoft.com/office/powerpoint/2010/main" val="3027804903"/>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{7DAA69D8-4081-41AA-AF90-59615CB54555}0f45c1b8-b519-4737-8f12-a18148944ef7-TFfcaeb239-e0ad-43c4-9739-4084ddd7c62fe496f549_win32</Template>
  <TotalTime>431</TotalTime>
  <Words>1198</Words>
  <Application>Microsoft Office PowerPoint</Application>
  <PresentationFormat>Widescreen</PresentationFormat>
  <Paragraphs>51</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Bahnschrift SemiLight</vt:lpstr>
      <vt:lpstr>Blockwork elegance</vt:lpstr>
      <vt:lpstr>Tổng quan về Big data</vt:lpstr>
      <vt:lpstr>Mục lục</vt:lpstr>
      <vt:lpstr>Big data Là gì?</vt:lpstr>
      <vt:lpstr>Data source</vt:lpstr>
      <vt:lpstr>Data ingestion</vt:lpstr>
      <vt:lpstr>Data Storage</vt:lpstr>
      <vt:lpstr>Data processing</vt:lpstr>
      <vt:lpstr>Data analytics</vt:lpstr>
      <vt:lpstr>Data visualization</vt:lpstr>
      <vt:lpstr>Structured Data</vt:lpstr>
      <vt:lpstr>Semi-structured data</vt:lpstr>
      <vt:lpstr>Unstructured data</vt:lpstr>
      <vt:lpstr>Data warehouse</vt:lpstr>
      <vt:lpstr>Data lake</vt:lpstr>
      <vt:lpstr>Data lakehouse</vt:lpstr>
      <vt:lpstr>Hortonwork data platform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Anh Quan  (S.CECS)</dc:creator>
  <cp:lastModifiedBy>Le Anh Quan  (S.CECS)</cp:lastModifiedBy>
  <cp:revision>2</cp:revision>
  <dcterms:created xsi:type="dcterms:W3CDTF">2026-07-17T03:24:23Z</dcterms:created>
  <dcterms:modified xsi:type="dcterms:W3CDTF">2026-07-19T10:41:32Z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