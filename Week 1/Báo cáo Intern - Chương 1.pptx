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26"/>
  </p:notesMasterIdLst>
  <p:handoutMasterIdLst>
    <p:handoutMasterId r:id="rId27"/>
  </p:handoutMasterIdLst>
  <p:sldIdLst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D77061-1DDE-4F16-873A-B7EECA49C7C2}">
          <p14:sldIdLst>
            <p14:sldId id="258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  <p14:sldId id="269"/>
            <p14:sldId id="270"/>
            <p14:sldId id="271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0"/>
  </p:normalViewPr>
  <p:slideViewPr>
    <p:cSldViewPr showGuides="1">
      <p:cViewPr varScale="1">
        <p:scale>
          <a:sx n="84" d="100"/>
          <a:sy n="84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7/9/2026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7/9/2026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7/9/2026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br>
              <a:rPr lang="en-US" dirty="0"/>
            </a:br>
            <a:r>
              <a:rPr lang="en-US" dirty="0" err="1"/>
              <a:t>sql</a:t>
            </a:r>
            <a:r>
              <a:rPr lang="en-US" dirty="0"/>
              <a:t> database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Lê Anh Quân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B0CC-CD37-C945-F880-83A3F5A72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lục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6E8A5-5D63-D23C-49F8-E99C046DA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I. </a:t>
            </a:r>
            <a:r>
              <a:rPr lang="en-US" sz="2000" dirty="0" err="1"/>
              <a:t>Tổng</a:t>
            </a:r>
            <a:r>
              <a:rPr lang="en-US" sz="2000" dirty="0"/>
              <a:t> </a:t>
            </a:r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về</a:t>
            </a:r>
            <a:r>
              <a:rPr lang="en-US" sz="2000" dirty="0"/>
              <a:t> SQL</a:t>
            </a:r>
            <a:br>
              <a:rPr lang="en-US" sz="2000" dirty="0"/>
            </a:br>
            <a:r>
              <a:rPr lang="en-US" sz="2000" dirty="0"/>
              <a:t>	1. SQL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gì</a:t>
            </a:r>
            <a:r>
              <a:rPr lang="en-US" sz="2000" dirty="0"/>
              <a:t>?</a:t>
            </a:r>
            <a:br>
              <a:rPr lang="en-US" sz="2000" dirty="0"/>
            </a:br>
            <a:r>
              <a:rPr lang="en-US" sz="2000" dirty="0"/>
              <a:t>	2. Các </a:t>
            </a:r>
            <a:r>
              <a:rPr lang="en-US" sz="2000" dirty="0" err="1"/>
              <a:t>thành</a:t>
            </a:r>
            <a:r>
              <a:rPr lang="en-US" sz="2000" dirty="0"/>
              <a:t> </a:t>
            </a:r>
            <a:r>
              <a:rPr lang="en-US" sz="2000" dirty="0" err="1"/>
              <a:t>phần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SQL</a:t>
            </a:r>
          </a:p>
          <a:p>
            <a:r>
              <a:rPr lang="en-US" sz="2000" dirty="0"/>
              <a:t>II. OLTP </a:t>
            </a:r>
            <a:r>
              <a:rPr lang="en-US" sz="2000" dirty="0" err="1"/>
              <a:t>và</a:t>
            </a:r>
            <a:r>
              <a:rPr lang="en-US" sz="2000" dirty="0"/>
              <a:t> OLAP</a:t>
            </a:r>
            <a:br>
              <a:rPr lang="en-US" sz="2000" dirty="0"/>
            </a:br>
            <a:r>
              <a:rPr lang="en-US" sz="2000" dirty="0"/>
              <a:t>	1. OLTP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gì</a:t>
            </a:r>
            <a:br>
              <a:rPr lang="en-US" sz="2000" dirty="0"/>
            </a:br>
            <a:r>
              <a:rPr lang="en-US" sz="2000" dirty="0"/>
              <a:t>	2. OLAP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gì</a:t>
            </a:r>
            <a:br>
              <a:rPr lang="en-US" sz="2000" dirty="0"/>
            </a:br>
            <a:r>
              <a:rPr lang="en-US" sz="2000" dirty="0"/>
              <a:t>	3. </a:t>
            </a:r>
            <a:r>
              <a:rPr lang="en-US" sz="2000" dirty="0" err="1"/>
              <a:t>Điểm</a:t>
            </a:r>
            <a:r>
              <a:rPr lang="en-US" sz="2000" dirty="0"/>
              <a:t> </a:t>
            </a:r>
            <a:r>
              <a:rPr lang="en-US" sz="2000" dirty="0" err="1"/>
              <a:t>khác</a:t>
            </a:r>
            <a:r>
              <a:rPr lang="en-US" sz="2000" dirty="0"/>
              <a:t> </a:t>
            </a:r>
            <a:r>
              <a:rPr lang="en-US" sz="2000" dirty="0" err="1"/>
              <a:t>biệt</a:t>
            </a:r>
            <a:r>
              <a:rPr lang="en-US" sz="2000" dirty="0"/>
              <a:t> </a:t>
            </a:r>
            <a:r>
              <a:rPr lang="en-US" sz="2000" dirty="0" err="1"/>
              <a:t>giữa</a:t>
            </a:r>
            <a:r>
              <a:rPr lang="en-US" sz="2000" dirty="0"/>
              <a:t> OLTP </a:t>
            </a:r>
            <a:r>
              <a:rPr lang="en-US" sz="2000" dirty="0" err="1"/>
              <a:t>và</a:t>
            </a:r>
            <a:r>
              <a:rPr lang="en-US" sz="2000" dirty="0"/>
              <a:t> OLAP</a:t>
            </a:r>
          </a:p>
          <a:p>
            <a:r>
              <a:rPr lang="en-US" sz="2000" dirty="0"/>
              <a:t>III. ACID </a:t>
            </a:r>
            <a:r>
              <a:rPr lang="en-US" sz="2000" dirty="0" err="1"/>
              <a:t>và</a:t>
            </a:r>
            <a:r>
              <a:rPr lang="en-US" sz="2000" dirty="0"/>
              <a:t> CAP Theorem</a:t>
            </a:r>
            <a:br>
              <a:rPr lang="en-US" sz="2000" dirty="0"/>
            </a:br>
            <a:r>
              <a:rPr lang="en-US" sz="2000" dirty="0"/>
              <a:t>	1. ACID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gì</a:t>
            </a:r>
            <a:r>
              <a:rPr lang="en-US" sz="2000" dirty="0"/>
              <a:t>?</a:t>
            </a:r>
            <a:br>
              <a:rPr lang="en-US" sz="2000" dirty="0"/>
            </a:br>
            <a:r>
              <a:rPr lang="en-US" sz="2000" dirty="0"/>
              <a:t>	2. CAP </a:t>
            </a:r>
            <a:r>
              <a:rPr lang="en-US" sz="2000" dirty="0" err="1"/>
              <a:t>Therem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gì</a:t>
            </a:r>
            <a:r>
              <a:rPr lang="en-US" sz="2000" dirty="0"/>
              <a:t>?</a:t>
            </a:r>
          </a:p>
          <a:p>
            <a:r>
              <a:rPr lang="en-US" sz="2000" dirty="0"/>
              <a:t>IV. Các </a:t>
            </a:r>
            <a:r>
              <a:rPr lang="en-US" sz="2000" dirty="0" err="1"/>
              <a:t>yếu</a:t>
            </a:r>
            <a:r>
              <a:rPr lang="en-US" sz="2000" dirty="0"/>
              <a:t> </a:t>
            </a:r>
            <a:r>
              <a:rPr lang="en-US" sz="2000" dirty="0" err="1"/>
              <a:t>tố</a:t>
            </a:r>
            <a:r>
              <a:rPr lang="en-US" sz="2000" dirty="0"/>
              <a:t> </a:t>
            </a:r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trọng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quản</a:t>
            </a:r>
            <a:r>
              <a:rPr lang="en-US" sz="2000" dirty="0"/>
              <a:t> </a:t>
            </a:r>
            <a:r>
              <a:rPr lang="en-US" sz="2000" dirty="0" err="1"/>
              <a:t>trị</a:t>
            </a:r>
            <a:r>
              <a:rPr lang="en-US" sz="2000" dirty="0"/>
              <a:t> </a:t>
            </a:r>
            <a:r>
              <a:rPr lang="en-US" sz="2000" dirty="0" err="1"/>
              <a:t>cơ</a:t>
            </a:r>
            <a:r>
              <a:rPr lang="en-US" sz="2000" dirty="0"/>
              <a:t> </a:t>
            </a:r>
            <a:r>
              <a:rPr lang="en-US" sz="2000" dirty="0" err="1"/>
              <a:t>sở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kế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thống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4557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CC7B1D-9D66-0611-B88E-A31F7AE26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Sql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7FEB6-0111-BC88-4521-80A1C75D4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SQL</a:t>
            </a:r>
            <a:r>
              <a:rPr lang="en-ID" dirty="0"/>
              <a:t> (</a:t>
            </a:r>
            <a:r>
              <a:rPr lang="en-ID" dirty="0" err="1"/>
              <a:t>tên</a:t>
            </a:r>
            <a:r>
              <a:rPr lang="en-ID" dirty="0"/>
              <a:t> </a:t>
            </a:r>
            <a:r>
              <a:rPr lang="en-ID" dirty="0" err="1"/>
              <a:t>đầy</a:t>
            </a:r>
            <a:r>
              <a:rPr lang="en-ID" dirty="0"/>
              <a:t> </a:t>
            </a:r>
            <a:r>
              <a:rPr lang="en-ID" dirty="0" err="1"/>
              <a:t>đủ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b="1" dirty="0"/>
              <a:t>Structured Query Language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ngôn</a:t>
            </a:r>
            <a:r>
              <a:rPr lang="en-ID" dirty="0"/>
              <a:t> </a:t>
            </a:r>
            <a:r>
              <a:rPr lang="en-ID" dirty="0" err="1"/>
              <a:t>ngữ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cấu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,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giao</a:t>
            </a:r>
            <a:r>
              <a:rPr lang="en-ID" dirty="0"/>
              <a:t> </a:t>
            </a:r>
            <a:r>
              <a:rPr lang="en-ID" dirty="0" err="1"/>
              <a:t>tiếp</a:t>
            </a:r>
            <a:r>
              <a:rPr lang="en-ID" dirty="0"/>
              <a:t>,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thao</a:t>
            </a:r>
            <a:r>
              <a:rPr lang="en-ID" dirty="0"/>
              <a:t> </a:t>
            </a:r>
            <a:r>
              <a:rPr lang="en-ID" dirty="0" err="1"/>
              <a:t>tác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trị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(RDBMS).</a:t>
            </a:r>
          </a:p>
          <a:p>
            <a:r>
              <a:rPr lang="en-ID" dirty="0"/>
              <a:t>Các </a:t>
            </a:r>
            <a:r>
              <a:rPr lang="en-ID" dirty="0" err="1"/>
              <a:t>chức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SQL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endParaRPr lang="en-ID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D" dirty="0"/>
              <a:t>Quản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endParaRPr lang="en-ID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D" dirty="0"/>
              <a:t>Quản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cấu</a:t>
            </a:r>
            <a:r>
              <a:rPr lang="en-ID" dirty="0"/>
              <a:t> </a:t>
            </a:r>
            <a:r>
              <a:rPr lang="en-ID" dirty="0" err="1"/>
              <a:t>trúc</a:t>
            </a:r>
            <a:endParaRPr lang="en-ID" dirty="0"/>
          </a:p>
          <a:p>
            <a:r>
              <a:rPr lang="en-ID" dirty="0"/>
              <a:t>Các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RDBMS </a:t>
            </a:r>
            <a:r>
              <a:rPr lang="en-ID" dirty="0" err="1"/>
              <a:t>phổ</a:t>
            </a:r>
            <a:r>
              <a:rPr lang="en-ID" dirty="0"/>
              <a:t> </a:t>
            </a:r>
            <a:r>
              <a:rPr lang="en-ID" dirty="0" err="1"/>
              <a:t>biến</a:t>
            </a:r>
            <a:r>
              <a:rPr lang="en-ID" dirty="0"/>
              <a:t>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SQL </a:t>
            </a:r>
            <a:r>
              <a:rPr lang="en-ID" dirty="0" err="1"/>
              <a:t>hiện</a:t>
            </a:r>
            <a:r>
              <a:rPr lang="en-ID" dirty="0"/>
              <a:t> nay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MySQL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Microsoft SQL Server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PostgreSQL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SQLite </a:t>
            </a:r>
            <a:br>
              <a:rPr lang="en-ID" dirty="0"/>
            </a:br>
            <a:endParaRPr lang="en-ID" dirty="0"/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48DAC9-5BCA-DAA5-C958-FBA56419C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75" y="2743200"/>
            <a:ext cx="5379057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185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EC61E-85F3-5676-E10B-9B1550E16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sql</a:t>
            </a:r>
            <a:endParaRPr lang="en-ID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35104CF7-1283-9815-426C-746ECF221BFA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7" y="1818970"/>
            <a:ext cx="4721353" cy="4414770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7C11CE4-7F69-0D11-268B-B061CF93920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65876" y="2684619"/>
            <a:ext cx="5407153" cy="2758442"/>
          </a:xfrm>
        </p:spPr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(data language)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SQL bao </a:t>
            </a:r>
            <a:r>
              <a:rPr lang="en-US" dirty="0" err="1"/>
              <a:t>gồm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1" dirty="0"/>
              <a:t>SQL DDL (Data Definition Language) </a:t>
            </a:r>
            <a:r>
              <a:rPr lang="en-ID" dirty="0"/>
              <a:t>–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xây</a:t>
            </a:r>
            <a:r>
              <a:rPr lang="en-ID" dirty="0"/>
              <a:t> </a:t>
            </a:r>
            <a:r>
              <a:rPr lang="en-ID" dirty="0" err="1"/>
              <a:t>dựng</a:t>
            </a:r>
            <a:r>
              <a:rPr lang="en-ID" dirty="0"/>
              <a:t>, </a:t>
            </a:r>
            <a:r>
              <a:rPr lang="en-ID" dirty="0" err="1"/>
              <a:t>chỉnh</a:t>
            </a:r>
            <a:r>
              <a:rPr lang="en-ID" dirty="0"/>
              <a:t> </a:t>
            </a:r>
            <a:r>
              <a:rPr lang="en-ID" dirty="0" err="1"/>
              <a:t>sửa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khung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1" dirty="0"/>
              <a:t>SQL DML (Data Manipulation Language) </a:t>
            </a:r>
            <a:r>
              <a:rPr lang="en-ID" dirty="0"/>
              <a:t>–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thao</a:t>
            </a:r>
            <a:r>
              <a:rPr lang="en-ID" dirty="0"/>
              <a:t> </a:t>
            </a:r>
            <a:r>
              <a:rPr lang="en-ID" dirty="0" err="1"/>
              <a:t>tác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1" dirty="0"/>
              <a:t>SQL DCL (Data Control Language) </a:t>
            </a:r>
            <a:r>
              <a:rPr lang="en-ID" dirty="0"/>
              <a:t>–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kiểm</a:t>
            </a:r>
            <a:r>
              <a:rPr lang="en-ID" dirty="0"/>
              <a:t> </a:t>
            </a:r>
            <a:r>
              <a:rPr lang="en-ID" dirty="0" err="1"/>
              <a:t>soát</a:t>
            </a:r>
            <a:r>
              <a:rPr lang="en-ID" dirty="0"/>
              <a:t> </a:t>
            </a:r>
            <a:r>
              <a:rPr lang="en-ID" dirty="0" err="1"/>
              <a:t>quyền</a:t>
            </a:r>
            <a:r>
              <a:rPr lang="en-ID" dirty="0"/>
              <a:t> </a:t>
            </a:r>
            <a:r>
              <a:rPr lang="en-ID" dirty="0" err="1"/>
              <a:t>xem</a:t>
            </a:r>
            <a:r>
              <a:rPr lang="en-ID" dirty="0"/>
              <a:t>/</a:t>
            </a:r>
            <a:r>
              <a:rPr lang="en-ID" dirty="0" err="1"/>
              <a:t>chỉnh</a:t>
            </a:r>
            <a:r>
              <a:rPr lang="en-ID" dirty="0"/>
              <a:t> </a:t>
            </a:r>
            <a:r>
              <a:rPr lang="en-ID" dirty="0" err="1"/>
              <a:t>sửa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1" dirty="0"/>
              <a:t>SQL TCL (Transaction Control Language) </a:t>
            </a:r>
            <a:r>
              <a:rPr lang="en-ID" dirty="0"/>
              <a:t>–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kiểm</a:t>
            </a:r>
            <a:r>
              <a:rPr lang="en-ID" dirty="0"/>
              <a:t> </a:t>
            </a:r>
            <a:r>
              <a:rPr lang="en-ID" dirty="0" err="1"/>
              <a:t>soát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thay</a:t>
            </a:r>
            <a:r>
              <a:rPr lang="en-ID" dirty="0"/>
              <a:t> </a:t>
            </a:r>
            <a:r>
              <a:rPr lang="en-ID" dirty="0" err="1"/>
              <a:t>đổi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, </a:t>
            </a:r>
            <a:r>
              <a:rPr lang="en-ID" dirty="0" err="1"/>
              <a:t>đảm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ACID</a:t>
            </a:r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DFA3E0D8-815A-FD43-B73B-CA06C0A07062}"/>
              </a:ext>
            </a:extLst>
          </p:cNvPr>
          <p:cNvSpPr txBox="1">
            <a:spLocks/>
          </p:cNvSpPr>
          <p:nvPr/>
        </p:nvSpPr>
        <p:spPr>
          <a:xfrm>
            <a:off x="3962400" y="1965959"/>
            <a:ext cx="3733800" cy="4195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68304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31CB8-199F-B3DA-96D6-2DEF0931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sql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2A9E4-A5FA-EE29-25A0-DEB6A5EFE0F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ID" b="1" dirty="0"/>
              <a:t>SQL filtering (</a:t>
            </a:r>
            <a:r>
              <a:rPr lang="en-ID" b="1" dirty="0" err="1"/>
              <a:t>lọc</a:t>
            </a:r>
            <a:r>
              <a:rPr lang="en-ID" b="1" dirty="0"/>
              <a:t> </a:t>
            </a:r>
            <a:r>
              <a:rPr lang="en-ID" b="1" dirty="0" err="1"/>
              <a:t>dữ</a:t>
            </a:r>
            <a:r>
              <a:rPr lang="en-ID" b="1" dirty="0"/>
              <a:t> </a:t>
            </a:r>
            <a:r>
              <a:rPr lang="en-ID" b="1" dirty="0" err="1"/>
              <a:t>liệu</a:t>
            </a:r>
            <a:r>
              <a:rPr lang="en-ID" b="1" dirty="0"/>
              <a:t>)</a:t>
            </a:r>
            <a:endParaRPr lang="en-ID" dirty="0"/>
          </a:p>
          <a:p>
            <a:r>
              <a:rPr lang="en-ID" dirty="0"/>
              <a:t>Trong SQL, </a:t>
            </a:r>
            <a:r>
              <a:rPr lang="en-ID" dirty="0" err="1"/>
              <a:t>lọc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quá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trích</a:t>
            </a:r>
            <a:r>
              <a:rPr lang="en-ID" dirty="0"/>
              <a:t> </a:t>
            </a:r>
            <a:r>
              <a:rPr lang="en-ID" dirty="0" err="1"/>
              <a:t>xuất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chỉ</a:t>
            </a:r>
            <a:r>
              <a:rPr lang="en-ID" dirty="0"/>
              <a:t> </a:t>
            </a:r>
            <a:r>
              <a:rPr lang="en-ID" dirty="0" err="1"/>
              <a:t>hiển</a:t>
            </a:r>
            <a:r>
              <a:rPr lang="en-ID" dirty="0"/>
              <a:t> </a:t>
            </a:r>
            <a:r>
              <a:rPr lang="en-ID" dirty="0" err="1"/>
              <a:t>thị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thỏa</a:t>
            </a:r>
            <a:r>
              <a:rPr lang="en-ID" dirty="0"/>
              <a:t> </a:t>
            </a:r>
            <a:r>
              <a:rPr lang="en-ID" dirty="0" err="1"/>
              <a:t>mãn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tiêu</a:t>
            </a:r>
            <a:r>
              <a:rPr lang="en-ID" dirty="0"/>
              <a:t> </a:t>
            </a:r>
            <a:r>
              <a:rPr lang="en-ID" dirty="0" err="1"/>
              <a:t>chí</a:t>
            </a:r>
            <a:r>
              <a:rPr lang="en-ID" dirty="0"/>
              <a:t> </a:t>
            </a:r>
            <a:r>
              <a:rPr lang="en-ID" dirty="0" err="1"/>
              <a:t>cụ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.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lọc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thường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qua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mệnh</a:t>
            </a:r>
            <a:r>
              <a:rPr lang="en-ID" dirty="0"/>
              <a:t> </a:t>
            </a:r>
            <a:r>
              <a:rPr lang="en-ID" dirty="0" err="1"/>
              <a:t>đề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toán</a:t>
            </a:r>
            <a:r>
              <a:rPr lang="en-ID" dirty="0"/>
              <a:t> </a:t>
            </a:r>
            <a:r>
              <a:rPr lang="en-ID" dirty="0" err="1"/>
              <a:t>tử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Mệnh</a:t>
            </a:r>
            <a:r>
              <a:rPr lang="en-ID" dirty="0"/>
              <a:t> </a:t>
            </a:r>
            <a:r>
              <a:rPr lang="en-ID" dirty="0" err="1"/>
              <a:t>đề</a:t>
            </a:r>
            <a:r>
              <a:rPr lang="en-ID" dirty="0"/>
              <a:t> 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Các </a:t>
            </a:r>
            <a:r>
              <a:rPr lang="en-ID" dirty="0" err="1"/>
              <a:t>toán</a:t>
            </a:r>
            <a:r>
              <a:rPr lang="en-ID" dirty="0"/>
              <a:t> </a:t>
            </a:r>
            <a:r>
              <a:rPr lang="en-ID" dirty="0" err="1"/>
              <a:t>tử</a:t>
            </a:r>
            <a:r>
              <a:rPr lang="en-ID" dirty="0"/>
              <a:t> </a:t>
            </a:r>
            <a:r>
              <a:rPr lang="en-ID" dirty="0" err="1"/>
              <a:t>lọc</a:t>
            </a:r>
            <a:r>
              <a:rPr lang="en-ID" dirty="0"/>
              <a:t> (&lt;, &gt;, AND/OR, BETWEEN…)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Mệnh</a:t>
            </a:r>
            <a:r>
              <a:rPr lang="en-ID" dirty="0"/>
              <a:t> </a:t>
            </a:r>
            <a:r>
              <a:rPr lang="en-ID" dirty="0" err="1"/>
              <a:t>đề</a:t>
            </a:r>
            <a:r>
              <a:rPr lang="en-ID" dirty="0"/>
              <a:t> HAVING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Điều</a:t>
            </a:r>
            <a:r>
              <a:rPr lang="en-ID" dirty="0"/>
              <a:t> </a:t>
            </a:r>
            <a:r>
              <a:rPr lang="en-ID" dirty="0" err="1"/>
              <a:t>kiện</a:t>
            </a:r>
            <a:r>
              <a:rPr lang="en-ID" dirty="0"/>
              <a:t> FILTER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Mệnh</a:t>
            </a:r>
            <a:r>
              <a:rPr lang="en-ID" dirty="0"/>
              <a:t> </a:t>
            </a:r>
            <a:r>
              <a:rPr lang="en-ID" dirty="0" err="1"/>
              <a:t>đề</a:t>
            </a:r>
            <a:r>
              <a:rPr lang="en-ID" dirty="0"/>
              <a:t> QUALIFY</a:t>
            </a:r>
          </a:p>
          <a:p>
            <a:br>
              <a:rPr lang="en-ID" dirty="0"/>
            </a:b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FBAF8-8E29-95B3-68AD-D5B868F147B7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ID" b="1" dirty="0"/>
              <a:t>SQL aggregation (</a:t>
            </a:r>
            <a:r>
              <a:rPr lang="en-ID" b="1" dirty="0" err="1"/>
              <a:t>tổng</a:t>
            </a:r>
            <a:r>
              <a:rPr lang="en-ID" b="1" dirty="0"/>
              <a:t> </a:t>
            </a:r>
            <a:r>
              <a:rPr lang="en-ID" b="1" dirty="0" err="1"/>
              <a:t>hợp</a:t>
            </a:r>
            <a:r>
              <a:rPr lang="en-ID" b="1" dirty="0"/>
              <a:t> </a:t>
            </a:r>
            <a:r>
              <a:rPr lang="en-ID" b="1" dirty="0" err="1"/>
              <a:t>dữ</a:t>
            </a:r>
            <a:r>
              <a:rPr lang="en-ID" b="1" dirty="0"/>
              <a:t> </a:t>
            </a:r>
            <a:r>
              <a:rPr lang="en-ID" b="1" dirty="0" err="1"/>
              <a:t>liệu</a:t>
            </a:r>
            <a:r>
              <a:rPr lang="en-ID" b="1" dirty="0"/>
              <a:t>)</a:t>
            </a:r>
            <a:endParaRPr lang="en-ID" dirty="0"/>
          </a:p>
          <a:p>
            <a:r>
              <a:rPr lang="en-ID" dirty="0"/>
              <a:t>Trong SQL,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quá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thu</a:t>
            </a:r>
            <a:r>
              <a:rPr lang="en-ID" dirty="0"/>
              <a:t> </a:t>
            </a:r>
            <a:r>
              <a:rPr lang="en-ID" dirty="0" err="1"/>
              <a:t>thập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giá</a:t>
            </a:r>
            <a:r>
              <a:rPr lang="en-ID" dirty="0"/>
              <a:t> </a:t>
            </a:r>
            <a:r>
              <a:rPr lang="en-ID" dirty="0" err="1"/>
              <a:t>trị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hàng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trả</a:t>
            </a:r>
            <a:r>
              <a:rPr lang="en-ID" dirty="0"/>
              <a:t> </a:t>
            </a:r>
            <a:r>
              <a:rPr lang="en-ID" dirty="0" err="1"/>
              <a:t>về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quả</a:t>
            </a:r>
            <a:r>
              <a:rPr lang="en-ID" dirty="0"/>
              <a:t> </a:t>
            </a:r>
            <a:r>
              <a:rPr lang="en-ID" dirty="0" err="1"/>
              <a:t>duy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. </a:t>
            </a:r>
            <a:r>
              <a:rPr lang="en-ID" dirty="0" err="1"/>
              <a:t>Quá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chủ</a:t>
            </a:r>
            <a:r>
              <a:rPr lang="en-ID" dirty="0"/>
              <a:t> </a:t>
            </a:r>
            <a:r>
              <a:rPr lang="en-ID" dirty="0" err="1"/>
              <a:t>yếu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qua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hàm</a:t>
            </a:r>
            <a:r>
              <a:rPr lang="en-ID" dirty="0"/>
              <a:t> </a:t>
            </a:r>
            <a:r>
              <a:rPr lang="en-ID" dirty="0" err="1"/>
              <a:t>tổng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(Aggregate Functions)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tích</a:t>
            </a:r>
            <a:r>
              <a:rPr lang="en-ID" dirty="0"/>
              <a:t>,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toán</a:t>
            </a:r>
            <a:r>
              <a:rPr lang="en-ID" dirty="0"/>
              <a:t>,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tạo</a:t>
            </a:r>
            <a:r>
              <a:rPr lang="en-ID" dirty="0"/>
              <a:t> </a:t>
            </a:r>
            <a:r>
              <a:rPr lang="en-ID" dirty="0" err="1"/>
              <a:t>báo</a:t>
            </a:r>
            <a:r>
              <a:rPr lang="en-ID" dirty="0"/>
              <a:t> </a:t>
            </a:r>
            <a:r>
              <a:rPr lang="en-ID" dirty="0" err="1"/>
              <a:t>cáo</a:t>
            </a:r>
            <a:r>
              <a:rPr lang="en-ID" dirty="0"/>
              <a:t>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3D64A0-D4DC-F556-2AE8-5C76986BA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224" y="3505200"/>
            <a:ext cx="4368726" cy="291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16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189D-A6F3-E3B8-5478-3F0E2BDB6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sql</a:t>
            </a: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675101-4568-12BB-B9A1-D49A92FC8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25" y="3315453"/>
            <a:ext cx="4873753" cy="1371600"/>
          </a:xfrm>
        </p:spPr>
        <p:txBody>
          <a:bodyPr/>
          <a:lstStyle/>
          <a:p>
            <a:r>
              <a:rPr lang="en-ID" b="1" dirty="0"/>
              <a:t>SQL JOIN</a:t>
            </a:r>
          </a:p>
          <a:p>
            <a:r>
              <a:rPr lang="en-ID" dirty="0"/>
              <a:t>Trong SQL, JOIN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mệnh</a:t>
            </a:r>
            <a:r>
              <a:rPr lang="en-ID" dirty="0"/>
              <a:t> </a:t>
            </a:r>
            <a:r>
              <a:rPr lang="en-ID" dirty="0" err="1"/>
              <a:t>đề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nối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hai</a:t>
            </a:r>
            <a:r>
              <a:rPr lang="en-ID" dirty="0"/>
              <a:t> hay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 </a:t>
            </a:r>
            <a:r>
              <a:rPr lang="en-ID" dirty="0" err="1"/>
              <a:t>dựa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cột</a:t>
            </a:r>
            <a:r>
              <a:rPr lang="en-ID" dirty="0"/>
              <a:t> (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điều</a:t>
            </a:r>
            <a:r>
              <a:rPr lang="en-ID" dirty="0"/>
              <a:t> </a:t>
            </a:r>
            <a:r>
              <a:rPr lang="en-ID" dirty="0" err="1"/>
              <a:t>kiện</a:t>
            </a:r>
            <a:r>
              <a:rPr lang="en-ID" dirty="0"/>
              <a:t>)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điểm</a:t>
            </a:r>
            <a:r>
              <a:rPr lang="en-ID" dirty="0"/>
              <a:t> </a:t>
            </a:r>
            <a:r>
              <a:rPr lang="en-ID" dirty="0" err="1"/>
              <a:t>chung</a:t>
            </a:r>
            <a:r>
              <a:rPr lang="en-ID" dirty="0"/>
              <a:t> </a:t>
            </a:r>
            <a:r>
              <a:rPr lang="en-ID" dirty="0" err="1"/>
              <a:t>giữa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. </a:t>
            </a:r>
            <a:br>
              <a:rPr lang="en-ID" dirty="0"/>
            </a:b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ABB8B6-7DCF-566F-0192-855924760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447801"/>
            <a:ext cx="5334000" cy="510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688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BF01-6655-BC43-A2D6-DCB4E0176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sql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6DF3C-8C6E-42D8-F211-95A484C69A8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6" y="2743201"/>
            <a:ext cx="3239480" cy="2225040"/>
          </a:xfrm>
        </p:spPr>
        <p:txBody>
          <a:bodyPr/>
          <a:lstStyle/>
          <a:p>
            <a:r>
              <a:rPr lang="en-ID" b="1" dirty="0"/>
              <a:t>Subquery (</a:t>
            </a:r>
            <a:r>
              <a:rPr lang="en-ID" b="1" dirty="0" err="1"/>
              <a:t>truy</a:t>
            </a:r>
            <a:r>
              <a:rPr lang="en-ID" b="1" dirty="0"/>
              <a:t> </a:t>
            </a:r>
            <a:r>
              <a:rPr lang="en-ID" b="1" dirty="0" err="1"/>
              <a:t>vấn</a:t>
            </a:r>
            <a:r>
              <a:rPr lang="en-ID" b="1" dirty="0"/>
              <a:t> con)</a:t>
            </a:r>
            <a:endParaRPr lang="en-ID" dirty="0"/>
          </a:p>
          <a:p>
            <a:r>
              <a:rPr lang="en-ID" dirty="0"/>
              <a:t>Subquery (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 con) </a:t>
            </a:r>
            <a:r>
              <a:rPr lang="en-ID" dirty="0" err="1"/>
              <a:t>trong</a:t>
            </a:r>
            <a:r>
              <a:rPr lang="en-ID" dirty="0"/>
              <a:t> SQL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câu</a:t>
            </a:r>
            <a:r>
              <a:rPr lang="en-ID" dirty="0"/>
              <a:t> </a:t>
            </a:r>
            <a:r>
              <a:rPr lang="en-ID" dirty="0" err="1"/>
              <a:t>lệnh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 (</a:t>
            </a:r>
            <a:r>
              <a:rPr lang="en-ID" dirty="0" err="1"/>
              <a:t>thường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SELECT)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đặt</a:t>
            </a:r>
            <a:r>
              <a:rPr lang="en-ID" dirty="0"/>
              <a:t> </a:t>
            </a:r>
            <a:r>
              <a:rPr lang="en-ID" dirty="0" err="1"/>
              <a:t>lồng</a:t>
            </a:r>
            <a:r>
              <a:rPr lang="en-ID" dirty="0"/>
              <a:t> </a:t>
            </a:r>
            <a:r>
              <a:rPr lang="en-ID" dirty="0" err="1"/>
              <a:t>bên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câu</a:t>
            </a:r>
            <a:r>
              <a:rPr lang="en-ID" dirty="0"/>
              <a:t> </a:t>
            </a:r>
            <a:r>
              <a:rPr lang="en-ID" dirty="0" err="1"/>
              <a:t>lệnh</a:t>
            </a:r>
            <a:r>
              <a:rPr lang="en-ID" dirty="0"/>
              <a:t> SQL </a:t>
            </a:r>
            <a:r>
              <a:rPr lang="en-ID" dirty="0" err="1"/>
              <a:t>khác</a:t>
            </a:r>
            <a:r>
              <a:rPr lang="en-ID" dirty="0"/>
              <a:t> (</a:t>
            </a:r>
            <a:r>
              <a:rPr lang="en-ID" dirty="0" err="1"/>
              <a:t>như</a:t>
            </a:r>
            <a:r>
              <a:rPr lang="en-ID" dirty="0"/>
              <a:t> SELECT, INSERT, UPDATE, </a:t>
            </a:r>
            <a:r>
              <a:rPr lang="en-ID" dirty="0" err="1"/>
              <a:t>hoặc</a:t>
            </a:r>
            <a:r>
              <a:rPr lang="en-ID" dirty="0"/>
              <a:t> DELETE).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bạn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bước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toán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lọc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phức</a:t>
            </a:r>
            <a:r>
              <a:rPr lang="en-ID" dirty="0"/>
              <a:t> </a:t>
            </a:r>
            <a:r>
              <a:rPr lang="en-ID" dirty="0" err="1"/>
              <a:t>tạp</a:t>
            </a:r>
            <a:r>
              <a:rPr lang="en-ID" dirty="0"/>
              <a:t> </a:t>
            </a:r>
            <a:r>
              <a:rPr lang="en-ID" dirty="0" err="1"/>
              <a:t>dựa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quả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.</a:t>
            </a:r>
          </a:p>
          <a:p>
            <a:br>
              <a:rPr lang="en-ID" dirty="0"/>
            </a:b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E0AE87-FAC6-FF27-2124-AE66D8A07D6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39746" y="2743200"/>
            <a:ext cx="3206460" cy="2225041"/>
          </a:xfrm>
        </p:spPr>
        <p:txBody>
          <a:bodyPr/>
          <a:lstStyle/>
          <a:p>
            <a:r>
              <a:rPr lang="en-ID" b="1" dirty="0"/>
              <a:t>CTE (Common Table Expression)</a:t>
            </a:r>
            <a:endParaRPr lang="en-ID" dirty="0"/>
          </a:p>
          <a:p>
            <a:r>
              <a:rPr lang="en-ID" dirty="0"/>
              <a:t>CTE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quả</a:t>
            </a:r>
            <a:r>
              <a:rPr lang="en-ID" dirty="0"/>
              <a:t> </a:t>
            </a:r>
            <a:r>
              <a:rPr lang="en-ID" dirty="0" err="1"/>
              <a:t>tạm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đặt</a:t>
            </a:r>
            <a:r>
              <a:rPr lang="en-ID" dirty="0"/>
              <a:t> </a:t>
            </a:r>
            <a:r>
              <a:rPr lang="en-ID" dirty="0" err="1"/>
              <a:t>tên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SQL, </a:t>
            </a:r>
            <a:r>
              <a:rPr lang="en-ID" dirty="0" err="1"/>
              <a:t>chỉ</a:t>
            </a:r>
            <a:r>
              <a:rPr lang="en-ID" dirty="0"/>
              <a:t> </a:t>
            </a:r>
            <a:r>
              <a:rPr lang="en-ID" dirty="0" err="1"/>
              <a:t>tồn</a:t>
            </a:r>
            <a:r>
              <a:rPr lang="en-ID" dirty="0"/>
              <a:t> </a:t>
            </a:r>
            <a:r>
              <a:rPr lang="en-ID" dirty="0" err="1"/>
              <a:t>tại</a:t>
            </a:r>
            <a:r>
              <a:rPr lang="en-ID" dirty="0"/>
              <a:t> </a:t>
            </a:r>
            <a:r>
              <a:rPr lang="en-ID" dirty="0" err="1"/>
              <a:t>duy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phạm</a:t>
            </a:r>
            <a:r>
              <a:rPr lang="en-ID" dirty="0"/>
              <a:t> vi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câu</a:t>
            </a:r>
            <a:r>
              <a:rPr lang="en-ID" dirty="0"/>
              <a:t> </a:t>
            </a:r>
            <a:r>
              <a:rPr lang="en-ID" dirty="0" err="1"/>
              <a:t>lệnh</a:t>
            </a:r>
            <a:r>
              <a:rPr lang="en-ID" dirty="0"/>
              <a:t> (SELECT, INSERT, UPDATE…) </a:t>
            </a:r>
            <a:r>
              <a:rPr lang="en-ID" dirty="0" err="1"/>
              <a:t>ngay</a:t>
            </a:r>
            <a:r>
              <a:rPr lang="en-ID" dirty="0"/>
              <a:t> </a:t>
            </a:r>
            <a:r>
              <a:rPr lang="en-ID" dirty="0" err="1"/>
              <a:t>sau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giúp</a:t>
            </a:r>
            <a:r>
              <a:rPr lang="en-ID" dirty="0"/>
              <a:t> chia </a:t>
            </a:r>
            <a:r>
              <a:rPr lang="en-ID" dirty="0" err="1"/>
              <a:t>nhỏ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 </a:t>
            </a:r>
            <a:r>
              <a:rPr lang="en-ID" dirty="0" err="1"/>
              <a:t>phức</a:t>
            </a:r>
            <a:r>
              <a:rPr lang="en-ID" dirty="0"/>
              <a:t> </a:t>
            </a:r>
            <a:r>
              <a:rPr lang="en-ID" dirty="0" err="1"/>
              <a:t>tạp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khối</a:t>
            </a:r>
            <a:r>
              <a:rPr lang="en-ID" dirty="0"/>
              <a:t> logic </a:t>
            </a:r>
            <a:r>
              <a:rPr lang="en-ID" dirty="0" err="1"/>
              <a:t>dễ</a:t>
            </a:r>
            <a:r>
              <a:rPr lang="en-ID" dirty="0"/>
              <a:t> </a:t>
            </a:r>
            <a:r>
              <a:rPr lang="en-ID" dirty="0" err="1"/>
              <a:t>đọc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dễ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trì</a:t>
            </a:r>
            <a:r>
              <a:rPr lang="en-ID" dirty="0"/>
              <a:t> </a:t>
            </a:r>
            <a:r>
              <a:rPr lang="en-ID" dirty="0" err="1"/>
              <a:t>hơn</a:t>
            </a:r>
            <a:r>
              <a:rPr lang="en-ID" dirty="0"/>
              <a:t> so </a:t>
            </a:r>
            <a:r>
              <a:rPr lang="en-ID" dirty="0" err="1"/>
              <a:t>với</a:t>
            </a:r>
            <a:r>
              <a:rPr lang="en-ID" dirty="0"/>
              <a:t> Subquery.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FC69B4-DF2E-AE43-10AD-EC7C05841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215" y="1818970"/>
            <a:ext cx="4195763" cy="419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559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8DBEA5-BFA2-05FD-5E68-EC404BEF3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sql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CA89D3-CF6A-0357-FE1C-AF7864013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Window functions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SQL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hàng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liên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đến</a:t>
            </a:r>
            <a:r>
              <a:rPr lang="en-ID" dirty="0"/>
              <a:t> </a:t>
            </a:r>
            <a:r>
              <a:rPr lang="en-ID" dirty="0" err="1"/>
              <a:t>hàng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tại</a:t>
            </a:r>
            <a:r>
              <a:rPr lang="en-ID" dirty="0"/>
              <a:t>.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hàm</a:t>
            </a:r>
            <a:r>
              <a:rPr lang="en-ID" dirty="0"/>
              <a:t> </a:t>
            </a:r>
            <a:r>
              <a:rPr lang="en-ID" dirty="0" err="1"/>
              <a:t>tổng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truyền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(</a:t>
            </a:r>
            <a:r>
              <a:rPr lang="en-ID" dirty="0" err="1"/>
              <a:t>như</a:t>
            </a:r>
            <a:r>
              <a:rPr lang="en-ID" dirty="0"/>
              <a:t> SUM() hay AVG()) </a:t>
            </a:r>
            <a:r>
              <a:rPr lang="en-ID" dirty="0" err="1"/>
              <a:t>gộp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hàng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quả</a:t>
            </a:r>
            <a:r>
              <a:rPr lang="en-ID" dirty="0"/>
              <a:t> </a:t>
            </a:r>
            <a:r>
              <a:rPr lang="en-ID" dirty="0" err="1"/>
              <a:t>duy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, window function </a:t>
            </a:r>
            <a:r>
              <a:rPr lang="en-ID" dirty="0" err="1"/>
              <a:t>vẫn</a:t>
            </a:r>
            <a:r>
              <a:rPr lang="en-ID" dirty="0"/>
              <a:t> </a:t>
            </a:r>
            <a:r>
              <a:rPr lang="en-ID" dirty="0" err="1"/>
              <a:t>giữ</a:t>
            </a:r>
            <a:r>
              <a:rPr lang="en-ID" dirty="0"/>
              <a:t> </a:t>
            </a:r>
            <a:r>
              <a:rPr lang="en-ID" dirty="0" err="1"/>
              <a:t>nguyên</a:t>
            </a:r>
            <a:r>
              <a:rPr lang="en-ID" dirty="0"/>
              <a:t> </a:t>
            </a:r>
            <a:r>
              <a:rPr lang="en-ID" dirty="0" err="1"/>
              <a:t>từng</a:t>
            </a:r>
            <a:r>
              <a:rPr lang="en-ID" dirty="0"/>
              <a:t> </a:t>
            </a:r>
            <a:r>
              <a:rPr lang="en-ID" dirty="0" err="1"/>
              <a:t>hàng</a:t>
            </a:r>
            <a:r>
              <a:rPr lang="en-ID" dirty="0"/>
              <a:t> </a:t>
            </a:r>
            <a:r>
              <a:rPr lang="en-ID" dirty="0" err="1"/>
              <a:t>riêng</a:t>
            </a:r>
            <a:r>
              <a:rPr lang="en-ID" dirty="0"/>
              <a:t> </a:t>
            </a:r>
            <a:r>
              <a:rPr lang="en-ID" dirty="0" err="1"/>
              <a:t>lẻ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bạn</a:t>
            </a:r>
            <a:r>
              <a:rPr lang="en-ID" dirty="0"/>
              <a:t> </a:t>
            </a:r>
            <a:r>
              <a:rPr lang="en-ID" dirty="0" err="1"/>
              <a:t>xem</a:t>
            </a:r>
            <a:r>
              <a:rPr lang="en-ID" dirty="0"/>
              <a:t> </a:t>
            </a:r>
            <a:r>
              <a:rPr lang="en-ID" dirty="0" err="1"/>
              <a:t>giá</a:t>
            </a:r>
            <a:r>
              <a:rPr lang="en-ID" dirty="0"/>
              <a:t> </a:t>
            </a:r>
            <a:r>
              <a:rPr lang="en-ID" dirty="0" err="1"/>
              <a:t>trị</a:t>
            </a:r>
            <a:r>
              <a:rPr lang="en-ID" dirty="0"/>
              <a:t> </a:t>
            </a:r>
            <a:r>
              <a:rPr lang="en-ID" dirty="0" err="1"/>
              <a:t>tổng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bên</a:t>
            </a:r>
            <a:r>
              <a:rPr lang="en-ID" dirty="0"/>
              <a:t> </a:t>
            </a:r>
            <a:r>
              <a:rPr lang="en-ID" dirty="0" err="1"/>
              <a:t>cạnh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gốc</a:t>
            </a:r>
            <a:r>
              <a:rPr lang="en-ID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D4D97A-DBAE-7C94-8D6E-00042799D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910" y="2590800"/>
            <a:ext cx="5738179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075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1FB6F-05DC-BB10-102E-6E87CF3C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sql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631EF-D631-E85B-841A-80A357A19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Trong SQL, </a:t>
            </a:r>
            <a:r>
              <a:rPr lang="en-ID" b="1" dirty="0"/>
              <a:t>View (Khung </a:t>
            </a:r>
            <a:r>
              <a:rPr lang="en-ID" b="1" dirty="0" err="1"/>
              <a:t>nhìn</a:t>
            </a:r>
            <a:r>
              <a:rPr lang="en-ID" b="1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ảo</a:t>
            </a:r>
            <a:r>
              <a:rPr lang="en-ID" dirty="0"/>
              <a:t>.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chất</a:t>
            </a:r>
            <a:r>
              <a:rPr lang="en-ID" dirty="0"/>
              <a:t>,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câu</a:t>
            </a:r>
            <a:r>
              <a:rPr lang="en-ID" dirty="0"/>
              <a:t> </a:t>
            </a:r>
            <a:r>
              <a:rPr lang="en-ID" dirty="0" err="1"/>
              <a:t>lệnh</a:t>
            </a:r>
            <a:r>
              <a:rPr lang="en-ID" dirty="0"/>
              <a:t> SELECT </a:t>
            </a:r>
            <a:r>
              <a:rPr lang="en-ID" dirty="0" err="1"/>
              <a:t>đã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đặt</a:t>
            </a:r>
            <a:r>
              <a:rPr lang="en-ID" dirty="0"/>
              <a:t> </a:t>
            </a:r>
            <a:r>
              <a:rPr lang="en-ID" dirty="0" err="1"/>
              <a:t>tên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sẵn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. View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tế</a:t>
            </a:r>
            <a:r>
              <a:rPr lang="en-ID" dirty="0"/>
              <a:t> </a:t>
            </a:r>
            <a:r>
              <a:rPr lang="en-ID" dirty="0" err="1"/>
              <a:t>mà</a:t>
            </a:r>
            <a:r>
              <a:rPr lang="en-ID" dirty="0"/>
              <a:t> </a:t>
            </a:r>
            <a:r>
              <a:rPr lang="en-ID" dirty="0" err="1"/>
              <a:t>chỉ</a:t>
            </a:r>
            <a:r>
              <a:rPr lang="en-ID" dirty="0"/>
              <a:t> </a:t>
            </a:r>
            <a:r>
              <a:rPr lang="en-ID" dirty="0" err="1"/>
              <a:t>chứa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hàng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cột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sinh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 </a:t>
            </a:r>
            <a:r>
              <a:rPr lang="en-ID" dirty="0" err="1"/>
              <a:t>mỗi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gọi</a:t>
            </a:r>
            <a:r>
              <a:rPr lang="en-ID" dirty="0"/>
              <a:t> </a:t>
            </a:r>
            <a:r>
              <a:rPr lang="en-ID" dirty="0" err="1"/>
              <a:t>đến</a:t>
            </a:r>
            <a:r>
              <a:rPr lang="en-ID" dirty="0"/>
              <a:t> </a:t>
            </a:r>
            <a:r>
              <a:rPr lang="en-ID" dirty="0" err="1"/>
              <a:t>nó</a:t>
            </a:r>
            <a:r>
              <a:rPr lang="en-ID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FD7550-87D1-1871-B6C5-922E2AFA2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275" y="2514600"/>
            <a:ext cx="7772400" cy="391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70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475BBB-DB1D-FB37-F46F-93AD00796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Oltp là gì?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5BA3F-2240-5445-AC8E-56BEEA020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OLTP</a:t>
            </a:r>
            <a:r>
              <a:rPr lang="en-ID" dirty="0"/>
              <a:t> (</a:t>
            </a:r>
            <a:r>
              <a:rPr lang="en-ID" dirty="0" err="1"/>
              <a:t>viết</a:t>
            </a:r>
            <a:r>
              <a:rPr lang="en-ID" dirty="0"/>
              <a:t> </a:t>
            </a:r>
            <a:r>
              <a:rPr lang="en-ID" dirty="0" err="1"/>
              <a:t>tắt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b="1" dirty="0"/>
              <a:t>Online Transaction Processing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,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cập</a:t>
            </a:r>
            <a:r>
              <a:rPr lang="en-ID" dirty="0"/>
              <a:t> </a:t>
            </a:r>
            <a:r>
              <a:rPr lang="en-ID" dirty="0" err="1"/>
              <a:t>nhật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giao</a:t>
            </a:r>
            <a:r>
              <a:rPr lang="en-ID" dirty="0"/>
              <a:t> </a:t>
            </a:r>
            <a:r>
              <a:rPr lang="en-ID" dirty="0" err="1"/>
              <a:t>dịch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gian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khối</a:t>
            </a:r>
            <a:r>
              <a:rPr lang="en-ID" dirty="0"/>
              <a:t> </a:t>
            </a:r>
            <a:r>
              <a:rPr lang="en-ID" dirty="0" err="1"/>
              <a:t>lượng</a:t>
            </a:r>
            <a:r>
              <a:rPr lang="en-ID" dirty="0"/>
              <a:t> </a:t>
            </a:r>
            <a:r>
              <a:rPr lang="en-ID" dirty="0" err="1"/>
              <a:t>lớn</a:t>
            </a:r>
            <a:r>
              <a:rPr lang="en-ID" dirty="0"/>
              <a:t>. Các </a:t>
            </a:r>
            <a:r>
              <a:rPr lang="en-ID" dirty="0" err="1"/>
              <a:t>thao</a:t>
            </a:r>
            <a:r>
              <a:rPr lang="en-ID" dirty="0"/>
              <a:t> </a:t>
            </a:r>
            <a:r>
              <a:rPr lang="en-ID" dirty="0" err="1"/>
              <a:t>tác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thường</a:t>
            </a:r>
            <a:r>
              <a:rPr lang="en-ID" dirty="0"/>
              <a:t> </a:t>
            </a:r>
            <a:r>
              <a:rPr lang="en-ID" dirty="0" err="1"/>
              <a:t>ngắn</a:t>
            </a:r>
            <a:r>
              <a:rPr lang="en-ID" dirty="0"/>
              <a:t>, </a:t>
            </a:r>
            <a:r>
              <a:rPr lang="en-ID" dirty="0" err="1"/>
              <a:t>nhanh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trung</a:t>
            </a:r>
            <a:r>
              <a:rPr lang="en-ID" dirty="0"/>
              <a:t> </a:t>
            </a:r>
            <a:r>
              <a:rPr lang="en-ID" dirty="0" err="1"/>
              <a:t>vào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tại</a:t>
            </a:r>
            <a:r>
              <a:rPr lang="en-ID" dirty="0"/>
              <a:t>, </a:t>
            </a:r>
            <a:r>
              <a:rPr lang="en-ID" dirty="0" err="1"/>
              <a:t>ví</a:t>
            </a:r>
            <a:r>
              <a:rPr lang="en-ID" dirty="0"/>
              <a:t> </a:t>
            </a:r>
            <a:r>
              <a:rPr lang="en-ID" dirty="0" err="1"/>
              <a:t>dụ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chuyển</a:t>
            </a:r>
            <a:r>
              <a:rPr lang="en-ID" dirty="0"/>
              <a:t> </a:t>
            </a:r>
            <a:r>
              <a:rPr lang="en-ID" dirty="0" err="1"/>
              <a:t>tiền</a:t>
            </a:r>
            <a:r>
              <a:rPr lang="en-ID" dirty="0"/>
              <a:t> </a:t>
            </a:r>
            <a:r>
              <a:rPr lang="en-ID" dirty="0" err="1"/>
              <a:t>ngân</a:t>
            </a:r>
            <a:r>
              <a:rPr lang="en-ID" dirty="0"/>
              <a:t> </a:t>
            </a:r>
            <a:r>
              <a:rPr lang="en-ID" dirty="0" err="1"/>
              <a:t>hàng</a:t>
            </a:r>
            <a:r>
              <a:rPr lang="en-ID" dirty="0"/>
              <a:t> hay </a:t>
            </a:r>
            <a:r>
              <a:rPr lang="en-ID" dirty="0" err="1"/>
              <a:t>đặt</a:t>
            </a:r>
            <a:r>
              <a:rPr lang="en-ID" dirty="0"/>
              <a:t> </a:t>
            </a:r>
            <a:r>
              <a:rPr lang="en-ID" dirty="0" err="1"/>
              <a:t>vé</a:t>
            </a:r>
            <a:r>
              <a:rPr lang="en-ID" dirty="0"/>
              <a:t> concert. </a:t>
            </a:r>
            <a:r>
              <a:rPr lang="en-ID" dirty="0" err="1"/>
              <a:t>Đặc</a:t>
            </a:r>
            <a:r>
              <a:rPr lang="en-ID" dirty="0"/>
              <a:t> </a:t>
            </a:r>
            <a:r>
              <a:rPr lang="en-ID" dirty="0" err="1"/>
              <a:t>điểm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OLTP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gian</a:t>
            </a:r>
            <a:r>
              <a:rPr lang="en-ID" dirty="0"/>
              <a:t> </a:t>
            </a:r>
            <a:r>
              <a:rPr lang="en-ID" dirty="0" err="1"/>
              <a:t>thực</a:t>
            </a:r>
            <a:endParaRPr lang="en-ID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Giao </a:t>
            </a:r>
            <a:r>
              <a:rPr lang="en-ID" dirty="0" err="1"/>
              <a:t>dịch</a:t>
            </a:r>
            <a:r>
              <a:rPr lang="en-ID" dirty="0"/>
              <a:t> </a:t>
            </a:r>
            <a:r>
              <a:rPr lang="en-ID" dirty="0" err="1"/>
              <a:t>nhỏ</a:t>
            </a:r>
            <a:r>
              <a:rPr lang="en-ID" dirty="0"/>
              <a:t> </a:t>
            </a:r>
            <a:r>
              <a:rPr lang="en-ID" dirty="0" err="1"/>
              <a:t>gọn</a:t>
            </a:r>
            <a:endParaRPr lang="en-ID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quán</a:t>
            </a:r>
            <a:r>
              <a:rPr lang="en-ID" dirty="0"/>
              <a:t> </a:t>
            </a:r>
            <a:r>
              <a:rPr lang="en-ID" dirty="0" err="1"/>
              <a:t>cao</a:t>
            </a:r>
            <a:r>
              <a:rPr lang="en-ID" dirty="0"/>
              <a:t> (ACID)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907126-A8D1-B152-AA0A-2869BBB99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782823"/>
            <a:ext cx="74676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39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AF300-776C-3E5A-EB84-4FEA28DC7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Olap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A50A-3839-CF78-5D5E-9F4A0B24C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5711953" cy="4343400"/>
          </a:xfrm>
        </p:spPr>
        <p:txBody>
          <a:bodyPr/>
          <a:lstStyle/>
          <a:p>
            <a:r>
              <a:rPr lang="en-ID" b="1" dirty="0"/>
              <a:t>OLAP</a:t>
            </a:r>
            <a:r>
              <a:rPr lang="en-ID" dirty="0"/>
              <a:t> (</a:t>
            </a:r>
            <a:r>
              <a:rPr lang="en-ID" dirty="0" err="1"/>
              <a:t>viết</a:t>
            </a:r>
            <a:r>
              <a:rPr lang="en-ID" dirty="0"/>
              <a:t> </a:t>
            </a:r>
            <a:r>
              <a:rPr lang="en-ID" dirty="0" err="1"/>
              <a:t>tắt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b="1" dirty="0"/>
              <a:t>Online Analytical Processing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tối</a:t>
            </a:r>
            <a:r>
              <a:rPr lang="en-ID" dirty="0"/>
              <a:t> </a:t>
            </a:r>
            <a:r>
              <a:rPr lang="en-ID" dirty="0" err="1"/>
              <a:t>ưu</a:t>
            </a:r>
            <a:r>
              <a:rPr lang="en-ID" dirty="0"/>
              <a:t>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tích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lớn</a:t>
            </a:r>
            <a:r>
              <a:rPr lang="en-ID" dirty="0"/>
              <a:t>. OLAP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nhà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, </a:t>
            </a:r>
            <a:r>
              <a:rPr lang="en-ID" dirty="0" err="1"/>
              <a:t>tổng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tích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góc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tìm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xu </a:t>
            </a:r>
            <a:r>
              <a:rPr lang="en-ID" dirty="0" err="1"/>
              <a:t>hướng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đưa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dự</a:t>
            </a:r>
            <a:r>
              <a:rPr lang="en-ID" dirty="0"/>
              <a:t> </a:t>
            </a:r>
            <a:r>
              <a:rPr lang="en-ID" dirty="0" err="1"/>
              <a:t>đoán</a:t>
            </a:r>
            <a:r>
              <a:rPr lang="en-ID" dirty="0"/>
              <a:t>. </a:t>
            </a:r>
            <a:r>
              <a:rPr lang="en-ID" dirty="0" err="1"/>
              <a:t>Đặc</a:t>
            </a:r>
            <a:r>
              <a:rPr lang="en-ID" dirty="0"/>
              <a:t> </a:t>
            </a:r>
            <a:r>
              <a:rPr lang="en-ID" dirty="0" err="1"/>
              <a:t>điểm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OLAP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Tốc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</a:t>
            </a:r>
            <a:r>
              <a:rPr lang="en-ID" dirty="0" err="1"/>
              <a:t>phản</a:t>
            </a:r>
            <a:r>
              <a:rPr lang="en-ID" dirty="0"/>
              <a:t> </a:t>
            </a:r>
            <a:r>
              <a:rPr lang="en-ID" dirty="0" err="1"/>
              <a:t>hồi</a:t>
            </a:r>
            <a:r>
              <a:rPr lang="en-ID" dirty="0"/>
              <a:t> </a:t>
            </a:r>
            <a:r>
              <a:rPr lang="en-ID" dirty="0" err="1"/>
              <a:t>cực</a:t>
            </a:r>
            <a:r>
              <a:rPr lang="en-ID" dirty="0"/>
              <a:t> </a:t>
            </a:r>
            <a:r>
              <a:rPr lang="en-ID" dirty="0" err="1"/>
              <a:t>nhanh</a:t>
            </a:r>
            <a:endParaRPr lang="en-ID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lịch</a:t>
            </a:r>
            <a:r>
              <a:rPr lang="en-ID" dirty="0"/>
              <a:t>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khổng</a:t>
            </a:r>
            <a:r>
              <a:rPr lang="en-ID" dirty="0"/>
              <a:t> </a:t>
            </a:r>
            <a:r>
              <a:rPr lang="en-ID" dirty="0" err="1"/>
              <a:t>lồ</a:t>
            </a:r>
            <a:endParaRPr lang="en-ID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Chỉ</a:t>
            </a:r>
            <a:r>
              <a:rPr lang="en-ID" dirty="0"/>
              <a:t> </a:t>
            </a:r>
            <a:r>
              <a:rPr lang="en-ID" dirty="0" err="1"/>
              <a:t>đọc</a:t>
            </a:r>
            <a:r>
              <a:rPr lang="en-ID" dirty="0"/>
              <a:t> (Read-only)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tích</a:t>
            </a:r>
            <a:r>
              <a:rPr lang="en-ID" dirty="0"/>
              <a:t> </a:t>
            </a:r>
            <a:r>
              <a:rPr lang="en-ID" dirty="0" err="1"/>
              <a:t>đa</a:t>
            </a:r>
            <a:r>
              <a:rPr lang="en-ID" dirty="0"/>
              <a:t> </a:t>
            </a:r>
            <a:r>
              <a:rPr lang="en-ID" dirty="0" err="1"/>
              <a:t>chiều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C71F4F-4ADB-55E5-5D26-B2A970F3A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752600"/>
            <a:ext cx="4648200" cy="436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55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EB1C-96E3-9233-D2D1-A3B85AB93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9199"/>
            <a:ext cx="10963655" cy="762001"/>
          </a:xfrm>
        </p:spPr>
        <p:txBody>
          <a:bodyPr/>
          <a:lstStyle/>
          <a:p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olap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oltp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80F570-1E95-BC5B-CED5-EA56DB441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190" y="1981200"/>
            <a:ext cx="7627619" cy="427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086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F9671F-B1BB-69D8-E2F0-2F07EE20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Acid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164CF-3AB2-5D79-4116-27FFC1865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438400"/>
            <a:ext cx="3883153" cy="2667000"/>
          </a:xfrm>
        </p:spPr>
        <p:txBody>
          <a:bodyPr/>
          <a:lstStyle/>
          <a:p>
            <a:r>
              <a:rPr lang="en-ID" b="1" dirty="0"/>
              <a:t>ACID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SQL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4 </a:t>
            </a:r>
            <a:r>
              <a:rPr lang="en-ID" dirty="0" err="1"/>
              <a:t>thuộc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Transaction (Giao </a:t>
            </a:r>
            <a:r>
              <a:rPr lang="en-ID" dirty="0" err="1"/>
              <a:t>dịch</a:t>
            </a:r>
            <a:r>
              <a:rPr lang="en-ID" dirty="0"/>
              <a:t>)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đảm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vẹn</a:t>
            </a:r>
            <a:r>
              <a:rPr lang="en-ID" dirty="0"/>
              <a:t>, </a:t>
            </a:r>
            <a:r>
              <a:rPr lang="en-ID" dirty="0" err="1"/>
              <a:t>chính</a:t>
            </a:r>
            <a:r>
              <a:rPr lang="en-ID" dirty="0"/>
              <a:t> </a:t>
            </a:r>
            <a:r>
              <a:rPr lang="en-ID" dirty="0" err="1"/>
              <a:t>xác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an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, </a:t>
            </a:r>
            <a:r>
              <a:rPr lang="en-ID" dirty="0" err="1"/>
              <a:t>ngay</a:t>
            </a:r>
            <a:r>
              <a:rPr lang="en-ID" dirty="0"/>
              <a:t> </a:t>
            </a:r>
            <a:r>
              <a:rPr lang="en-ID" dirty="0" err="1"/>
              <a:t>cả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xảy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sự</a:t>
            </a:r>
            <a:r>
              <a:rPr lang="en-ID" dirty="0"/>
              <a:t> </a:t>
            </a:r>
            <a:r>
              <a:rPr lang="en-ID" dirty="0" err="1"/>
              <a:t>cố</a:t>
            </a:r>
            <a:r>
              <a:rPr lang="en-ID" dirty="0"/>
              <a:t>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viết</a:t>
            </a:r>
            <a:r>
              <a:rPr lang="en-ID" dirty="0"/>
              <a:t> </a:t>
            </a:r>
            <a:r>
              <a:rPr lang="en-ID" dirty="0" err="1"/>
              <a:t>tắt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tiếng</a:t>
            </a:r>
            <a:r>
              <a:rPr lang="en-ID" dirty="0"/>
              <a:t> </a:t>
            </a:r>
            <a:r>
              <a:rPr lang="en-ID" dirty="0" err="1"/>
              <a:t>anh</a:t>
            </a:r>
            <a:r>
              <a:rPr lang="en-ID" dirty="0"/>
              <a:t> </a:t>
            </a:r>
            <a:r>
              <a:rPr lang="en-ID" dirty="0" err="1"/>
              <a:t>sau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Atomicity (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nguyên</a:t>
            </a:r>
            <a:r>
              <a:rPr lang="en-ID" dirty="0"/>
              <a:t> </a:t>
            </a:r>
            <a:r>
              <a:rPr lang="en-ID" dirty="0" err="1"/>
              <a:t>tử</a:t>
            </a:r>
            <a:r>
              <a:rPr lang="en-ID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Consistency (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quán</a:t>
            </a:r>
            <a:r>
              <a:rPr lang="en-ID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Isolation (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cô</a:t>
            </a:r>
            <a:r>
              <a:rPr lang="en-ID" dirty="0"/>
              <a:t> </a:t>
            </a:r>
            <a:r>
              <a:rPr lang="en-ID" dirty="0" err="1"/>
              <a:t>lập</a:t>
            </a:r>
            <a:r>
              <a:rPr lang="en-ID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Durability (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bền</a:t>
            </a:r>
            <a:r>
              <a:rPr lang="en-ID" dirty="0"/>
              <a:t> </a:t>
            </a:r>
            <a:r>
              <a:rPr lang="en-ID" dirty="0" err="1"/>
              <a:t>vững</a:t>
            </a:r>
            <a:r>
              <a:rPr lang="en-ID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7E51D2-897C-D98E-A9EC-B70179DA7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1" y="1905000"/>
            <a:ext cx="699396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031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0F145-D651-C1A0-410F-1BDE255CE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 theorem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0147B-C3BF-F962-82FE-EA8470B44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0" y="3086100"/>
            <a:ext cx="4565903" cy="1600200"/>
          </a:xfrm>
        </p:spPr>
        <p:txBody>
          <a:bodyPr/>
          <a:lstStyle/>
          <a:p>
            <a:r>
              <a:rPr lang="en-ID" b="1" dirty="0"/>
              <a:t>Định </a:t>
            </a:r>
            <a:r>
              <a:rPr lang="en-ID" b="1" dirty="0" err="1"/>
              <a:t>lý</a:t>
            </a:r>
            <a:r>
              <a:rPr lang="en-ID" b="1" dirty="0"/>
              <a:t> CAP (Định </a:t>
            </a:r>
            <a:r>
              <a:rPr lang="en-ID" b="1" dirty="0" err="1"/>
              <a:t>lý</a:t>
            </a:r>
            <a:r>
              <a:rPr lang="en-ID" b="1" dirty="0"/>
              <a:t> Brewer)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nguyên</a:t>
            </a:r>
            <a:r>
              <a:rPr lang="en-ID" dirty="0"/>
              <a:t> </a:t>
            </a:r>
            <a:r>
              <a:rPr lang="en-ID" dirty="0" err="1"/>
              <a:t>tắc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tán</a:t>
            </a:r>
            <a:r>
              <a:rPr lang="en-ID" dirty="0"/>
              <a:t>, </a:t>
            </a:r>
            <a:r>
              <a:rPr lang="en-ID" dirty="0" err="1"/>
              <a:t>phát</a:t>
            </a:r>
            <a:r>
              <a:rPr lang="en-ID" dirty="0"/>
              <a:t> </a:t>
            </a:r>
            <a:r>
              <a:rPr lang="en-ID" dirty="0" err="1"/>
              <a:t>biểu</a:t>
            </a:r>
            <a:r>
              <a:rPr lang="en-ID" dirty="0"/>
              <a:t> </a:t>
            </a:r>
            <a:r>
              <a:rPr lang="en-ID" dirty="0" err="1"/>
              <a:t>rằng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chỉ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 </a:t>
            </a:r>
            <a:r>
              <a:rPr lang="en-ID" dirty="0" err="1"/>
              <a:t>đảm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tối</a:t>
            </a:r>
            <a:r>
              <a:rPr lang="en-ID" dirty="0"/>
              <a:t> </a:t>
            </a:r>
            <a:r>
              <a:rPr lang="en-ID" dirty="0" err="1"/>
              <a:t>đa</a:t>
            </a:r>
            <a:r>
              <a:rPr lang="en-ID" dirty="0"/>
              <a:t> 2 </a:t>
            </a:r>
            <a:r>
              <a:rPr lang="en-ID" dirty="0" err="1"/>
              <a:t>trong</a:t>
            </a:r>
            <a:r>
              <a:rPr lang="en-ID" dirty="0"/>
              <a:t> 3 </a:t>
            </a:r>
            <a:r>
              <a:rPr lang="en-ID" dirty="0" err="1"/>
              <a:t>yếu</a:t>
            </a:r>
            <a:r>
              <a:rPr lang="en-ID" dirty="0"/>
              <a:t> </a:t>
            </a:r>
            <a:r>
              <a:rPr lang="en-ID" dirty="0" err="1"/>
              <a:t>tố</a:t>
            </a:r>
            <a:r>
              <a:rPr lang="en-ID" dirty="0"/>
              <a:t>: Consistency (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quán</a:t>
            </a:r>
            <a:r>
              <a:rPr lang="en-ID" dirty="0"/>
              <a:t>), Availability (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khả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) </a:t>
            </a:r>
            <a:r>
              <a:rPr lang="en-ID" dirty="0" err="1"/>
              <a:t>và</a:t>
            </a:r>
            <a:r>
              <a:rPr lang="en-ID" dirty="0"/>
              <a:t> Partition Tolerance (</a:t>
            </a:r>
            <a:r>
              <a:rPr lang="en-ID" dirty="0" err="1"/>
              <a:t>khả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chịu</a:t>
            </a:r>
            <a:r>
              <a:rPr lang="en-ID" dirty="0"/>
              <a:t> </a:t>
            </a:r>
            <a:r>
              <a:rPr lang="en-ID" dirty="0" err="1"/>
              <a:t>lỗi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vùng</a:t>
            </a:r>
            <a:r>
              <a:rPr lang="en-ID" dirty="0"/>
              <a:t>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77895-AE68-8985-BBC9-196ACCBDA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40" y="1524000"/>
            <a:ext cx="523636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33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35FC8-BA25-1BDB-14B9-11A47B833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0D77F-E139-2897-5497-25092B921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632" y="2743200"/>
            <a:ext cx="4949953" cy="1371600"/>
          </a:xfrm>
        </p:spPr>
        <p:txBody>
          <a:bodyPr/>
          <a:lstStyle/>
          <a:p>
            <a:r>
              <a:rPr lang="en-ID" b="1" dirty="0"/>
              <a:t>Index (</a:t>
            </a:r>
            <a:r>
              <a:rPr lang="en-ID" b="1" dirty="0" err="1"/>
              <a:t>chỉ</a:t>
            </a:r>
            <a:r>
              <a:rPr lang="en-ID" b="1" dirty="0"/>
              <a:t> </a:t>
            </a:r>
            <a:r>
              <a:rPr lang="en-ID" b="1" dirty="0" err="1"/>
              <a:t>mục</a:t>
            </a:r>
            <a:r>
              <a:rPr lang="en-ID" b="1" dirty="0"/>
              <a:t>) </a:t>
            </a:r>
            <a:r>
              <a:rPr lang="en-ID" dirty="0" err="1"/>
              <a:t>trong</a:t>
            </a:r>
            <a:r>
              <a:rPr lang="en-ID" dirty="0"/>
              <a:t> SQL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cấu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đặc</a:t>
            </a:r>
            <a:r>
              <a:rPr lang="en-ID" dirty="0"/>
              <a:t> </a:t>
            </a:r>
            <a:r>
              <a:rPr lang="en-ID" dirty="0" err="1"/>
              <a:t>biệt</a:t>
            </a:r>
            <a:r>
              <a:rPr lang="en-ID" dirty="0"/>
              <a:t>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tăng</a:t>
            </a:r>
            <a:r>
              <a:rPr lang="en-ID" dirty="0"/>
              <a:t> </a:t>
            </a:r>
            <a:r>
              <a:rPr lang="en-ID" dirty="0" err="1"/>
              <a:t>tốc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tìm</a:t>
            </a:r>
            <a:r>
              <a:rPr lang="en-ID" dirty="0"/>
              <a:t> </a:t>
            </a:r>
            <a:r>
              <a:rPr lang="en-ID" dirty="0" err="1"/>
              <a:t>kiếm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tin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tương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mục</a:t>
            </a:r>
            <a:r>
              <a:rPr lang="en-ID" dirty="0"/>
              <a:t> </a:t>
            </a:r>
            <a:r>
              <a:rPr lang="en-ID" dirty="0" err="1"/>
              <a:t>lục</a:t>
            </a:r>
            <a:r>
              <a:rPr lang="en-ID" dirty="0"/>
              <a:t> ở </a:t>
            </a:r>
            <a:r>
              <a:rPr lang="en-ID" dirty="0" err="1"/>
              <a:t>cuối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cuốn</a:t>
            </a:r>
            <a:r>
              <a:rPr lang="en-ID" dirty="0"/>
              <a:t> </a:t>
            </a:r>
            <a:r>
              <a:rPr lang="en-ID" dirty="0" err="1"/>
              <a:t>sách</a:t>
            </a:r>
            <a:r>
              <a:rPr lang="en-ID" dirty="0"/>
              <a:t>,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tìm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ngay</a:t>
            </a:r>
            <a:r>
              <a:rPr lang="en-ID" dirty="0"/>
              <a:t> </a:t>
            </a:r>
            <a:r>
              <a:rPr lang="en-ID" dirty="0" err="1"/>
              <a:t>lập</a:t>
            </a:r>
            <a:r>
              <a:rPr lang="en-ID" dirty="0"/>
              <a:t> </a:t>
            </a:r>
            <a:r>
              <a:rPr lang="en-ID" dirty="0" err="1"/>
              <a:t>tức</a:t>
            </a:r>
            <a:r>
              <a:rPr lang="en-ID" dirty="0"/>
              <a:t> </a:t>
            </a:r>
            <a:r>
              <a:rPr lang="en-ID" dirty="0" err="1"/>
              <a:t>thay</a:t>
            </a:r>
            <a:r>
              <a:rPr lang="en-ID" dirty="0"/>
              <a:t> </a:t>
            </a:r>
            <a:r>
              <a:rPr lang="en-ID" dirty="0" err="1"/>
              <a:t>vì</a:t>
            </a:r>
            <a:r>
              <a:rPr lang="en-ID" dirty="0"/>
              <a:t> </a:t>
            </a:r>
            <a:r>
              <a:rPr lang="en-ID" dirty="0" err="1"/>
              <a:t>phải</a:t>
            </a:r>
            <a:r>
              <a:rPr lang="en-ID" dirty="0"/>
              <a:t> </a:t>
            </a:r>
            <a:r>
              <a:rPr lang="en-ID" dirty="0" err="1"/>
              <a:t>đọc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808CDF-1964-C7BC-C5E6-F771D7014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417" y="1447801"/>
            <a:ext cx="4390934" cy="499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68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AFE4B-9655-3AA8-A6F9-C1AC4A5A0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8A24A-4E37-C2C8-2F9B-4D7E30B63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Transaction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SQL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tiến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nhóm</a:t>
            </a:r>
            <a:r>
              <a:rPr lang="en-ID" dirty="0"/>
              <a:t> </a:t>
            </a:r>
            <a:r>
              <a:rPr lang="en-ID" dirty="0" err="1"/>
              <a:t>câu</a:t>
            </a:r>
            <a:r>
              <a:rPr lang="en-ID" dirty="0"/>
              <a:t> </a:t>
            </a:r>
            <a:r>
              <a:rPr lang="en-ID" dirty="0" err="1"/>
              <a:t>lệnh</a:t>
            </a:r>
            <a:r>
              <a:rPr lang="en-ID" dirty="0"/>
              <a:t> SQL. Các </a:t>
            </a:r>
            <a:r>
              <a:rPr lang="en-ID" dirty="0" err="1"/>
              <a:t>câu</a:t>
            </a:r>
            <a:r>
              <a:rPr lang="en-ID" dirty="0"/>
              <a:t> </a:t>
            </a:r>
            <a:r>
              <a:rPr lang="en-ID" dirty="0" err="1"/>
              <a:t>lệnh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thi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cách</a:t>
            </a:r>
            <a:r>
              <a:rPr lang="en-ID" dirty="0"/>
              <a:t> </a:t>
            </a:r>
            <a:r>
              <a:rPr lang="en-ID" dirty="0" err="1"/>
              <a:t>tuần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độc</a:t>
            </a:r>
            <a:r>
              <a:rPr lang="en-ID" dirty="0"/>
              <a:t> </a:t>
            </a:r>
            <a:r>
              <a:rPr lang="en-ID" dirty="0" err="1"/>
              <a:t>lập</a:t>
            </a:r>
            <a:r>
              <a:rPr lang="en-ID" dirty="0"/>
              <a:t>. </a:t>
            </a:r>
            <a:r>
              <a:rPr lang="en-ID" dirty="0" err="1"/>
              <a:t>Một</a:t>
            </a:r>
            <a:r>
              <a:rPr lang="en-ID" dirty="0"/>
              <a:t> transaction </a:t>
            </a:r>
            <a:r>
              <a:rPr lang="en-ID" dirty="0" err="1"/>
              <a:t>tiêu</a:t>
            </a:r>
            <a:r>
              <a:rPr lang="en-ID" dirty="0"/>
              <a:t> </a:t>
            </a:r>
            <a:r>
              <a:rPr lang="en-ID" dirty="0" err="1"/>
              <a:t>chuẩn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RDBMS </a:t>
            </a:r>
            <a:r>
              <a:rPr lang="en-ID" dirty="0" err="1"/>
              <a:t>luôn</a:t>
            </a:r>
            <a:r>
              <a:rPr lang="en-ID" dirty="0"/>
              <a:t> </a:t>
            </a:r>
            <a:r>
              <a:rPr lang="en-ID" dirty="0" err="1"/>
              <a:t>tuân</a:t>
            </a:r>
            <a:r>
              <a:rPr lang="en-ID" dirty="0"/>
              <a:t> </a:t>
            </a:r>
            <a:r>
              <a:rPr lang="en-ID" dirty="0" err="1"/>
              <a:t>thủ</a:t>
            </a:r>
            <a:r>
              <a:rPr lang="en-ID" dirty="0"/>
              <a:t> 4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chất</a:t>
            </a:r>
            <a:r>
              <a:rPr lang="en-ID" dirty="0"/>
              <a:t> ACID (Atomicity, Consistency, Isolation, Durability)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đã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đề</a:t>
            </a:r>
            <a:r>
              <a:rPr lang="en-ID" dirty="0"/>
              <a:t> </a:t>
            </a:r>
            <a:r>
              <a:rPr lang="en-ID" dirty="0" err="1"/>
              <a:t>cập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trước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5AC40A-CEEB-608B-0165-613D94735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025" y="2667000"/>
            <a:ext cx="7219950" cy="336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02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0AAD1-45C4-7B0F-4668-881D50DC5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B3A50-C8E5-24BF-3E82-19AC5E7F2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Trong SQL, </a:t>
            </a:r>
            <a:r>
              <a:rPr lang="en-ID" b="1" dirty="0"/>
              <a:t>Locking (</a:t>
            </a:r>
            <a:r>
              <a:rPr lang="en-ID" b="1" dirty="0" err="1"/>
              <a:t>khóa</a:t>
            </a:r>
            <a:r>
              <a:rPr lang="en-ID" b="1" dirty="0"/>
              <a:t>)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</a:t>
            </a:r>
            <a:r>
              <a:rPr lang="en-ID" dirty="0" err="1"/>
              <a:t>kiểm</a:t>
            </a:r>
            <a:r>
              <a:rPr lang="en-ID" dirty="0"/>
              <a:t> </a:t>
            </a:r>
            <a:r>
              <a:rPr lang="en-ID" dirty="0" err="1"/>
              <a:t>soát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cập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đồng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ngăn</a:t>
            </a:r>
            <a:r>
              <a:rPr lang="en-ID" dirty="0"/>
              <a:t> </a:t>
            </a:r>
            <a:r>
              <a:rPr lang="en-ID" dirty="0" err="1"/>
              <a:t>chặn</a:t>
            </a:r>
            <a:r>
              <a:rPr lang="en-ID" dirty="0"/>
              <a:t> </a:t>
            </a:r>
            <a:r>
              <a:rPr lang="en-ID" dirty="0" err="1"/>
              <a:t>tình</a:t>
            </a:r>
            <a:r>
              <a:rPr lang="en-ID" dirty="0"/>
              <a:t> </a:t>
            </a:r>
            <a:r>
              <a:rPr lang="en-ID" dirty="0" err="1"/>
              <a:t>trạng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tiến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/</a:t>
            </a:r>
            <a:r>
              <a:rPr lang="en-ID" dirty="0" err="1"/>
              <a:t>đọc</a:t>
            </a:r>
            <a:r>
              <a:rPr lang="en-ID" dirty="0"/>
              <a:t> </a:t>
            </a:r>
            <a:r>
              <a:rPr lang="en-ID" dirty="0" err="1"/>
              <a:t>đè</a:t>
            </a:r>
            <a:r>
              <a:rPr lang="en-ID" dirty="0"/>
              <a:t> </a:t>
            </a:r>
            <a:r>
              <a:rPr lang="en-ID" dirty="0" err="1"/>
              <a:t>lên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sửa</a:t>
            </a:r>
            <a:r>
              <a:rPr lang="en-ID" dirty="0"/>
              <a:t> </a:t>
            </a:r>
            <a:r>
              <a:rPr lang="en-ID" dirty="0" err="1"/>
              <a:t>đổi</a:t>
            </a:r>
            <a:r>
              <a:rPr lang="en-ID" dirty="0"/>
              <a:t> </a:t>
            </a:r>
            <a:r>
              <a:rPr lang="en-ID" dirty="0" err="1"/>
              <a:t>cùng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dòng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tại</a:t>
            </a:r>
            <a:r>
              <a:rPr lang="en-ID" dirty="0"/>
              <a:t> </a:t>
            </a:r>
            <a:r>
              <a:rPr lang="en-ID" dirty="0" err="1"/>
              <a:t>cùng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điểm</a:t>
            </a:r>
            <a:r>
              <a:rPr lang="en-ID" dirty="0"/>
              <a:t>, </a:t>
            </a:r>
            <a:r>
              <a:rPr lang="en-ID" dirty="0" err="1"/>
              <a:t>đảm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vẹn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quán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.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</a:t>
            </a:r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SQL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áp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ở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phạm</a:t>
            </a:r>
            <a:r>
              <a:rPr lang="en-ID" dirty="0"/>
              <a:t> vi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 </a:t>
            </a:r>
            <a:r>
              <a:rPr lang="en-ID" dirty="0" err="1"/>
              <a:t>tùy</a:t>
            </a:r>
            <a:r>
              <a:rPr lang="en-ID" dirty="0"/>
              <a:t> </a:t>
            </a:r>
            <a:r>
              <a:rPr lang="en-ID" dirty="0" err="1"/>
              <a:t>thuộc</a:t>
            </a:r>
            <a:r>
              <a:rPr lang="en-ID" dirty="0"/>
              <a:t> </a:t>
            </a:r>
            <a:r>
              <a:rPr lang="en-ID" dirty="0" err="1"/>
              <a:t>vào</a:t>
            </a:r>
            <a:r>
              <a:rPr lang="en-ID" dirty="0"/>
              <a:t> </a:t>
            </a:r>
            <a:r>
              <a:rPr lang="en-ID" dirty="0" err="1"/>
              <a:t>yêu</a:t>
            </a:r>
            <a:r>
              <a:rPr lang="en-ID" dirty="0"/>
              <a:t> </a:t>
            </a:r>
            <a:r>
              <a:rPr lang="en-ID" dirty="0" err="1"/>
              <a:t>cầu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câu</a:t>
            </a:r>
            <a:r>
              <a:rPr lang="en-ID" dirty="0"/>
              <a:t> </a:t>
            </a:r>
            <a:r>
              <a:rPr lang="en-ID" dirty="0" err="1"/>
              <a:t>lệnh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dòng</a:t>
            </a:r>
            <a:r>
              <a:rPr lang="en-ID" dirty="0"/>
              <a:t> (Row Lock)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trang</a:t>
            </a:r>
            <a:r>
              <a:rPr lang="en-ID" dirty="0"/>
              <a:t> (Page Lock)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(Table Lock)</a:t>
            </a:r>
          </a:p>
          <a:p>
            <a:r>
              <a:rPr lang="en-ID" dirty="0"/>
              <a:t>Các </a:t>
            </a:r>
            <a:r>
              <a:rPr lang="en-ID" dirty="0" err="1"/>
              <a:t>loại</a:t>
            </a:r>
            <a:r>
              <a:rPr lang="en-ID" dirty="0"/>
              <a:t> </a:t>
            </a:r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Shared Lock (</a:t>
            </a:r>
            <a:r>
              <a:rPr lang="en-ID" dirty="0" err="1"/>
              <a:t>Khóa</a:t>
            </a:r>
            <a:r>
              <a:rPr lang="en-ID" dirty="0"/>
              <a:t> chia </a:t>
            </a:r>
            <a:r>
              <a:rPr lang="en-ID" dirty="0" err="1"/>
              <a:t>sẻ</a:t>
            </a:r>
            <a:r>
              <a:rPr lang="en-ID" dirty="0"/>
              <a:t>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Exclusive Lock (</a:t>
            </a:r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độc</a:t>
            </a:r>
            <a:r>
              <a:rPr lang="en-ID" dirty="0"/>
              <a:t> </a:t>
            </a:r>
            <a:r>
              <a:rPr lang="en-ID" dirty="0" err="1"/>
              <a:t>quyền</a:t>
            </a:r>
            <a:r>
              <a:rPr lang="en-ID" dirty="0"/>
              <a:t>)</a:t>
            </a:r>
          </a:p>
          <a:p>
            <a:r>
              <a:rPr lang="en-ID" dirty="0"/>
              <a:t>Các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tượng</a:t>
            </a:r>
            <a:r>
              <a:rPr lang="en-ID" dirty="0"/>
              <a:t> </a:t>
            </a:r>
            <a:r>
              <a:rPr lang="en-ID" dirty="0" err="1"/>
              <a:t>liên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tới</a:t>
            </a:r>
            <a:r>
              <a:rPr lang="en-ID" dirty="0"/>
              <a:t> </a:t>
            </a:r>
            <a:r>
              <a:rPr lang="en-ID" dirty="0" err="1"/>
              <a:t>khóa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Blocking (</a:t>
            </a:r>
            <a:r>
              <a:rPr lang="en-ID" dirty="0" err="1"/>
              <a:t>Chặn</a:t>
            </a:r>
            <a:r>
              <a:rPr lang="en-ID" dirty="0"/>
              <a:t>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Deadlock (</a:t>
            </a:r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chết</a:t>
            </a:r>
            <a:r>
              <a:rPr lang="en-ID" dirty="0"/>
              <a:t>)</a:t>
            </a:r>
            <a:br>
              <a:rPr lang="en-ID" dirty="0"/>
            </a:br>
            <a:endParaRPr lang="en-ID" dirty="0"/>
          </a:p>
          <a:p>
            <a:pPr fontAlgn="base"/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A65A66-5F58-DB93-63CA-E84883EF8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743200"/>
            <a:ext cx="653415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93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845E6-0251-CEF3-6A15-E79B0E006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A729D-9F08-28D9-9C94-E2AE79C31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3124200"/>
            <a:ext cx="4416553" cy="1371600"/>
          </a:xfrm>
        </p:spPr>
        <p:txBody>
          <a:bodyPr/>
          <a:lstStyle/>
          <a:p>
            <a:r>
              <a:rPr lang="en-ID" dirty="0"/>
              <a:t>Trong SQL, </a:t>
            </a:r>
            <a:r>
              <a:rPr lang="en-ID" b="1" dirty="0"/>
              <a:t>Partition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kỹ</a:t>
            </a:r>
            <a:r>
              <a:rPr lang="en-ID" dirty="0"/>
              <a:t> </a:t>
            </a:r>
            <a:r>
              <a:rPr lang="en-ID" dirty="0" err="1"/>
              <a:t>thuật</a:t>
            </a:r>
            <a:r>
              <a:rPr lang="en-ID" dirty="0"/>
              <a:t> chia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lớn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độc</a:t>
            </a:r>
            <a:r>
              <a:rPr lang="en-ID" dirty="0"/>
              <a:t> </a:t>
            </a:r>
            <a:r>
              <a:rPr lang="en-ID" dirty="0" err="1"/>
              <a:t>lập</a:t>
            </a:r>
            <a:r>
              <a:rPr lang="en-ID" dirty="0"/>
              <a:t>, </a:t>
            </a:r>
            <a:r>
              <a:rPr lang="en-ID" dirty="0" err="1"/>
              <a:t>dễ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hơn</a:t>
            </a:r>
            <a:r>
              <a:rPr lang="en-ID" dirty="0"/>
              <a:t>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chia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hai</a:t>
            </a:r>
            <a:r>
              <a:rPr lang="en-ID" dirty="0"/>
              <a:t> </a:t>
            </a:r>
            <a:r>
              <a:rPr lang="en-ID" dirty="0" err="1"/>
              <a:t>mục</a:t>
            </a:r>
            <a:r>
              <a:rPr lang="en-ID" dirty="0"/>
              <a:t> </a:t>
            </a:r>
            <a:r>
              <a:rPr lang="en-ID" dirty="0" err="1"/>
              <a:t>đích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: Partition Table (</a:t>
            </a:r>
            <a:r>
              <a:rPr lang="en-ID" dirty="0" err="1"/>
              <a:t>vật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)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tăng</a:t>
            </a:r>
            <a:r>
              <a:rPr lang="en-ID" dirty="0"/>
              <a:t> </a:t>
            </a:r>
            <a:r>
              <a:rPr lang="en-ID" dirty="0" err="1"/>
              <a:t>hiệu</a:t>
            </a:r>
            <a:r>
              <a:rPr lang="en-ID" dirty="0"/>
              <a:t> </a:t>
            </a:r>
            <a:r>
              <a:rPr lang="en-ID" dirty="0" err="1"/>
              <a:t>suất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Partition By (logic)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hàm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tích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FF2A75-E78B-C1F8-2A4A-204CCDB89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35430"/>
            <a:ext cx="4853939" cy="485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637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E345-3CE2-E422-AB4E-AF38BF9E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68881-9A83-6B9F-A27D-B9C035141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819400"/>
            <a:ext cx="4524375" cy="1752600"/>
          </a:xfrm>
        </p:spPr>
        <p:txBody>
          <a:bodyPr/>
          <a:lstStyle/>
          <a:p>
            <a:r>
              <a:rPr lang="en-ID" b="1" dirty="0"/>
              <a:t>Sharding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SQL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kỹ</a:t>
            </a:r>
            <a:r>
              <a:rPr lang="en-ID" dirty="0"/>
              <a:t> </a:t>
            </a:r>
            <a:r>
              <a:rPr lang="en-ID" dirty="0" err="1"/>
              <a:t>thuật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mảnh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chiều</a:t>
            </a:r>
            <a:r>
              <a:rPr lang="en-ID" dirty="0"/>
              <a:t> </a:t>
            </a:r>
            <a:r>
              <a:rPr lang="en-ID" dirty="0" err="1"/>
              <a:t>ngang</a:t>
            </a:r>
            <a:r>
              <a:rPr lang="en-ID" dirty="0"/>
              <a:t>, chia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lớn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nhỏ</a:t>
            </a:r>
            <a:r>
              <a:rPr lang="en-ID" dirty="0"/>
              <a:t> (</a:t>
            </a:r>
            <a:r>
              <a:rPr lang="en-ID" dirty="0" err="1"/>
              <a:t>các</a:t>
            </a:r>
            <a:r>
              <a:rPr lang="en-ID" dirty="0"/>
              <a:t> shard) </a:t>
            </a:r>
            <a:r>
              <a:rPr lang="en-ID" dirty="0" err="1"/>
              <a:t>chứa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dòng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 </a:t>
            </a:r>
            <a:r>
              <a:rPr lang="en-ID" dirty="0" err="1"/>
              <a:t>nhưng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chung</a:t>
            </a:r>
            <a:r>
              <a:rPr lang="en-ID" dirty="0"/>
              <a:t> </a:t>
            </a:r>
            <a:r>
              <a:rPr lang="en-ID" dirty="0" err="1"/>
              <a:t>cấu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.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giống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Partition Table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cùng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server, </a:t>
            </a:r>
            <a:r>
              <a:rPr lang="en-ID" dirty="0" err="1"/>
              <a:t>các</a:t>
            </a:r>
            <a:r>
              <a:rPr lang="en-ID" dirty="0"/>
              <a:t> shard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chủ</a:t>
            </a:r>
            <a:r>
              <a:rPr lang="en-ID" dirty="0"/>
              <a:t> </a:t>
            </a:r>
            <a:r>
              <a:rPr lang="en-ID" dirty="0" err="1"/>
              <a:t>vật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tăng</a:t>
            </a:r>
            <a:r>
              <a:rPr lang="en-ID" dirty="0"/>
              <a:t> </a:t>
            </a:r>
            <a:r>
              <a:rPr lang="en-ID" dirty="0" err="1"/>
              <a:t>tốc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mở</a:t>
            </a:r>
            <a:r>
              <a:rPr lang="en-ID" dirty="0"/>
              <a:t> </a:t>
            </a:r>
            <a:r>
              <a:rPr lang="en-ID" dirty="0" err="1"/>
              <a:t>rộng</a:t>
            </a:r>
            <a:r>
              <a:rPr lang="en-ID" dirty="0"/>
              <a:t> </a:t>
            </a:r>
            <a:r>
              <a:rPr lang="en-ID" dirty="0" err="1"/>
              <a:t>quy</a:t>
            </a:r>
            <a:r>
              <a:rPr lang="en-ID" dirty="0"/>
              <a:t>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851A7-DEE8-8229-84D3-09845A18B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676400"/>
            <a:ext cx="452437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91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5E8A0-17C2-5F52-6173-093044B6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FFC82-0B0F-E3EB-22D0-6E14B394C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5559553" cy="4343400"/>
          </a:xfrm>
        </p:spPr>
        <p:txBody>
          <a:bodyPr/>
          <a:lstStyle/>
          <a:p>
            <a:r>
              <a:rPr lang="en-ID" b="1" dirty="0"/>
              <a:t>Isolation (</a:t>
            </a:r>
            <a:r>
              <a:rPr lang="en-ID" b="1" dirty="0" err="1"/>
              <a:t>Tính</a:t>
            </a:r>
            <a:r>
              <a:rPr lang="en-ID" b="1" dirty="0"/>
              <a:t> </a:t>
            </a:r>
            <a:r>
              <a:rPr lang="en-ID" b="1" dirty="0" err="1"/>
              <a:t>cô</a:t>
            </a:r>
            <a:r>
              <a:rPr lang="en-ID" b="1" dirty="0"/>
              <a:t> </a:t>
            </a:r>
            <a:r>
              <a:rPr lang="en-ID" b="1" dirty="0" err="1"/>
              <a:t>lập</a:t>
            </a:r>
            <a:r>
              <a:rPr lang="en-ID" b="1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chữ</a:t>
            </a:r>
            <a:r>
              <a:rPr lang="en-ID" dirty="0"/>
              <a:t> </a:t>
            </a:r>
            <a:r>
              <a:rPr lang="en-ID" dirty="0" err="1"/>
              <a:t>cái</a:t>
            </a:r>
            <a:r>
              <a:rPr lang="en-ID" dirty="0"/>
              <a:t> “I”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quy</a:t>
            </a:r>
            <a:r>
              <a:rPr lang="en-ID" dirty="0"/>
              <a:t> </a:t>
            </a:r>
            <a:r>
              <a:rPr lang="en-ID" dirty="0" err="1"/>
              <a:t>tắc</a:t>
            </a:r>
            <a:r>
              <a:rPr lang="en-ID" dirty="0"/>
              <a:t> ACID. </a:t>
            </a:r>
            <a:r>
              <a:rPr lang="en-ID" dirty="0" err="1"/>
              <a:t>Đây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SQL </a:t>
            </a:r>
            <a:r>
              <a:rPr lang="en-ID" dirty="0" err="1"/>
              <a:t>đảm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giao</a:t>
            </a:r>
            <a:r>
              <a:rPr lang="en-ID" dirty="0"/>
              <a:t> </a:t>
            </a:r>
            <a:r>
              <a:rPr lang="en-ID" dirty="0" err="1"/>
              <a:t>dịch</a:t>
            </a:r>
            <a:r>
              <a:rPr lang="en-ID" dirty="0"/>
              <a:t> (transaction) </a:t>
            </a:r>
            <a:r>
              <a:rPr lang="en-ID" dirty="0" err="1"/>
              <a:t>xảy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cùng</a:t>
            </a:r>
            <a:r>
              <a:rPr lang="en-ID" dirty="0"/>
              <a:t> </a:t>
            </a:r>
            <a:r>
              <a:rPr lang="en-ID" dirty="0" err="1"/>
              <a:t>lúc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làm</a:t>
            </a:r>
            <a:r>
              <a:rPr lang="en-ID" dirty="0"/>
              <a:t> </a:t>
            </a:r>
            <a:r>
              <a:rPr lang="en-ID" dirty="0" err="1"/>
              <a:t>hỏng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, mang </a:t>
            </a:r>
            <a:r>
              <a:rPr lang="en-ID" dirty="0" err="1"/>
              <a:t>lại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quả</a:t>
            </a:r>
            <a:r>
              <a:rPr lang="en-ID" dirty="0"/>
              <a:t> </a:t>
            </a:r>
            <a:r>
              <a:rPr lang="en-ID" dirty="0" err="1"/>
              <a:t>giống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giao</a:t>
            </a:r>
            <a:r>
              <a:rPr lang="en-ID" dirty="0"/>
              <a:t> </a:t>
            </a:r>
            <a:r>
              <a:rPr lang="en-ID" dirty="0" err="1"/>
              <a:t>dịch</a:t>
            </a:r>
            <a:r>
              <a:rPr lang="en-ID" dirty="0"/>
              <a:t> </a:t>
            </a:r>
            <a:r>
              <a:rPr lang="en-ID" dirty="0" err="1"/>
              <a:t>chạy</a:t>
            </a:r>
            <a:r>
              <a:rPr lang="en-ID" dirty="0"/>
              <a:t> </a:t>
            </a:r>
            <a:r>
              <a:rPr lang="en-ID" dirty="0" err="1"/>
              <a:t>tuần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từng</a:t>
            </a:r>
            <a:r>
              <a:rPr lang="en-ID" dirty="0"/>
              <a:t> </a:t>
            </a:r>
            <a:r>
              <a:rPr lang="en-ID" dirty="0" err="1"/>
              <a:t>cái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. </a:t>
            </a:r>
            <a:r>
              <a:rPr lang="en-ID" dirty="0" err="1"/>
              <a:t>Nếu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</a:t>
            </a:r>
            <a:r>
              <a:rPr lang="en-ID" dirty="0" err="1"/>
              <a:t>cô</a:t>
            </a:r>
            <a:r>
              <a:rPr lang="en-ID" dirty="0"/>
              <a:t> </a:t>
            </a:r>
            <a:r>
              <a:rPr lang="en-ID" dirty="0" err="1"/>
              <a:t>lập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,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giao</a:t>
            </a:r>
            <a:r>
              <a:rPr lang="en-ID" dirty="0"/>
              <a:t> </a:t>
            </a:r>
            <a:r>
              <a:rPr lang="en-ID" dirty="0" err="1"/>
              <a:t>dịch</a:t>
            </a:r>
            <a:r>
              <a:rPr lang="en-ID" dirty="0"/>
              <a:t> </a:t>
            </a:r>
            <a:r>
              <a:rPr lang="en-ID" dirty="0" err="1"/>
              <a:t>chồng</a:t>
            </a:r>
            <a:r>
              <a:rPr lang="en-ID" dirty="0"/>
              <a:t> </a:t>
            </a:r>
            <a:r>
              <a:rPr lang="en-ID" dirty="0" err="1"/>
              <a:t>chéo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gây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3 </a:t>
            </a:r>
            <a:r>
              <a:rPr lang="en-ID" dirty="0" err="1"/>
              <a:t>lỗi</a:t>
            </a:r>
            <a:r>
              <a:rPr lang="en-ID" dirty="0"/>
              <a:t> </a:t>
            </a:r>
            <a:r>
              <a:rPr lang="en-ID" dirty="0" err="1"/>
              <a:t>đồng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Dirty read (</a:t>
            </a:r>
            <a:r>
              <a:rPr lang="en-ID" dirty="0" err="1"/>
              <a:t>Đọc</a:t>
            </a:r>
            <a:r>
              <a:rPr lang="en-ID" dirty="0"/>
              <a:t> </a:t>
            </a:r>
            <a:r>
              <a:rPr lang="en-ID" dirty="0" err="1"/>
              <a:t>rác</a:t>
            </a:r>
            <a:r>
              <a:rPr lang="en-ID" dirty="0"/>
              <a:t>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Non-repeatable Read (</a:t>
            </a:r>
            <a:r>
              <a:rPr lang="en-ID" dirty="0" err="1"/>
              <a:t>Đọc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quán</a:t>
            </a:r>
            <a:r>
              <a:rPr lang="en-ID" dirty="0"/>
              <a:t>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Phantom Read (</a:t>
            </a:r>
            <a:r>
              <a:rPr lang="en-ID" dirty="0" err="1"/>
              <a:t>Đọc</a:t>
            </a:r>
            <a:r>
              <a:rPr lang="en-ID" dirty="0"/>
              <a:t> </a:t>
            </a:r>
            <a:r>
              <a:rPr lang="en-ID" dirty="0" err="1"/>
              <a:t>ảo</a:t>
            </a:r>
            <a:r>
              <a:rPr lang="en-ID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CE108-79D0-6476-9CB3-F0EC86976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047" y="1409699"/>
            <a:ext cx="4876800" cy="487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B2EE34-27F3-96A2-3A66-956D9F804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7" y="4899571"/>
            <a:ext cx="6248400" cy="138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70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66E0E-646B-9631-782D-B188241DE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438E4-CA03-5D5E-0318-0BF28DDBA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971800"/>
            <a:ext cx="4645153" cy="1524000"/>
          </a:xfrm>
        </p:spPr>
        <p:txBody>
          <a:bodyPr/>
          <a:lstStyle/>
          <a:p>
            <a:r>
              <a:rPr lang="en-ID" b="1" dirty="0"/>
              <a:t>Connection pooling SQL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kỹ</a:t>
            </a:r>
            <a:r>
              <a:rPr lang="en-ID" dirty="0"/>
              <a:t> </a:t>
            </a:r>
            <a:r>
              <a:rPr lang="en-ID" dirty="0" err="1"/>
              <a:t>thuật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nhóm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nối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sẵn</a:t>
            </a:r>
            <a:r>
              <a:rPr lang="en-ID" dirty="0"/>
              <a:t>. Thay </a:t>
            </a:r>
            <a:r>
              <a:rPr lang="en-ID" dirty="0" err="1"/>
              <a:t>vì</a:t>
            </a:r>
            <a:r>
              <a:rPr lang="en-ID" dirty="0"/>
              <a:t> </a:t>
            </a:r>
            <a:r>
              <a:rPr lang="en-ID" dirty="0" err="1"/>
              <a:t>mở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đóng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nối</a:t>
            </a:r>
            <a:r>
              <a:rPr lang="en-ID" dirty="0"/>
              <a:t> </a:t>
            </a:r>
            <a:r>
              <a:rPr lang="en-ID" dirty="0" err="1"/>
              <a:t>vật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từng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, </a:t>
            </a:r>
            <a:r>
              <a:rPr lang="en-ID" dirty="0" err="1"/>
              <a:t>tiêu</a:t>
            </a:r>
            <a:r>
              <a:rPr lang="en-ID" dirty="0"/>
              <a:t> </a:t>
            </a:r>
            <a:r>
              <a:rPr lang="en-ID" dirty="0" err="1"/>
              <a:t>tốn</a:t>
            </a:r>
            <a:r>
              <a:rPr lang="en-ID" dirty="0"/>
              <a:t> chi </a:t>
            </a:r>
            <a:r>
              <a:rPr lang="en-ID" dirty="0" err="1"/>
              <a:t>phí</a:t>
            </a:r>
            <a:r>
              <a:rPr lang="en-ID" dirty="0"/>
              <a:t> CPU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gian</a:t>
            </a:r>
            <a:r>
              <a:rPr lang="en-ID" dirty="0"/>
              <a:t>, </a:t>
            </a:r>
            <a:r>
              <a:rPr lang="en-ID" dirty="0" err="1"/>
              <a:t>ứng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mượn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nối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“</a:t>
            </a:r>
            <a:r>
              <a:rPr lang="en-ID" dirty="0" err="1"/>
              <a:t>bể</a:t>
            </a:r>
            <a:r>
              <a:rPr lang="en-ID" dirty="0"/>
              <a:t>”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thi</a:t>
            </a:r>
            <a:r>
              <a:rPr lang="en-ID" dirty="0"/>
              <a:t> </a:t>
            </a:r>
            <a:r>
              <a:rPr lang="en-ID" dirty="0" err="1"/>
              <a:t>câu</a:t>
            </a:r>
            <a:r>
              <a:rPr lang="en-ID" dirty="0"/>
              <a:t> </a:t>
            </a:r>
            <a:r>
              <a:rPr lang="en-ID" dirty="0" err="1"/>
              <a:t>lệnh</a:t>
            </a:r>
            <a:r>
              <a:rPr lang="en-ID" dirty="0"/>
              <a:t> SQL, </a:t>
            </a:r>
            <a:r>
              <a:rPr lang="en-ID" dirty="0" err="1"/>
              <a:t>sau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 </a:t>
            </a:r>
            <a:r>
              <a:rPr lang="en-ID" dirty="0" err="1"/>
              <a:t>trả</a:t>
            </a:r>
            <a:r>
              <a:rPr lang="en-ID" dirty="0"/>
              <a:t> </a:t>
            </a:r>
            <a:r>
              <a:rPr lang="en-ID" dirty="0" err="1"/>
              <a:t>lại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người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,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giảm</a:t>
            </a:r>
            <a:r>
              <a:rPr lang="en-ID" dirty="0"/>
              <a:t> </a:t>
            </a:r>
            <a:r>
              <a:rPr lang="en-ID" dirty="0" err="1"/>
              <a:t>thiểu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</a:t>
            </a:r>
            <a:r>
              <a:rPr lang="en-ID" dirty="0" err="1"/>
              <a:t>trễ</a:t>
            </a:r>
            <a:r>
              <a:rPr lang="en-ID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257A38-12E1-1CDC-91ED-3B9E29D76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232" y="1511300"/>
            <a:ext cx="6350000" cy="466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22983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{7DAA69D8-4081-41AA-AF90-59615CB54555}0f45c1b8-b519-4737-8f12-a18148944ef7-TFfcaeb239-e0ad-43c4-9739-4084ddd7c62fe496f549_win32</Template>
  <TotalTime>266</TotalTime>
  <Words>1779</Words>
  <Application>Microsoft Office PowerPoint</Application>
  <PresentationFormat>Widescreen</PresentationFormat>
  <Paragraphs>95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Bahnschrift SemiLight</vt:lpstr>
      <vt:lpstr>Blockwork elegance</vt:lpstr>
      <vt:lpstr>Cơ sở dữ liệu sql database</vt:lpstr>
      <vt:lpstr>Mục lục</vt:lpstr>
      <vt:lpstr>Sql là gì?</vt:lpstr>
      <vt:lpstr>Các thành phần của sql</vt:lpstr>
      <vt:lpstr>Các thành phần của sql</vt:lpstr>
      <vt:lpstr>Các thành phần của sql</vt:lpstr>
      <vt:lpstr>Các thành phần của sql</vt:lpstr>
      <vt:lpstr>CÁC thành phần của sql</vt:lpstr>
      <vt:lpstr>CÁc thành phần của sql</vt:lpstr>
      <vt:lpstr>Oltp là gì?</vt:lpstr>
      <vt:lpstr>Olap là gì?</vt:lpstr>
      <vt:lpstr>Điểm khác biệt giữa olap và oltp</vt:lpstr>
      <vt:lpstr>Acid là gì?</vt:lpstr>
      <vt:lpstr>Cap theorem là gì?</vt:lpstr>
      <vt:lpstr>Các Yếu tố cốt lõi</vt:lpstr>
      <vt:lpstr>Các yếu tố cốt lõi</vt:lpstr>
      <vt:lpstr>Các yếu tố cốt lõi</vt:lpstr>
      <vt:lpstr>Các yếu tố cốt lõi</vt:lpstr>
      <vt:lpstr>Các yếu tố cốt lõi</vt:lpstr>
      <vt:lpstr>Các yếu tố cốt lõi</vt:lpstr>
      <vt:lpstr>Các yếu tố cốt lõi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Anh Quan  (S.CECS)</dc:creator>
  <cp:lastModifiedBy>Le Anh Quan  (S.CECS)</cp:lastModifiedBy>
  <cp:revision>3</cp:revision>
  <dcterms:created xsi:type="dcterms:W3CDTF">2026-07-08T01:57:43Z</dcterms:created>
  <dcterms:modified xsi:type="dcterms:W3CDTF">2026-07-09T08:15:27Z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