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18"/>
  </p:notesMasterIdLst>
  <p:handoutMasterIdLst>
    <p:handoutMasterId r:id="rId19"/>
  </p:handoutMasterIdLst>
  <p:sldIdLst>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30"/>
  </p:normalViewPr>
  <p:slideViewPr>
    <p:cSldViewPr showGuides="1">
      <p:cViewPr varScale="1">
        <p:scale>
          <a:sx n="84" d="100"/>
          <a:sy n="84" d="100"/>
        </p:scale>
        <p:origin x="658" y="72"/>
      </p:cViewPr>
      <p:guideLst>
        <p:guide orient="horz" pos="2160"/>
        <p:guide pos="3840"/>
      </p:guideLst>
    </p:cSldViewPr>
  </p:slideViewPr>
  <p:notesTextViewPr>
    <p:cViewPr>
      <p:scale>
        <a:sx n="1" d="1"/>
        <a:sy n="1" d="1"/>
      </p:scale>
      <p:origin x="0" y="0"/>
    </p:cViewPr>
  </p:notesTextViewPr>
  <p:sorterViewPr>
    <p:cViewPr>
      <p:scale>
        <a:sx n="100" d="100"/>
        <a:sy n="100" d="100"/>
      </p:scale>
      <p:origin x="0" y="-21892"/>
    </p:cViewPr>
  </p:sorterViewPr>
  <p:notesViewPr>
    <p:cSldViewPr>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7/23/2026</a:t>
            </a:fld>
            <a:endParaRPr lang="en-US" dirty="0"/>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dirty="0"/>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7/23/2026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dirty="0"/>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dirty="0"/>
          </a:p>
        </p:txBody>
      </p:sp>
    </p:spTree>
    <p:extLst>
      <p:ext uri="{BB962C8B-B14F-4D97-AF65-F5344CB8AC3E}">
        <p14:creationId xmlns:p14="http://schemas.microsoft.com/office/powerpoint/2010/main" val="1366932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endParaRPr lang="en-US" dirty="0"/>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E5F44E88-89D9-49CC-9E37-1AF77A031198}" type="datetime1">
              <a:rPr lang="en-US" smtClean="0"/>
              <a:t>7/23/2026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dirty="0"/>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AC2C24E-B95E-481D-968E-0BDCFC72F656}" type="datetime1">
              <a:rPr lang="en-US" smtClean="0"/>
              <a:t>7/23/2026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endParaRPr lang="en-US" dirty="0"/>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dirty="0"/>
              <a:t>Click icon to add picture</a:t>
            </a:r>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dirty="0"/>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83DFFD80-41C6-4EAA-B049-EE90EA550127}" type="datetime1">
              <a:rPr lang="en-US" smtClean="0"/>
              <a:t>7/23/2026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dirty="0"/>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dirty="0"/>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4210B3C-79E3-495A-B2C3-EF766F409D04}" type="datetime1">
              <a:rPr lang="en-US" smtClean="0"/>
              <a:t>7/23/2026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dirty="0"/>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D6235515-DA3D-4D9A-9B02-44E2CBD9110F}" type="datetime1">
              <a:rPr lang="en-US" smtClean="0"/>
              <a:t>7/23/2026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dirty="0"/>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852BD0B2-E7A7-4B81-8BAF-4B92BD6A4310}" type="datetime1">
              <a:rPr lang="en-US" smtClean="0"/>
              <a:t>7/23/2026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dirty="0"/>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A0E657DB-59AB-47CC-B4C7-A245A3C76BB1}" type="datetime1">
              <a:rPr lang="en-US" smtClean="0"/>
              <a:t>7/23/2026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dirty="0"/>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endParaRPr lang="en-US" dirty="0"/>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1415DC98-F527-4737-A5B9-3597210FA2F7}" type="datetime1">
              <a:rPr lang="en-US" smtClean="0"/>
              <a:t>7/23/2026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B2188889-44B4-42BD-84DC-2D1A93FD44C7}" type="datetime1">
              <a:rPr lang="en-US" smtClean="0"/>
              <a:t>7/23/2026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6A40708-E793-490B-9201-425C8D1F325C}" type="datetime1">
              <a:rPr lang="en-US" smtClean="0"/>
              <a:t>7/23/2026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dirty="0"/>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1968991-530B-4F8D-80FE-2192BD2DD5A5}" type="datetime1">
              <a:rPr lang="en-US" smtClean="0"/>
              <a:t>7/23/2026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23477E6-5CE8-4544-92C7-AEB7D166FD7D}" type="datetime1">
              <a:rPr lang="en-US" smtClean="0"/>
              <a:t>7/23/2026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dirty="0"/>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63EB29E-E91D-4BC9-BE3F-394F6FDC9AC7}" type="datetime1">
              <a:rPr lang="en-US" smtClean="0"/>
              <a:t>7/23/2026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dirty="0"/>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BAD7DA-2107-4637-8C8D-3B775970879B}" type="datetime1">
              <a:rPr lang="en-US" smtClean="0"/>
              <a:t>7/23/2026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59F5542-E2F9-4DC1-8AB7-8E5D8714BD21}" type="datetime1">
              <a:rPr lang="en-US" smtClean="0"/>
              <a:t>7/23/2026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4597AFA7-1C4B-4AAF-9FD8-61D1DA4C999A}" type="datetime1">
              <a:rPr lang="en-US" smtClean="0"/>
              <a:t>7/23/2026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EF5F7DF4-8BE0-4832-9230-78DDDEC4B6DD}" type="datetime1">
              <a:rPr lang="en-US" smtClean="0"/>
              <a:t>7/23/2026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dirty="0"/>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D3D21CC-B9C8-49F6-ADE7-6BF4A546A74E}" type="datetime1">
              <a:rPr lang="en-US" smtClean="0"/>
              <a:t>7/23/2026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dirty="0"/>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7/23/2026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C1166B1E-1AFA-4A7F-9646-409FBAA0A887}" type="datetime1">
              <a:rPr lang="en-US" smtClean="0"/>
              <a:t>7/23/2026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7/23/2026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dirty="0"/>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CFA9782-9FBA-47E1-A36A-E75622F7046E}" type="datetime1">
              <a:rPr lang="en-US" smtClean="0"/>
              <a:t>7/23/2026</a:t>
            </a:fld>
            <a:endParaRPr lang="en-US" dirty="0"/>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dirty="0"/>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dirty="0"/>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AA28231D-ABE1-4859-B037-5D42FA8F4858}" type="datetime1">
              <a:rPr lang="en-US" smtClean="0"/>
              <a:t>7/23/2026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dirty="0"/>
              <a:t>Sample Footer Text</a:t>
            </a:r>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AAA916C4-9175-479B-9610-7E06A2EDFEE0}" type="datetime1">
              <a:rPr lang="en-US" smtClean="0"/>
              <a:t>7/23/2026</a:t>
            </a:fld>
            <a:endParaRPr lang="en-US" dirty="0"/>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dirty="0"/>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71AD2788-6390-4160-9542-0F1C554F0165}" type="datetime1">
              <a:rPr lang="en-US" smtClean="0"/>
              <a:t>7/23/2026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dirty="0"/>
              <a:t>Sample Footer Text</a:t>
            </a:r>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C6E6CDFB-328D-4B9A-B955-967B0C6194A8}" type="datetime1">
              <a:rPr lang="en-US" smtClean="0"/>
              <a:t>7/23/2026</a:t>
            </a:fld>
            <a:endParaRPr lang="en-US" dirty="0"/>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dirty="0"/>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dirty="0"/>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A994DB4-9653-4FD4-8A14-5DAFB68B0E92}" type="datetime1">
              <a:rPr lang="en-US" smtClean="0"/>
              <a:t>7/23/2026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BECFC22-7333-427C-A7BB-2A423772B9A0}" type="datetime1">
              <a:rPr lang="en-US" smtClean="0"/>
              <a:t>7/23/2026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B78D85C6-8657-43F4-BE68-8F80962A5435}" type="datetime1">
              <a:rPr lang="en-US" smtClean="0"/>
              <a:t>7/23/2026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dirty="0"/>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dirty="0"/>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9D65A6B-59CD-4A95-97A1-5003425BCE52}" type="datetime1">
              <a:rPr lang="en-US" smtClean="0"/>
              <a:t>7/23/2026</a:t>
            </a:fld>
            <a:endParaRPr lang="en-US" dirty="0"/>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dirty="0"/>
              <a:t>Click icon to add picture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AEBE612C-E459-4252-B286-C98BDF4C5E92}" type="datetime1">
              <a:rPr lang="en-US" smtClean="0"/>
              <a:t>7/23/2026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endParaRPr lang="en-US" dirty="0"/>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D8568ADA-B78D-4076-A9DF-6C8E04B71243}" type="datetime1">
              <a:rPr lang="en-US" smtClean="0"/>
              <a:t>7/23/2026</a:t>
            </a:fld>
            <a:endParaRPr lang="en-US" dirty="0"/>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E3ED234F-BBE0-48A3-AC31-D10A1F3BC187}" type="datetime1">
              <a:rPr lang="en-US" smtClean="0"/>
              <a:t>7/23/2026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A0D3809-2B53-482D-AD1B-8B09C4B2656C}" type="datetime1">
              <a:rPr lang="en-US" smtClean="0"/>
              <a:t>7/23/2026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dirty="0"/>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dirty="0"/>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dirty="0"/>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dirty="0"/>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dirty="0"/>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154F04C1-B149-48D4-90B8-E64820B32F59}" type="datetime1">
              <a:rPr lang="en-US" smtClean="0"/>
              <a:t>7/23/2026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dirty="0"/>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endParaRPr lang="en-US" dirty="0"/>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dirty="0"/>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81AED7B4-8DB4-40B0-90CF-49D3708442C0}" type="datetime1">
              <a:rPr lang="en-US" smtClean="0"/>
              <a:t>7/23/2026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F861E720-2EA4-4832-8DC2-DC3D2BDBB07C}" type="datetime1">
              <a:rPr lang="en-US" smtClean="0"/>
              <a:t>7/23/2026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dirty="0"/>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dirty="0"/>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AB608D6C-D0F1-479F-911E-8569D2F1ED15}" type="datetime1">
              <a:rPr lang="en-US" smtClean="0"/>
              <a:t>7/23/2026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CBCFCC67-CBC1-48BE-A467-33E284003C9C}" type="datetime1">
              <a:rPr lang="en-US" smtClean="0"/>
              <a:t>7/23/2026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dirty="0"/>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BF01E07-9F97-42AE-9FE9-3EAD856BDB2A}" type="datetime1">
              <a:rPr lang="en-US" smtClean="0"/>
              <a:t>7/23/2026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dirty="0"/>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dirty="0"/>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34B2334-B27F-4DA0-8A92-599603070D6B}" type="datetime1">
              <a:rPr lang="en-US" smtClean="0"/>
              <a:t>7/23/2026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dirty="0"/>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9B8D85F-DE7D-4C09-9BDD-03377313F809}" type="datetime1">
              <a:rPr lang="en-US" smtClean="0"/>
              <a:t>7/23/2026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68CAF44C-1683-44E3-97C5-DF51C69BF7AA}" type="datetime1">
              <a:rPr lang="en-US" smtClean="0"/>
              <a:t>7/23/2026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dirty="0"/>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CD150565-788C-402B-B078-3F96B9A231B8}" type="datetime1">
              <a:rPr lang="en-US" smtClean="0"/>
              <a:t>7/23/2026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7B20C69-CB4E-44F7-A408-67C55627795C}" type="datetime1">
              <a:rPr lang="en-US" smtClean="0"/>
              <a:t>7/23/2026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dirty="0"/>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A0C8FE45-F91B-4375-B362-4DC6F9A2A304}" type="datetime1">
              <a:rPr lang="en-US" smtClean="0"/>
              <a:t>7/23/2026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endParaRPr lang="en-US" dirty="0"/>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dirty="0"/>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572A1522-8F1E-408E-ABA2-6F5B206582B8}" type="datetime1">
              <a:rPr lang="en-US" smtClean="0"/>
              <a:t>7/23/2026</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dirty="0"/>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3E19A776-5AE6-4251-8560-C6066D0B46D6}" type="datetime1">
              <a:rPr lang="en-US" smtClean="0"/>
              <a:t>7/23/2026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95FFA61-E651-4E50-A159-710A5ED7E6FE}" type="datetime1">
              <a:rPr lang="en-US" smtClean="0"/>
              <a:t>7/23/2026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E9E0D87-B7D0-4C2E-BAD1-97A555313A20}" type="datetime1">
              <a:rPr lang="en-US" smtClean="0"/>
              <a:t>7/23/2026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dirty="0"/>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29814657-813A-4D7B-A2F8-E573BA1645D3}" type="datetime1">
              <a:rPr lang="en-US" smtClean="0"/>
              <a:t>7/23/2026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web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F4B6-3F85-6E67-ED81-2124436829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0CBC46-76F5-CB3F-9BF0-DE7BBD3C6643}"/>
              </a:ext>
            </a:extLst>
          </p:cNvPr>
          <p:cNvSpPr>
            <a:spLocks noGrp="1"/>
          </p:cNvSpPr>
          <p:nvPr>
            <p:ph type="ctrTitle"/>
          </p:nvPr>
        </p:nvSpPr>
        <p:spPr>
          <a:xfrm>
            <a:off x="612646" y="2286000"/>
            <a:ext cx="10055354" cy="2407206"/>
          </a:xfrm>
        </p:spPr>
        <p:txBody>
          <a:bodyPr>
            <a:noAutofit/>
          </a:bodyPr>
          <a:lstStyle/>
          <a:p>
            <a:r>
              <a:rPr lang="vi-VN" noProof="0" dirty="0"/>
              <a:t>Xử lý phân tán</a:t>
            </a:r>
          </a:p>
        </p:txBody>
      </p:sp>
      <p:sp>
        <p:nvSpPr>
          <p:cNvPr id="4" name="Subtitle 3">
            <a:extLst>
              <a:ext uri="{FF2B5EF4-FFF2-40B4-BE49-F238E27FC236}">
                <a16:creationId xmlns:a16="http://schemas.microsoft.com/office/drawing/2014/main" id="{5CA5C5AD-7278-E875-15B7-835123AC22E5}"/>
              </a:ext>
            </a:extLst>
          </p:cNvPr>
          <p:cNvSpPr>
            <a:spLocks noGrp="1"/>
          </p:cNvSpPr>
          <p:nvPr>
            <p:ph type="subTitle" idx="1"/>
          </p:nvPr>
        </p:nvSpPr>
        <p:spPr/>
        <p:txBody>
          <a:bodyPr>
            <a:normAutofit/>
          </a:bodyPr>
          <a:lstStyle/>
          <a:p>
            <a:r>
              <a:rPr lang="vi-VN" noProof="0" dirty="0"/>
              <a:t>Lê Anh Quân</a:t>
            </a:r>
          </a:p>
        </p:txBody>
      </p:sp>
    </p:spTree>
    <p:extLst>
      <p:ext uri="{BB962C8B-B14F-4D97-AF65-F5344CB8AC3E}">
        <p14:creationId xmlns:p14="http://schemas.microsoft.com/office/powerpoint/2010/main" val="2812452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88375-0E3B-AC87-BF5F-5275779134AD}"/>
              </a:ext>
            </a:extLst>
          </p:cNvPr>
          <p:cNvSpPr>
            <a:spLocks noGrp="1"/>
          </p:cNvSpPr>
          <p:nvPr>
            <p:ph type="title"/>
          </p:nvPr>
        </p:nvSpPr>
        <p:spPr/>
        <p:txBody>
          <a:bodyPr/>
          <a:lstStyle/>
          <a:p>
            <a:r>
              <a:rPr lang="vi-VN" noProof="0" dirty="0"/>
              <a:t>Mục lục</a:t>
            </a:r>
          </a:p>
        </p:txBody>
      </p:sp>
      <p:sp>
        <p:nvSpPr>
          <p:cNvPr id="3" name="Content Placeholder 2">
            <a:extLst>
              <a:ext uri="{FF2B5EF4-FFF2-40B4-BE49-F238E27FC236}">
                <a16:creationId xmlns:a16="http://schemas.microsoft.com/office/drawing/2014/main" id="{54477C6D-E3FC-58F7-79DF-3DCD2E606111}"/>
              </a:ext>
            </a:extLst>
          </p:cNvPr>
          <p:cNvSpPr>
            <a:spLocks noGrp="1"/>
          </p:cNvSpPr>
          <p:nvPr>
            <p:ph idx="1"/>
          </p:nvPr>
        </p:nvSpPr>
        <p:spPr/>
        <p:txBody>
          <a:bodyPr/>
          <a:lstStyle/>
          <a:p>
            <a:r>
              <a:rPr lang="vi-VN" sz="2000" noProof="0" dirty="0"/>
              <a:t>I. Cơ chế xử lý phân tán</a:t>
            </a:r>
          </a:p>
          <a:p>
            <a:r>
              <a:rPr lang="vi-VN" sz="2000" noProof="0" dirty="0"/>
              <a:t>II. </a:t>
            </a:r>
            <a:r>
              <a:rPr lang="vi-VN" sz="2000" noProof="0" dirty="0" err="1"/>
              <a:t>Data</a:t>
            </a:r>
            <a:r>
              <a:rPr lang="vi-VN" sz="2000" noProof="0" dirty="0"/>
              <a:t> </a:t>
            </a:r>
            <a:r>
              <a:rPr lang="vi-VN" sz="2000" noProof="0" dirty="0" err="1"/>
              <a:t>Ingestion</a:t>
            </a:r>
            <a:br>
              <a:rPr lang="vi-VN" sz="2000" noProof="0" dirty="0"/>
            </a:br>
            <a:r>
              <a:rPr lang="vi-VN" sz="2000" noProof="0" dirty="0"/>
              <a:t>	1. Các phương pháp nhập dữ liệu</a:t>
            </a:r>
            <a:br>
              <a:rPr lang="vi-VN" sz="2000" noProof="0" dirty="0"/>
            </a:br>
            <a:r>
              <a:rPr lang="vi-VN" sz="2000" noProof="0" dirty="0"/>
              <a:t>	2. ETL </a:t>
            </a:r>
            <a:r>
              <a:rPr lang="vi-VN" sz="2000" noProof="0" dirty="0" err="1"/>
              <a:t>vs</a:t>
            </a:r>
            <a:r>
              <a:rPr lang="vi-VN" sz="2000" noProof="0" dirty="0"/>
              <a:t> ELT </a:t>
            </a:r>
            <a:r>
              <a:rPr lang="vi-VN" sz="2000" noProof="0" dirty="0" err="1"/>
              <a:t>pipeline</a:t>
            </a:r>
            <a:endParaRPr lang="vi-VN" sz="2000" noProof="0" dirty="0"/>
          </a:p>
          <a:p>
            <a:r>
              <a:rPr lang="vi-VN" sz="2000" noProof="0" dirty="0"/>
              <a:t>III. </a:t>
            </a:r>
            <a:r>
              <a:rPr lang="vi-VN" sz="2000" noProof="0" dirty="0" err="1"/>
              <a:t>MapReduce</a:t>
            </a:r>
            <a:br>
              <a:rPr lang="vi-VN" sz="2000" noProof="0" dirty="0"/>
            </a:br>
            <a:r>
              <a:rPr lang="vi-VN" sz="2000" noProof="0" dirty="0"/>
              <a:t>	</a:t>
            </a:r>
            <a:r>
              <a:rPr lang="en-US" sz="2000" noProof="0" dirty="0"/>
              <a:t>1</a:t>
            </a:r>
            <a:r>
              <a:rPr lang="vi-VN" sz="2000" noProof="0" dirty="0"/>
              <a:t>. Chi tiết hệ thống </a:t>
            </a:r>
            <a:r>
              <a:rPr lang="vi-VN" sz="2000" noProof="0" dirty="0" err="1"/>
              <a:t>MapReduce</a:t>
            </a:r>
            <a:br>
              <a:rPr lang="vi-VN" sz="2000" noProof="0" dirty="0"/>
            </a:br>
            <a:r>
              <a:rPr lang="vi-VN" sz="2000" noProof="0" dirty="0"/>
              <a:t>	</a:t>
            </a:r>
            <a:r>
              <a:rPr lang="en-US" sz="2000" noProof="0" dirty="0"/>
              <a:t>2</a:t>
            </a:r>
            <a:r>
              <a:rPr lang="vi-VN" sz="2000" noProof="0" dirty="0"/>
              <a:t>. </a:t>
            </a:r>
            <a:r>
              <a:rPr lang="en-US" sz="2000" dirty="0"/>
              <a:t>So </a:t>
            </a:r>
            <a:r>
              <a:rPr lang="en-US" sz="2000" dirty="0" err="1"/>
              <a:t>sánh</a:t>
            </a:r>
            <a:r>
              <a:rPr lang="en-US" sz="2000" dirty="0"/>
              <a:t> MapReduce </a:t>
            </a:r>
            <a:r>
              <a:rPr lang="en-US" sz="2000" dirty="0" err="1"/>
              <a:t>và</a:t>
            </a:r>
            <a:r>
              <a:rPr lang="en-US" sz="2000" dirty="0"/>
              <a:t> </a:t>
            </a:r>
            <a:r>
              <a:rPr lang="vi-VN" sz="2000" noProof="0" dirty="0" err="1"/>
              <a:t>Apache</a:t>
            </a:r>
            <a:r>
              <a:rPr lang="vi-VN" sz="2000" noProof="0" dirty="0"/>
              <a:t> </a:t>
            </a:r>
            <a:r>
              <a:rPr lang="vi-VN" sz="2000" noProof="0" dirty="0" err="1"/>
              <a:t>Tez</a:t>
            </a:r>
            <a:endParaRPr lang="vi-VN" sz="2000" noProof="0" dirty="0"/>
          </a:p>
          <a:p>
            <a:r>
              <a:rPr lang="vi-VN" sz="2000" noProof="0" dirty="0"/>
              <a:t>IV. YARN</a:t>
            </a:r>
            <a:br>
              <a:rPr lang="vi-VN" sz="2000" noProof="0" dirty="0"/>
            </a:br>
            <a:r>
              <a:rPr lang="vi-VN" sz="2000" noProof="0" dirty="0"/>
              <a:t>	1. </a:t>
            </a:r>
            <a:r>
              <a:rPr lang="vi-VN" sz="2000" noProof="0" dirty="0" err="1"/>
              <a:t>Yarn</a:t>
            </a:r>
            <a:r>
              <a:rPr lang="vi-VN" sz="2000" noProof="0" dirty="0"/>
              <a:t> là gì?</a:t>
            </a:r>
            <a:br>
              <a:rPr lang="vi-VN" sz="2000" noProof="0" dirty="0"/>
            </a:br>
            <a:r>
              <a:rPr lang="vi-VN" sz="2000" noProof="0" dirty="0"/>
              <a:t>	2. Kiến trúc và vai trò của YARN</a:t>
            </a:r>
          </a:p>
        </p:txBody>
      </p:sp>
    </p:spTree>
    <p:extLst>
      <p:ext uri="{BB962C8B-B14F-4D97-AF65-F5344CB8AC3E}">
        <p14:creationId xmlns:p14="http://schemas.microsoft.com/office/powerpoint/2010/main" val="3491905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1C8A1-5CDF-1B17-2926-416393341F74}"/>
              </a:ext>
            </a:extLst>
          </p:cNvPr>
          <p:cNvSpPr>
            <a:spLocks noGrp="1"/>
          </p:cNvSpPr>
          <p:nvPr>
            <p:ph type="title"/>
          </p:nvPr>
        </p:nvSpPr>
        <p:spPr/>
        <p:txBody>
          <a:bodyPr/>
          <a:lstStyle/>
          <a:p>
            <a:r>
              <a:rPr lang="vi-VN" noProof="0" dirty="0"/>
              <a:t>Cơ chế xử lý phân tán</a:t>
            </a:r>
          </a:p>
        </p:txBody>
      </p:sp>
      <p:sp>
        <p:nvSpPr>
          <p:cNvPr id="3" name="Content Placeholder 2">
            <a:extLst>
              <a:ext uri="{FF2B5EF4-FFF2-40B4-BE49-F238E27FC236}">
                <a16:creationId xmlns:a16="http://schemas.microsoft.com/office/drawing/2014/main" id="{6D3CD245-C8A7-5A68-2979-712A22F824D3}"/>
              </a:ext>
            </a:extLst>
          </p:cNvPr>
          <p:cNvSpPr>
            <a:spLocks noGrp="1"/>
          </p:cNvSpPr>
          <p:nvPr>
            <p:ph idx="1"/>
          </p:nvPr>
        </p:nvSpPr>
        <p:spPr/>
        <p:txBody>
          <a:bodyPr/>
          <a:lstStyle/>
          <a:p>
            <a:r>
              <a:rPr lang="vi-VN" noProof="0" dirty="0"/>
              <a:t>Xử lý phân tán (</a:t>
            </a:r>
            <a:r>
              <a:rPr lang="vi-VN" noProof="0" dirty="0" err="1"/>
              <a:t>Distributed</a:t>
            </a:r>
            <a:r>
              <a:rPr lang="vi-VN" noProof="0" dirty="0"/>
              <a:t> </a:t>
            </a:r>
            <a:r>
              <a:rPr lang="vi-VN" noProof="0" dirty="0" err="1"/>
              <a:t>Processing</a:t>
            </a:r>
            <a:r>
              <a:rPr lang="vi-VN" noProof="0" dirty="0"/>
              <a:t>) là mô hình xử lý thông tin trong đó các phần khác nhau của một tác vụ được chia nhỏ và thực hiện đồng thời trên nhiều hệ thống máy tính hoặc nút mạng khác nhau, thay vì tập trung trên một máy chủ duy nhất. Việc chuyển từ tập trung sang phân tán giải quyết được những vấn đề sau:</a:t>
            </a:r>
          </a:p>
          <a:p>
            <a:pPr marL="285750" indent="-285750">
              <a:buFont typeface="Arial" panose="020B0604020202020204" pitchFamily="34" charset="0"/>
              <a:buChar char="•"/>
            </a:pPr>
            <a:r>
              <a:rPr lang="vi-VN" noProof="0" dirty="0"/>
              <a:t>Vượt qua giới hạn phần cứng</a:t>
            </a:r>
          </a:p>
          <a:p>
            <a:pPr marL="285750" indent="-285750">
              <a:buFont typeface="Arial" panose="020B0604020202020204" pitchFamily="34" charset="0"/>
              <a:buChar char="•"/>
            </a:pPr>
            <a:r>
              <a:rPr lang="vi-VN" noProof="0" dirty="0"/>
              <a:t>Tính chịu lỗi</a:t>
            </a:r>
          </a:p>
          <a:p>
            <a:pPr marL="285750" indent="-285750">
              <a:buFont typeface="Arial" panose="020B0604020202020204" pitchFamily="34" charset="0"/>
              <a:buChar char="•"/>
            </a:pPr>
            <a:r>
              <a:rPr lang="vi-VN" noProof="0" dirty="0"/>
              <a:t>Chi phí mở rộng</a:t>
            </a:r>
          </a:p>
          <a:p>
            <a:pPr marL="285750" indent="-285750">
              <a:buFont typeface="Arial" panose="020B0604020202020204" pitchFamily="34" charset="0"/>
              <a:buChar char="•"/>
            </a:pPr>
            <a:r>
              <a:rPr lang="vi-VN" noProof="0" dirty="0"/>
              <a:t>Giảm độ trễ trên toàn cầu</a:t>
            </a:r>
          </a:p>
        </p:txBody>
      </p:sp>
      <p:pic>
        <p:nvPicPr>
          <p:cNvPr id="5" name="Picture 4">
            <a:extLst>
              <a:ext uri="{FF2B5EF4-FFF2-40B4-BE49-F238E27FC236}">
                <a16:creationId xmlns:a16="http://schemas.microsoft.com/office/drawing/2014/main" id="{83BE2A35-DC2A-C250-07E0-DCED5CF655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4101" y="2700336"/>
            <a:ext cx="6172202" cy="3471864"/>
          </a:xfrm>
          <a:prstGeom prst="rect">
            <a:avLst/>
          </a:prstGeom>
        </p:spPr>
      </p:pic>
    </p:spTree>
    <p:extLst>
      <p:ext uri="{BB962C8B-B14F-4D97-AF65-F5344CB8AC3E}">
        <p14:creationId xmlns:p14="http://schemas.microsoft.com/office/powerpoint/2010/main" val="2491962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D4471-4DF3-2237-129E-D3FE43FC3FD0}"/>
              </a:ext>
            </a:extLst>
          </p:cNvPr>
          <p:cNvSpPr>
            <a:spLocks noGrp="1"/>
          </p:cNvSpPr>
          <p:nvPr>
            <p:ph type="title"/>
          </p:nvPr>
        </p:nvSpPr>
        <p:spPr/>
        <p:txBody>
          <a:bodyPr/>
          <a:lstStyle/>
          <a:p>
            <a:r>
              <a:rPr lang="en-US" dirty="0"/>
              <a:t>Data ingestion</a:t>
            </a:r>
            <a:endParaRPr lang="en-ID" dirty="0"/>
          </a:p>
        </p:txBody>
      </p:sp>
      <p:sp>
        <p:nvSpPr>
          <p:cNvPr id="3" name="Content Placeholder 2">
            <a:extLst>
              <a:ext uri="{FF2B5EF4-FFF2-40B4-BE49-F238E27FC236}">
                <a16:creationId xmlns:a16="http://schemas.microsoft.com/office/drawing/2014/main" id="{E0FD23B5-9B9E-FC5E-D8CC-2A4C1905D89B}"/>
              </a:ext>
            </a:extLst>
          </p:cNvPr>
          <p:cNvSpPr>
            <a:spLocks noGrp="1"/>
          </p:cNvSpPr>
          <p:nvPr>
            <p:ph idx="1"/>
          </p:nvPr>
        </p:nvSpPr>
        <p:spPr>
          <a:xfrm>
            <a:off x="612648" y="3028950"/>
            <a:ext cx="4262628" cy="1447800"/>
          </a:xfrm>
        </p:spPr>
        <p:txBody>
          <a:bodyPr/>
          <a:lstStyle/>
          <a:p>
            <a:r>
              <a:rPr lang="en-ID" dirty="0"/>
              <a:t>Data Ingestion (</a:t>
            </a:r>
            <a:r>
              <a:rPr lang="en-ID" dirty="0" err="1"/>
              <a:t>thu</a:t>
            </a:r>
            <a:r>
              <a:rPr lang="en-ID" dirty="0"/>
              <a:t> </a:t>
            </a:r>
            <a:r>
              <a:rPr lang="en-ID" dirty="0" err="1"/>
              <a:t>nhận</a:t>
            </a:r>
            <a:r>
              <a:rPr lang="en-ID" dirty="0"/>
              <a:t>/</a:t>
            </a:r>
            <a:r>
              <a:rPr lang="en-ID" dirty="0" err="1"/>
              <a:t>nạp</a:t>
            </a:r>
            <a:r>
              <a:rPr lang="en-ID" dirty="0"/>
              <a:t> </a:t>
            </a:r>
            <a:r>
              <a:rPr lang="en-ID" dirty="0" err="1"/>
              <a:t>dữ</a:t>
            </a:r>
            <a:r>
              <a:rPr lang="en-ID" dirty="0"/>
              <a:t> </a:t>
            </a:r>
            <a:r>
              <a:rPr lang="en-ID" dirty="0" err="1"/>
              <a:t>liệu</a:t>
            </a:r>
            <a:r>
              <a:rPr lang="en-ID" dirty="0"/>
              <a:t>) </a:t>
            </a:r>
            <a:r>
              <a:rPr lang="en-ID" dirty="0" err="1"/>
              <a:t>là</a:t>
            </a:r>
            <a:r>
              <a:rPr lang="en-ID" dirty="0"/>
              <a:t> </a:t>
            </a:r>
            <a:r>
              <a:rPr lang="en-ID" dirty="0" err="1"/>
              <a:t>quá</a:t>
            </a:r>
            <a:r>
              <a:rPr lang="en-ID" dirty="0"/>
              <a:t> </a:t>
            </a:r>
            <a:r>
              <a:rPr lang="en-ID" dirty="0" err="1"/>
              <a:t>trình</a:t>
            </a:r>
            <a:r>
              <a:rPr lang="en-ID" dirty="0"/>
              <a:t> </a:t>
            </a:r>
            <a:r>
              <a:rPr lang="en-ID" dirty="0" err="1"/>
              <a:t>thu</a:t>
            </a:r>
            <a:r>
              <a:rPr lang="en-ID" dirty="0"/>
              <a:t> </a:t>
            </a:r>
            <a:r>
              <a:rPr lang="en-ID" dirty="0" err="1"/>
              <a:t>thập</a:t>
            </a:r>
            <a:r>
              <a:rPr lang="en-ID" dirty="0"/>
              <a:t>, </a:t>
            </a:r>
            <a:r>
              <a:rPr lang="en-ID" dirty="0" err="1"/>
              <a:t>trích</a:t>
            </a:r>
            <a:r>
              <a:rPr lang="en-ID" dirty="0"/>
              <a:t> </a:t>
            </a:r>
            <a:r>
              <a:rPr lang="en-ID" dirty="0" err="1"/>
              <a:t>xuất</a:t>
            </a:r>
            <a:r>
              <a:rPr lang="en-ID" dirty="0"/>
              <a:t> </a:t>
            </a:r>
            <a:r>
              <a:rPr lang="en-ID" dirty="0" err="1"/>
              <a:t>và</a:t>
            </a:r>
            <a:r>
              <a:rPr lang="en-ID" dirty="0"/>
              <a:t> di </a:t>
            </a:r>
            <a:r>
              <a:rPr lang="en-ID" dirty="0" err="1"/>
              <a:t>chuyển</a:t>
            </a:r>
            <a:r>
              <a:rPr lang="en-ID" dirty="0"/>
              <a:t> </a:t>
            </a:r>
            <a:r>
              <a:rPr lang="en-ID" dirty="0" err="1"/>
              <a:t>dữ</a:t>
            </a:r>
            <a:r>
              <a:rPr lang="en-ID" dirty="0"/>
              <a:t> </a:t>
            </a:r>
            <a:r>
              <a:rPr lang="en-ID" dirty="0" err="1"/>
              <a:t>liệu</a:t>
            </a:r>
            <a:r>
              <a:rPr lang="en-ID" dirty="0"/>
              <a:t> </a:t>
            </a:r>
            <a:r>
              <a:rPr lang="en-ID" dirty="0" err="1"/>
              <a:t>thô</a:t>
            </a:r>
            <a:r>
              <a:rPr lang="en-ID" dirty="0"/>
              <a:t> </a:t>
            </a:r>
            <a:r>
              <a:rPr lang="en-ID" dirty="0" err="1"/>
              <a:t>từ</a:t>
            </a:r>
            <a:r>
              <a:rPr lang="en-ID" dirty="0"/>
              <a:t> </a:t>
            </a:r>
            <a:r>
              <a:rPr lang="en-ID" dirty="0" err="1"/>
              <a:t>nhiều</a:t>
            </a:r>
            <a:r>
              <a:rPr lang="en-ID" dirty="0"/>
              <a:t> </a:t>
            </a:r>
            <a:r>
              <a:rPr lang="en-ID" dirty="0" err="1"/>
              <a:t>nguồn</a:t>
            </a:r>
            <a:r>
              <a:rPr lang="en-ID" dirty="0"/>
              <a:t> </a:t>
            </a:r>
            <a:r>
              <a:rPr lang="en-ID" dirty="0" err="1"/>
              <a:t>khác</a:t>
            </a:r>
            <a:r>
              <a:rPr lang="en-ID" dirty="0"/>
              <a:t> </a:t>
            </a:r>
            <a:r>
              <a:rPr lang="en-ID" dirty="0" err="1"/>
              <a:t>nhau</a:t>
            </a:r>
            <a:r>
              <a:rPr lang="en-ID" dirty="0"/>
              <a:t> </a:t>
            </a:r>
            <a:r>
              <a:rPr lang="en-ID" dirty="0" err="1"/>
              <a:t>vào</a:t>
            </a:r>
            <a:r>
              <a:rPr lang="en-ID" dirty="0"/>
              <a:t> </a:t>
            </a:r>
            <a:r>
              <a:rPr lang="en-ID" dirty="0" err="1"/>
              <a:t>một</a:t>
            </a:r>
            <a:r>
              <a:rPr lang="en-ID" dirty="0"/>
              <a:t> </a:t>
            </a:r>
            <a:r>
              <a:rPr lang="en-ID" dirty="0" err="1"/>
              <a:t>hệ</a:t>
            </a:r>
            <a:r>
              <a:rPr lang="en-ID" dirty="0"/>
              <a:t> </a:t>
            </a:r>
            <a:r>
              <a:rPr lang="en-ID" dirty="0" err="1"/>
              <a:t>thống</a:t>
            </a:r>
            <a:r>
              <a:rPr lang="en-ID" dirty="0"/>
              <a:t> </a:t>
            </a:r>
            <a:r>
              <a:rPr lang="en-ID" dirty="0" err="1"/>
              <a:t>lưu</a:t>
            </a:r>
            <a:r>
              <a:rPr lang="en-ID" dirty="0"/>
              <a:t> </a:t>
            </a:r>
            <a:r>
              <a:rPr lang="en-ID" dirty="0" err="1"/>
              <a:t>trữ</a:t>
            </a:r>
            <a:r>
              <a:rPr lang="en-ID" dirty="0"/>
              <a:t> </a:t>
            </a:r>
            <a:r>
              <a:rPr lang="en-ID" dirty="0" err="1"/>
              <a:t>trung</a:t>
            </a:r>
            <a:r>
              <a:rPr lang="en-ID" dirty="0"/>
              <a:t> </a:t>
            </a:r>
            <a:r>
              <a:rPr lang="en-ID" dirty="0" err="1"/>
              <a:t>tâm</a:t>
            </a:r>
            <a:r>
              <a:rPr lang="en-ID" dirty="0"/>
              <a:t> (</a:t>
            </a:r>
            <a:r>
              <a:rPr lang="en-ID" dirty="0" err="1"/>
              <a:t>như</a:t>
            </a:r>
            <a:r>
              <a:rPr lang="en-ID" dirty="0"/>
              <a:t> Data Warehouse </a:t>
            </a:r>
            <a:r>
              <a:rPr lang="en-ID" dirty="0" err="1"/>
              <a:t>hoặc</a:t>
            </a:r>
            <a:r>
              <a:rPr lang="en-ID" dirty="0"/>
              <a:t> Data Lake) </a:t>
            </a:r>
            <a:r>
              <a:rPr lang="en-ID" dirty="0" err="1"/>
              <a:t>để</a:t>
            </a:r>
            <a:r>
              <a:rPr lang="en-ID" dirty="0"/>
              <a:t> </a:t>
            </a:r>
            <a:r>
              <a:rPr lang="en-ID" dirty="0" err="1"/>
              <a:t>phân</a:t>
            </a:r>
            <a:r>
              <a:rPr lang="en-ID" dirty="0"/>
              <a:t> </a:t>
            </a:r>
            <a:r>
              <a:rPr lang="en-ID" dirty="0" err="1"/>
              <a:t>tích</a:t>
            </a:r>
            <a:r>
              <a:rPr lang="en-ID" dirty="0"/>
              <a:t> </a:t>
            </a:r>
            <a:r>
              <a:rPr lang="en-ID" dirty="0" err="1"/>
              <a:t>và</a:t>
            </a:r>
            <a:r>
              <a:rPr lang="en-ID" dirty="0"/>
              <a:t> </a:t>
            </a:r>
            <a:r>
              <a:rPr lang="en-ID" dirty="0" err="1"/>
              <a:t>khai</a:t>
            </a:r>
            <a:r>
              <a:rPr lang="en-ID" dirty="0"/>
              <a:t> </a:t>
            </a:r>
            <a:r>
              <a:rPr lang="en-ID" dirty="0" err="1"/>
              <a:t>thác</a:t>
            </a:r>
            <a:r>
              <a:rPr lang="en-ID" dirty="0"/>
              <a:t>. </a:t>
            </a:r>
            <a:r>
              <a:rPr lang="en-ID" dirty="0" err="1"/>
              <a:t>Đây</a:t>
            </a:r>
            <a:r>
              <a:rPr lang="en-ID" dirty="0"/>
              <a:t> </a:t>
            </a:r>
            <a:r>
              <a:rPr lang="en-ID" dirty="0" err="1"/>
              <a:t>là</a:t>
            </a:r>
            <a:r>
              <a:rPr lang="en-ID" dirty="0"/>
              <a:t> </a:t>
            </a:r>
            <a:r>
              <a:rPr lang="en-ID" dirty="0" err="1"/>
              <a:t>bước</a:t>
            </a:r>
            <a:r>
              <a:rPr lang="en-ID" dirty="0"/>
              <a:t> </a:t>
            </a:r>
            <a:r>
              <a:rPr lang="en-ID" dirty="0" err="1"/>
              <a:t>xuất</a:t>
            </a:r>
            <a:r>
              <a:rPr lang="en-ID" dirty="0"/>
              <a:t> </a:t>
            </a:r>
            <a:r>
              <a:rPr lang="en-ID" dirty="0" err="1"/>
              <a:t>phát</a:t>
            </a:r>
            <a:r>
              <a:rPr lang="en-ID" dirty="0"/>
              <a:t> </a:t>
            </a:r>
            <a:r>
              <a:rPr lang="en-ID" dirty="0" err="1"/>
              <a:t>điểm</a:t>
            </a:r>
            <a:r>
              <a:rPr lang="en-ID" dirty="0"/>
              <a:t> </a:t>
            </a:r>
            <a:r>
              <a:rPr lang="en-ID" dirty="0" err="1"/>
              <a:t>quan</a:t>
            </a:r>
            <a:r>
              <a:rPr lang="en-ID" dirty="0"/>
              <a:t> </a:t>
            </a:r>
            <a:r>
              <a:rPr lang="en-ID" dirty="0" err="1"/>
              <a:t>trọng</a:t>
            </a:r>
            <a:r>
              <a:rPr lang="en-ID" dirty="0"/>
              <a:t> </a:t>
            </a:r>
            <a:r>
              <a:rPr lang="en-ID" dirty="0" err="1"/>
              <a:t>trong</a:t>
            </a:r>
            <a:r>
              <a:rPr lang="en-ID" dirty="0"/>
              <a:t> </a:t>
            </a:r>
            <a:r>
              <a:rPr lang="en-ID" dirty="0" err="1"/>
              <a:t>mọi</a:t>
            </a:r>
            <a:r>
              <a:rPr lang="en-ID" dirty="0"/>
              <a:t> </a:t>
            </a:r>
            <a:r>
              <a:rPr lang="en-ID" dirty="0" err="1"/>
              <a:t>hạ</a:t>
            </a:r>
            <a:r>
              <a:rPr lang="en-ID" dirty="0"/>
              <a:t> </a:t>
            </a:r>
            <a:r>
              <a:rPr lang="en-ID" dirty="0" err="1"/>
              <a:t>tầng</a:t>
            </a:r>
            <a:r>
              <a:rPr lang="en-ID" dirty="0"/>
              <a:t> </a:t>
            </a:r>
            <a:r>
              <a:rPr lang="en-ID" dirty="0" err="1"/>
              <a:t>dữ</a:t>
            </a:r>
            <a:r>
              <a:rPr lang="en-ID" dirty="0"/>
              <a:t> </a:t>
            </a:r>
            <a:r>
              <a:rPr lang="en-ID" dirty="0" err="1"/>
              <a:t>liệu</a:t>
            </a:r>
            <a:r>
              <a:rPr lang="en-ID" dirty="0"/>
              <a:t> </a:t>
            </a:r>
            <a:r>
              <a:rPr lang="en-ID" dirty="0" err="1"/>
              <a:t>và</a:t>
            </a:r>
            <a:r>
              <a:rPr lang="en-ID" dirty="0"/>
              <a:t> AI.</a:t>
            </a:r>
          </a:p>
        </p:txBody>
      </p:sp>
      <p:pic>
        <p:nvPicPr>
          <p:cNvPr id="5" name="Picture 4">
            <a:extLst>
              <a:ext uri="{FF2B5EF4-FFF2-40B4-BE49-F238E27FC236}">
                <a16:creationId xmlns:a16="http://schemas.microsoft.com/office/drawing/2014/main" id="{9B12E45C-F3CF-102E-E575-7094E1975A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9303" y="2133600"/>
            <a:ext cx="6477000" cy="3238500"/>
          </a:xfrm>
          <a:prstGeom prst="rect">
            <a:avLst/>
          </a:prstGeom>
        </p:spPr>
      </p:pic>
    </p:spTree>
    <p:extLst>
      <p:ext uri="{BB962C8B-B14F-4D97-AF65-F5344CB8AC3E}">
        <p14:creationId xmlns:p14="http://schemas.microsoft.com/office/powerpoint/2010/main" val="3364728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48400-AE96-B557-C549-1A4B36ED7D4A}"/>
              </a:ext>
            </a:extLst>
          </p:cNvPr>
          <p:cNvSpPr>
            <a:spLocks noGrp="1"/>
          </p:cNvSpPr>
          <p:nvPr>
            <p:ph type="title"/>
          </p:nvPr>
        </p:nvSpPr>
        <p:spPr/>
        <p:txBody>
          <a:bodyPr/>
          <a:lstStyle/>
          <a:p>
            <a:r>
              <a:rPr lang="en-US" dirty="0"/>
              <a:t>Batch processing</a:t>
            </a:r>
            <a:endParaRPr lang="en-ID" dirty="0"/>
          </a:p>
        </p:txBody>
      </p:sp>
      <p:sp>
        <p:nvSpPr>
          <p:cNvPr id="3" name="Content Placeholder 2">
            <a:extLst>
              <a:ext uri="{FF2B5EF4-FFF2-40B4-BE49-F238E27FC236}">
                <a16:creationId xmlns:a16="http://schemas.microsoft.com/office/drawing/2014/main" id="{AC901D79-2D05-BFA3-AEE9-BD626617FA06}"/>
              </a:ext>
            </a:extLst>
          </p:cNvPr>
          <p:cNvSpPr>
            <a:spLocks noGrp="1"/>
          </p:cNvSpPr>
          <p:nvPr>
            <p:ph idx="1"/>
          </p:nvPr>
        </p:nvSpPr>
        <p:spPr/>
        <p:txBody>
          <a:bodyPr/>
          <a:lstStyle/>
          <a:p>
            <a:r>
              <a:rPr lang="en-ID" dirty="0"/>
              <a:t>Batch Processing (</a:t>
            </a:r>
            <a:r>
              <a:rPr lang="en-ID" dirty="0" err="1"/>
              <a:t>xử</a:t>
            </a:r>
            <a:r>
              <a:rPr lang="en-ID" dirty="0"/>
              <a:t> </a:t>
            </a:r>
            <a:r>
              <a:rPr lang="en-ID" dirty="0" err="1"/>
              <a:t>lý</a:t>
            </a:r>
            <a:r>
              <a:rPr lang="en-ID" dirty="0"/>
              <a:t> </a:t>
            </a:r>
            <a:r>
              <a:rPr lang="en-ID" dirty="0" err="1"/>
              <a:t>theo</a:t>
            </a:r>
            <a:r>
              <a:rPr lang="en-ID" dirty="0"/>
              <a:t> </a:t>
            </a:r>
            <a:r>
              <a:rPr lang="en-ID" dirty="0" err="1"/>
              <a:t>lô</a:t>
            </a:r>
            <a:r>
              <a:rPr lang="en-ID" dirty="0"/>
              <a:t>) </a:t>
            </a:r>
            <a:r>
              <a:rPr lang="en-ID" dirty="0" err="1"/>
              <a:t>là</a:t>
            </a:r>
            <a:r>
              <a:rPr lang="en-ID" dirty="0"/>
              <a:t> </a:t>
            </a:r>
            <a:r>
              <a:rPr lang="en-ID" dirty="0" err="1"/>
              <a:t>phương</a:t>
            </a:r>
            <a:r>
              <a:rPr lang="en-ID" dirty="0"/>
              <a:t> </a:t>
            </a:r>
            <a:r>
              <a:rPr lang="en-ID" dirty="0" err="1"/>
              <a:t>pháp</a:t>
            </a:r>
            <a:r>
              <a:rPr lang="en-ID" dirty="0"/>
              <a:t> </a:t>
            </a:r>
            <a:r>
              <a:rPr lang="en-ID" dirty="0" err="1"/>
              <a:t>thu</a:t>
            </a:r>
            <a:r>
              <a:rPr lang="en-ID" dirty="0"/>
              <a:t> </a:t>
            </a:r>
            <a:r>
              <a:rPr lang="en-ID" dirty="0" err="1"/>
              <a:t>thập</a:t>
            </a:r>
            <a:r>
              <a:rPr lang="en-ID" dirty="0"/>
              <a:t> </a:t>
            </a:r>
            <a:r>
              <a:rPr lang="en-ID" dirty="0" err="1"/>
              <a:t>dữ</a:t>
            </a:r>
            <a:r>
              <a:rPr lang="en-ID" dirty="0"/>
              <a:t> </a:t>
            </a:r>
            <a:r>
              <a:rPr lang="en-ID" dirty="0" err="1"/>
              <a:t>liệu</a:t>
            </a:r>
            <a:r>
              <a:rPr lang="en-ID" dirty="0"/>
              <a:t>, </a:t>
            </a:r>
            <a:r>
              <a:rPr lang="en-ID" dirty="0" err="1"/>
              <a:t>gom</a:t>
            </a:r>
            <a:r>
              <a:rPr lang="en-ID" dirty="0"/>
              <a:t> </a:t>
            </a:r>
            <a:r>
              <a:rPr lang="en-ID" dirty="0" err="1"/>
              <a:t>chúng</a:t>
            </a:r>
            <a:r>
              <a:rPr lang="en-ID" dirty="0"/>
              <a:t> </a:t>
            </a:r>
            <a:r>
              <a:rPr lang="en-ID" dirty="0" err="1"/>
              <a:t>thành</a:t>
            </a:r>
            <a:r>
              <a:rPr lang="en-ID" dirty="0"/>
              <a:t> </a:t>
            </a:r>
            <a:r>
              <a:rPr lang="en-ID" dirty="0" err="1"/>
              <a:t>một</a:t>
            </a:r>
            <a:r>
              <a:rPr lang="en-ID" dirty="0"/>
              <a:t> </a:t>
            </a:r>
            <a:r>
              <a:rPr lang="en-ID" dirty="0" err="1"/>
              <a:t>nhóm</a:t>
            </a:r>
            <a:r>
              <a:rPr lang="en-ID" dirty="0"/>
              <a:t> (</a:t>
            </a:r>
            <a:r>
              <a:rPr lang="en-ID" dirty="0" err="1"/>
              <a:t>lô</a:t>
            </a:r>
            <a:r>
              <a:rPr lang="en-ID" dirty="0"/>
              <a:t>) </a:t>
            </a:r>
            <a:r>
              <a:rPr lang="en-ID" dirty="0" err="1"/>
              <a:t>và</a:t>
            </a:r>
            <a:r>
              <a:rPr lang="en-ID" dirty="0"/>
              <a:t> </a:t>
            </a:r>
            <a:r>
              <a:rPr lang="en-ID" dirty="0" err="1"/>
              <a:t>xử</a:t>
            </a:r>
            <a:r>
              <a:rPr lang="en-ID" dirty="0"/>
              <a:t> </a:t>
            </a:r>
            <a:r>
              <a:rPr lang="en-ID" dirty="0" err="1"/>
              <a:t>lý</a:t>
            </a:r>
            <a:r>
              <a:rPr lang="en-ID" dirty="0"/>
              <a:t> </a:t>
            </a:r>
            <a:r>
              <a:rPr lang="en-ID" dirty="0" err="1"/>
              <a:t>cùng</a:t>
            </a:r>
            <a:r>
              <a:rPr lang="en-ID" dirty="0"/>
              <a:t> </a:t>
            </a:r>
            <a:r>
              <a:rPr lang="en-ID" dirty="0" err="1"/>
              <a:t>một</a:t>
            </a:r>
            <a:r>
              <a:rPr lang="en-ID" dirty="0"/>
              <a:t> </a:t>
            </a:r>
            <a:r>
              <a:rPr lang="en-ID" dirty="0" err="1"/>
              <a:t>lúc</a:t>
            </a:r>
            <a:r>
              <a:rPr lang="en-ID" dirty="0"/>
              <a:t> </a:t>
            </a:r>
            <a:r>
              <a:rPr lang="en-ID" dirty="0" err="1"/>
              <a:t>theo</a:t>
            </a:r>
            <a:r>
              <a:rPr lang="en-ID" dirty="0"/>
              <a:t> </a:t>
            </a:r>
            <a:r>
              <a:rPr lang="en-ID" dirty="0" err="1"/>
              <a:t>lịch</a:t>
            </a:r>
            <a:r>
              <a:rPr lang="en-ID" dirty="0"/>
              <a:t> </a:t>
            </a:r>
            <a:r>
              <a:rPr lang="en-ID" dirty="0" err="1"/>
              <a:t>trình</a:t>
            </a:r>
            <a:r>
              <a:rPr lang="en-ID" dirty="0"/>
              <a:t> </a:t>
            </a:r>
            <a:r>
              <a:rPr lang="en-ID" dirty="0" err="1"/>
              <a:t>định</a:t>
            </a:r>
            <a:r>
              <a:rPr lang="en-ID" dirty="0"/>
              <a:t> </a:t>
            </a:r>
            <a:r>
              <a:rPr lang="en-ID" dirty="0" err="1"/>
              <a:t>sẵn</a:t>
            </a:r>
            <a:r>
              <a:rPr lang="en-ID" dirty="0"/>
              <a:t>. Phương </a:t>
            </a:r>
            <a:r>
              <a:rPr lang="en-ID" dirty="0" err="1"/>
              <a:t>pháp</a:t>
            </a:r>
            <a:r>
              <a:rPr lang="en-ID" dirty="0"/>
              <a:t> </a:t>
            </a:r>
            <a:r>
              <a:rPr lang="en-ID" dirty="0" err="1"/>
              <a:t>này</a:t>
            </a:r>
            <a:r>
              <a:rPr lang="en-ID" dirty="0"/>
              <a:t> </a:t>
            </a:r>
            <a:r>
              <a:rPr lang="en-ID" dirty="0" err="1"/>
              <a:t>không</a:t>
            </a:r>
            <a:r>
              <a:rPr lang="en-ID" dirty="0"/>
              <a:t> </a:t>
            </a:r>
            <a:r>
              <a:rPr lang="en-ID" dirty="0" err="1"/>
              <a:t>xử</a:t>
            </a:r>
            <a:r>
              <a:rPr lang="en-ID" dirty="0"/>
              <a:t> </a:t>
            </a:r>
            <a:r>
              <a:rPr lang="en-ID" dirty="0" err="1"/>
              <a:t>lý</a:t>
            </a:r>
            <a:r>
              <a:rPr lang="en-ID" dirty="0"/>
              <a:t> </a:t>
            </a:r>
            <a:r>
              <a:rPr lang="en-ID" dirty="0" err="1"/>
              <a:t>dữ</a:t>
            </a:r>
            <a:r>
              <a:rPr lang="en-ID" dirty="0"/>
              <a:t> </a:t>
            </a:r>
            <a:r>
              <a:rPr lang="en-ID" dirty="0" err="1"/>
              <a:t>liệu</a:t>
            </a:r>
            <a:r>
              <a:rPr lang="en-ID" dirty="0"/>
              <a:t> </a:t>
            </a:r>
            <a:r>
              <a:rPr lang="en-ID" dirty="0" err="1"/>
              <a:t>ngay</a:t>
            </a:r>
            <a:r>
              <a:rPr lang="en-ID" dirty="0"/>
              <a:t> </a:t>
            </a:r>
            <a:r>
              <a:rPr lang="en-ID" dirty="0" err="1"/>
              <a:t>lập</a:t>
            </a:r>
            <a:r>
              <a:rPr lang="en-ID" dirty="0"/>
              <a:t> </a:t>
            </a:r>
            <a:r>
              <a:rPr lang="en-ID" dirty="0" err="1"/>
              <a:t>tức</a:t>
            </a:r>
            <a:r>
              <a:rPr lang="en-ID" dirty="0"/>
              <a:t> </a:t>
            </a:r>
            <a:r>
              <a:rPr lang="en-ID" dirty="0" err="1"/>
              <a:t>khi</a:t>
            </a:r>
            <a:r>
              <a:rPr lang="en-ID" dirty="0"/>
              <a:t> </a:t>
            </a:r>
            <a:r>
              <a:rPr lang="en-ID" dirty="0" err="1"/>
              <a:t>phát</a:t>
            </a:r>
            <a:r>
              <a:rPr lang="en-ID" dirty="0"/>
              <a:t> </a:t>
            </a:r>
            <a:r>
              <a:rPr lang="en-ID" dirty="0" err="1"/>
              <a:t>sinh</a:t>
            </a:r>
            <a:r>
              <a:rPr lang="en-ID" dirty="0"/>
              <a:t> </a:t>
            </a:r>
            <a:r>
              <a:rPr lang="en-ID" dirty="0" err="1"/>
              <a:t>mà</a:t>
            </a:r>
            <a:r>
              <a:rPr lang="en-ID" dirty="0"/>
              <a:t> </a:t>
            </a:r>
            <a:r>
              <a:rPr lang="en-ID" dirty="0" err="1"/>
              <a:t>đợi</a:t>
            </a:r>
            <a:r>
              <a:rPr lang="en-ID" dirty="0"/>
              <a:t> </a:t>
            </a:r>
            <a:r>
              <a:rPr lang="en-ID" dirty="0" err="1"/>
              <a:t>đủ</a:t>
            </a:r>
            <a:r>
              <a:rPr lang="en-ID" dirty="0"/>
              <a:t> </a:t>
            </a:r>
            <a:r>
              <a:rPr lang="en-ID" dirty="0" err="1"/>
              <a:t>số</a:t>
            </a:r>
            <a:r>
              <a:rPr lang="en-ID" dirty="0"/>
              <a:t> </a:t>
            </a:r>
            <a:r>
              <a:rPr lang="en-ID" dirty="0" err="1"/>
              <a:t>lượng</a:t>
            </a:r>
            <a:r>
              <a:rPr lang="en-ID" dirty="0"/>
              <a:t> </a:t>
            </a:r>
            <a:r>
              <a:rPr lang="en-ID" dirty="0" err="1"/>
              <a:t>hoặc</a:t>
            </a:r>
            <a:r>
              <a:rPr lang="en-ID" dirty="0"/>
              <a:t> </a:t>
            </a:r>
            <a:r>
              <a:rPr lang="en-ID" dirty="0" err="1"/>
              <a:t>sau</a:t>
            </a:r>
            <a:r>
              <a:rPr lang="en-ID" dirty="0"/>
              <a:t> </a:t>
            </a:r>
            <a:r>
              <a:rPr lang="en-ID" dirty="0" err="1"/>
              <a:t>một</a:t>
            </a:r>
            <a:r>
              <a:rPr lang="en-ID" dirty="0"/>
              <a:t> </a:t>
            </a:r>
            <a:r>
              <a:rPr lang="en-ID" dirty="0" err="1"/>
              <a:t>khoảng</a:t>
            </a:r>
            <a:r>
              <a:rPr lang="en-ID" dirty="0"/>
              <a:t> </a:t>
            </a:r>
            <a:r>
              <a:rPr lang="en-ID" dirty="0" err="1"/>
              <a:t>thời</a:t>
            </a:r>
            <a:r>
              <a:rPr lang="en-ID" dirty="0"/>
              <a:t> </a:t>
            </a:r>
            <a:r>
              <a:rPr lang="en-ID" dirty="0" err="1"/>
              <a:t>gian</a:t>
            </a:r>
            <a:r>
              <a:rPr lang="en-ID" dirty="0"/>
              <a:t> </a:t>
            </a:r>
            <a:r>
              <a:rPr lang="en-ID" dirty="0" err="1"/>
              <a:t>nhất</a:t>
            </a:r>
            <a:r>
              <a:rPr lang="en-ID" dirty="0"/>
              <a:t> </a:t>
            </a:r>
            <a:r>
              <a:rPr lang="en-ID" dirty="0" err="1"/>
              <a:t>định</a:t>
            </a:r>
            <a:r>
              <a:rPr lang="en-ID" dirty="0"/>
              <a:t>. Các </a:t>
            </a:r>
            <a:r>
              <a:rPr lang="en-ID" dirty="0" err="1"/>
              <a:t>đặc</a:t>
            </a:r>
            <a:r>
              <a:rPr lang="en-ID" dirty="0"/>
              <a:t> </a:t>
            </a:r>
            <a:r>
              <a:rPr lang="en-ID" dirty="0" err="1"/>
              <a:t>điểm</a:t>
            </a:r>
            <a:r>
              <a:rPr lang="en-ID" dirty="0"/>
              <a:t> </a:t>
            </a:r>
            <a:r>
              <a:rPr lang="en-ID" dirty="0" err="1"/>
              <a:t>cốt</a:t>
            </a:r>
            <a:r>
              <a:rPr lang="en-ID" dirty="0"/>
              <a:t> </a:t>
            </a:r>
            <a:r>
              <a:rPr lang="en-ID" dirty="0" err="1"/>
              <a:t>lõi</a:t>
            </a:r>
            <a:r>
              <a:rPr lang="en-ID" dirty="0"/>
              <a:t> </a:t>
            </a:r>
            <a:r>
              <a:rPr lang="en-ID" dirty="0" err="1"/>
              <a:t>của</a:t>
            </a:r>
            <a:r>
              <a:rPr lang="en-ID" dirty="0"/>
              <a:t> </a:t>
            </a:r>
            <a:r>
              <a:rPr lang="en-ID" dirty="0" err="1"/>
              <a:t>phương</a:t>
            </a:r>
            <a:r>
              <a:rPr lang="en-ID" dirty="0"/>
              <a:t> </a:t>
            </a:r>
            <a:r>
              <a:rPr lang="en-ID" dirty="0" err="1"/>
              <a:t>pháp</a:t>
            </a:r>
            <a:r>
              <a:rPr lang="en-ID" dirty="0"/>
              <a:t> </a:t>
            </a:r>
            <a:r>
              <a:rPr lang="en-ID" dirty="0" err="1"/>
              <a:t>này</a:t>
            </a:r>
            <a:r>
              <a:rPr lang="en-ID" dirty="0"/>
              <a:t> bao </a:t>
            </a:r>
            <a:r>
              <a:rPr lang="en-ID" dirty="0" err="1"/>
              <a:t>gồm</a:t>
            </a:r>
            <a:r>
              <a:rPr lang="en-ID" dirty="0"/>
              <a:t>:</a:t>
            </a:r>
          </a:p>
          <a:p>
            <a:pPr marL="285750" indent="-285750">
              <a:buFont typeface="Arial" panose="020B0604020202020204" pitchFamily="34" charset="0"/>
              <a:buChar char="•"/>
            </a:pPr>
            <a:r>
              <a:rPr lang="en-ID" dirty="0" err="1"/>
              <a:t>Độ</a:t>
            </a:r>
            <a:r>
              <a:rPr lang="en-ID" dirty="0"/>
              <a:t> </a:t>
            </a:r>
            <a:r>
              <a:rPr lang="en-ID" dirty="0" err="1"/>
              <a:t>trễ</a:t>
            </a:r>
            <a:r>
              <a:rPr lang="en-ID" dirty="0"/>
              <a:t> </a:t>
            </a:r>
            <a:r>
              <a:rPr lang="en-ID" dirty="0" err="1"/>
              <a:t>cao</a:t>
            </a:r>
            <a:r>
              <a:rPr lang="en-ID" dirty="0"/>
              <a:t> (High Latency)</a:t>
            </a:r>
          </a:p>
          <a:p>
            <a:pPr marL="285750" indent="-285750">
              <a:buFont typeface="Arial" panose="020B0604020202020204" pitchFamily="34" charset="0"/>
              <a:buChar char="•"/>
            </a:pPr>
            <a:r>
              <a:rPr lang="en-ID" dirty="0" err="1"/>
              <a:t>Khối</a:t>
            </a:r>
            <a:r>
              <a:rPr lang="en-ID" dirty="0"/>
              <a:t> </a:t>
            </a:r>
            <a:r>
              <a:rPr lang="en-ID" dirty="0" err="1"/>
              <a:t>lượng</a:t>
            </a:r>
            <a:r>
              <a:rPr lang="en-ID" dirty="0"/>
              <a:t> </a:t>
            </a:r>
            <a:r>
              <a:rPr lang="en-ID" dirty="0" err="1"/>
              <a:t>lớn</a:t>
            </a:r>
            <a:r>
              <a:rPr lang="en-ID" dirty="0"/>
              <a:t> (High Volume)</a:t>
            </a:r>
          </a:p>
          <a:p>
            <a:pPr marL="285750" indent="-285750">
              <a:buFont typeface="Arial" panose="020B0604020202020204" pitchFamily="34" charset="0"/>
              <a:buChar char="•"/>
            </a:pPr>
            <a:r>
              <a:rPr lang="en-ID" dirty="0" err="1"/>
              <a:t>Tối</a:t>
            </a:r>
            <a:r>
              <a:rPr lang="en-ID" dirty="0"/>
              <a:t> </a:t>
            </a:r>
            <a:r>
              <a:rPr lang="en-ID" dirty="0" err="1"/>
              <a:t>ưu</a:t>
            </a:r>
            <a:r>
              <a:rPr lang="en-ID" dirty="0"/>
              <a:t> chi </a:t>
            </a:r>
            <a:r>
              <a:rPr lang="en-ID" dirty="0" err="1"/>
              <a:t>phí</a:t>
            </a:r>
            <a:endParaRPr lang="en-ID" dirty="0"/>
          </a:p>
          <a:p>
            <a:pPr marL="285750" indent="-285750">
              <a:buFont typeface="Arial" panose="020B0604020202020204" pitchFamily="34" charset="0"/>
              <a:buChar char="•"/>
            </a:pPr>
            <a:r>
              <a:rPr lang="en-ID" dirty="0" err="1"/>
              <a:t>Tự</a:t>
            </a:r>
            <a:r>
              <a:rPr lang="en-ID" dirty="0"/>
              <a:t> </a:t>
            </a:r>
            <a:r>
              <a:rPr lang="en-ID" dirty="0" err="1"/>
              <a:t>động</a:t>
            </a:r>
            <a:r>
              <a:rPr lang="en-ID" dirty="0"/>
              <a:t> </a:t>
            </a:r>
            <a:r>
              <a:rPr lang="en-ID" dirty="0" err="1"/>
              <a:t>phục</a:t>
            </a:r>
            <a:r>
              <a:rPr lang="en-ID" dirty="0"/>
              <a:t> </a:t>
            </a:r>
            <a:r>
              <a:rPr lang="en-ID" dirty="0" err="1"/>
              <a:t>hồi</a:t>
            </a:r>
            <a:endParaRPr lang="en-ID" dirty="0"/>
          </a:p>
        </p:txBody>
      </p:sp>
      <p:pic>
        <p:nvPicPr>
          <p:cNvPr id="5" name="Picture 4">
            <a:extLst>
              <a:ext uri="{FF2B5EF4-FFF2-40B4-BE49-F238E27FC236}">
                <a16:creationId xmlns:a16="http://schemas.microsoft.com/office/drawing/2014/main" id="{8CF0A7BC-F05E-DCBD-E1C8-55B20A001B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6903" y="2857500"/>
            <a:ext cx="6629400" cy="3314700"/>
          </a:xfrm>
          <a:prstGeom prst="rect">
            <a:avLst/>
          </a:prstGeom>
        </p:spPr>
      </p:pic>
    </p:spTree>
    <p:extLst>
      <p:ext uri="{BB962C8B-B14F-4D97-AF65-F5344CB8AC3E}">
        <p14:creationId xmlns:p14="http://schemas.microsoft.com/office/powerpoint/2010/main" val="2268454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EAFB-3429-1044-105C-7A82D5FEE750}"/>
              </a:ext>
            </a:extLst>
          </p:cNvPr>
          <p:cNvSpPr>
            <a:spLocks noGrp="1"/>
          </p:cNvSpPr>
          <p:nvPr>
            <p:ph type="title"/>
          </p:nvPr>
        </p:nvSpPr>
        <p:spPr/>
        <p:txBody>
          <a:bodyPr/>
          <a:lstStyle/>
          <a:p>
            <a:r>
              <a:rPr lang="en-US" dirty="0"/>
              <a:t>Real-time processing</a:t>
            </a:r>
            <a:endParaRPr lang="en-ID" dirty="0"/>
          </a:p>
        </p:txBody>
      </p:sp>
      <p:sp>
        <p:nvSpPr>
          <p:cNvPr id="3" name="Content Placeholder 2">
            <a:extLst>
              <a:ext uri="{FF2B5EF4-FFF2-40B4-BE49-F238E27FC236}">
                <a16:creationId xmlns:a16="http://schemas.microsoft.com/office/drawing/2014/main" id="{449C0C43-158C-31D7-1929-ACBDF88DE57E}"/>
              </a:ext>
            </a:extLst>
          </p:cNvPr>
          <p:cNvSpPr>
            <a:spLocks noGrp="1"/>
          </p:cNvSpPr>
          <p:nvPr>
            <p:ph idx="1"/>
          </p:nvPr>
        </p:nvSpPr>
        <p:spPr>
          <a:xfrm>
            <a:off x="7007351" y="2571471"/>
            <a:ext cx="4568952" cy="2476686"/>
          </a:xfrm>
        </p:spPr>
        <p:txBody>
          <a:bodyPr/>
          <a:lstStyle/>
          <a:p>
            <a:r>
              <a:rPr lang="en-ID" dirty="0"/>
              <a:t>Streaming/Real-Time Processing (</a:t>
            </a:r>
            <a:r>
              <a:rPr lang="en-ID" dirty="0" err="1"/>
              <a:t>xử</a:t>
            </a:r>
            <a:r>
              <a:rPr lang="en-ID" dirty="0"/>
              <a:t> </a:t>
            </a:r>
            <a:r>
              <a:rPr lang="en-ID" dirty="0" err="1"/>
              <a:t>lý</a:t>
            </a:r>
            <a:r>
              <a:rPr lang="en-ID" dirty="0"/>
              <a:t> </a:t>
            </a:r>
            <a:r>
              <a:rPr lang="en-ID" dirty="0" err="1"/>
              <a:t>theo</a:t>
            </a:r>
            <a:r>
              <a:rPr lang="en-ID" dirty="0"/>
              <a:t> </a:t>
            </a:r>
            <a:r>
              <a:rPr lang="en-ID" dirty="0" err="1"/>
              <a:t>luồng</a:t>
            </a:r>
            <a:r>
              <a:rPr lang="en-ID" dirty="0"/>
              <a:t>/</a:t>
            </a:r>
            <a:r>
              <a:rPr lang="en-ID" dirty="0" err="1"/>
              <a:t>thời</a:t>
            </a:r>
            <a:r>
              <a:rPr lang="en-ID" dirty="0"/>
              <a:t> </a:t>
            </a:r>
            <a:r>
              <a:rPr lang="en-ID" dirty="0" err="1"/>
              <a:t>gian</a:t>
            </a:r>
            <a:r>
              <a:rPr lang="en-ID" dirty="0"/>
              <a:t> </a:t>
            </a:r>
            <a:r>
              <a:rPr lang="en-ID" dirty="0" err="1"/>
              <a:t>thực</a:t>
            </a:r>
            <a:r>
              <a:rPr lang="en-ID" dirty="0"/>
              <a:t>) </a:t>
            </a:r>
            <a:r>
              <a:rPr lang="en-ID" dirty="0" err="1"/>
              <a:t>là</a:t>
            </a:r>
            <a:r>
              <a:rPr lang="en-ID" dirty="0"/>
              <a:t> </a:t>
            </a:r>
            <a:r>
              <a:rPr lang="en-ID" dirty="0" err="1"/>
              <a:t>phương</a:t>
            </a:r>
            <a:r>
              <a:rPr lang="en-ID" dirty="0"/>
              <a:t> </a:t>
            </a:r>
            <a:r>
              <a:rPr lang="en-ID" dirty="0" err="1"/>
              <a:t>pháp</a:t>
            </a:r>
            <a:r>
              <a:rPr lang="en-ID" dirty="0"/>
              <a:t> </a:t>
            </a:r>
            <a:r>
              <a:rPr lang="en-ID" dirty="0" err="1"/>
              <a:t>thu</a:t>
            </a:r>
            <a:r>
              <a:rPr lang="en-ID" dirty="0"/>
              <a:t> </a:t>
            </a:r>
            <a:r>
              <a:rPr lang="en-ID" dirty="0" err="1"/>
              <a:t>thập</a:t>
            </a:r>
            <a:r>
              <a:rPr lang="en-ID" dirty="0"/>
              <a:t>, </a:t>
            </a:r>
            <a:r>
              <a:rPr lang="en-ID" dirty="0" err="1"/>
              <a:t>xử</a:t>
            </a:r>
            <a:r>
              <a:rPr lang="en-ID" dirty="0"/>
              <a:t> </a:t>
            </a:r>
            <a:r>
              <a:rPr lang="en-ID" dirty="0" err="1"/>
              <a:t>lý</a:t>
            </a:r>
            <a:r>
              <a:rPr lang="en-ID" dirty="0"/>
              <a:t> </a:t>
            </a:r>
            <a:r>
              <a:rPr lang="en-ID" dirty="0" err="1"/>
              <a:t>và</a:t>
            </a:r>
            <a:r>
              <a:rPr lang="en-ID" dirty="0"/>
              <a:t> </a:t>
            </a:r>
            <a:r>
              <a:rPr lang="en-ID" dirty="0" err="1"/>
              <a:t>phản</a:t>
            </a:r>
            <a:r>
              <a:rPr lang="en-ID" dirty="0"/>
              <a:t> </a:t>
            </a:r>
            <a:r>
              <a:rPr lang="en-ID" dirty="0" err="1"/>
              <a:t>hồi</a:t>
            </a:r>
            <a:r>
              <a:rPr lang="en-ID" dirty="0"/>
              <a:t> </a:t>
            </a:r>
            <a:r>
              <a:rPr lang="en-ID" dirty="0" err="1"/>
              <a:t>dữ</a:t>
            </a:r>
            <a:r>
              <a:rPr lang="en-ID" dirty="0"/>
              <a:t> </a:t>
            </a:r>
            <a:r>
              <a:rPr lang="en-ID" dirty="0" err="1"/>
              <a:t>liệu</a:t>
            </a:r>
            <a:r>
              <a:rPr lang="en-ID" dirty="0"/>
              <a:t> </a:t>
            </a:r>
            <a:r>
              <a:rPr lang="en-ID" dirty="0" err="1"/>
              <a:t>ngay</a:t>
            </a:r>
            <a:r>
              <a:rPr lang="en-ID" dirty="0"/>
              <a:t> </a:t>
            </a:r>
            <a:r>
              <a:rPr lang="en-ID" dirty="0" err="1"/>
              <a:t>lập</a:t>
            </a:r>
            <a:r>
              <a:rPr lang="en-ID" dirty="0"/>
              <a:t> </a:t>
            </a:r>
            <a:r>
              <a:rPr lang="en-ID" dirty="0" err="1"/>
              <a:t>tức</a:t>
            </a:r>
            <a:r>
              <a:rPr lang="en-ID" dirty="0"/>
              <a:t> </a:t>
            </a:r>
            <a:r>
              <a:rPr lang="en-ID" dirty="0" err="1"/>
              <a:t>khi</a:t>
            </a:r>
            <a:r>
              <a:rPr lang="en-ID" dirty="0"/>
              <a:t> </a:t>
            </a:r>
            <a:r>
              <a:rPr lang="en-ID" dirty="0" err="1"/>
              <a:t>chúng</a:t>
            </a:r>
            <a:r>
              <a:rPr lang="en-ID" dirty="0"/>
              <a:t> </a:t>
            </a:r>
            <a:r>
              <a:rPr lang="en-ID" dirty="0" err="1"/>
              <a:t>vừa</a:t>
            </a:r>
            <a:r>
              <a:rPr lang="en-ID" dirty="0"/>
              <a:t> </a:t>
            </a:r>
            <a:r>
              <a:rPr lang="en-ID" dirty="0" err="1"/>
              <a:t>được</a:t>
            </a:r>
            <a:r>
              <a:rPr lang="en-ID" dirty="0"/>
              <a:t> </a:t>
            </a:r>
            <a:r>
              <a:rPr lang="en-ID" dirty="0" err="1"/>
              <a:t>tạo</a:t>
            </a:r>
            <a:r>
              <a:rPr lang="en-ID" dirty="0"/>
              <a:t> </a:t>
            </a:r>
            <a:r>
              <a:rPr lang="en-ID" dirty="0" err="1"/>
              <a:t>ra.</a:t>
            </a:r>
            <a:r>
              <a:rPr lang="en-ID" dirty="0"/>
              <a:t> </a:t>
            </a:r>
            <a:r>
              <a:rPr lang="en-ID" dirty="0" err="1"/>
              <a:t>Khác</a:t>
            </a:r>
            <a:r>
              <a:rPr lang="en-ID" dirty="0"/>
              <a:t> </a:t>
            </a:r>
            <a:r>
              <a:rPr lang="en-ID" dirty="0" err="1"/>
              <a:t>với</a:t>
            </a:r>
            <a:r>
              <a:rPr lang="en-ID" dirty="0"/>
              <a:t> Batch processing, Streaming </a:t>
            </a:r>
            <a:r>
              <a:rPr lang="en-ID" dirty="0" err="1"/>
              <a:t>xử</a:t>
            </a:r>
            <a:r>
              <a:rPr lang="en-ID" dirty="0"/>
              <a:t> </a:t>
            </a:r>
            <a:r>
              <a:rPr lang="en-ID" dirty="0" err="1"/>
              <a:t>lý</a:t>
            </a:r>
            <a:r>
              <a:rPr lang="en-ID" dirty="0"/>
              <a:t> </a:t>
            </a:r>
            <a:r>
              <a:rPr lang="en-ID" dirty="0" err="1"/>
              <a:t>dữ</a:t>
            </a:r>
            <a:r>
              <a:rPr lang="en-ID" dirty="0"/>
              <a:t> </a:t>
            </a:r>
            <a:r>
              <a:rPr lang="en-ID" dirty="0" err="1"/>
              <a:t>liệu</a:t>
            </a:r>
            <a:r>
              <a:rPr lang="en-ID" dirty="0"/>
              <a:t> </a:t>
            </a:r>
            <a:r>
              <a:rPr lang="en-ID" dirty="0" err="1"/>
              <a:t>liên</a:t>
            </a:r>
            <a:r>
              <a:rPr lang="en-ID" dirty="0"/>
              <a:t> </a:t>
            </a:r>
            <a:r>
              <a:rPr lang="en-ID" dirty="0" err="1"/>
              <a:t>tục</a:t>
            </a:r>
            <a:r>
              <a:rPr lang="en-ID" dirty="0"/>
              <a:t> </a:t>
            </a:r>
            <a:r>
              <a:rPr lang="en-ID" dirty="0" err="1"/>
              <a:t>theo</a:t>
            </a:r>
            <a:r>
              <a:rPr lang="en-ID" dirty="0"/>
              <a:t> </a:t>
            </a:r>
            <a:r>
              <a:rPr lang="en-ID" dirty="0" err="1"/>
              <a:t>từng</a:t>
            </a:r>
            <a:r>
              <a:rPr lang="en-ID" dirty="0"/>
              <a:t> </a:t>
            </a:r>
            <a:r>
              <a:rPr lang="en-ID" dirty="0" err="1"/>
              <a:t>bản</a:t>
            </a:r>
            <a:r>
              <a:rPr lang="en-ID" dirty="0"/>
              <a:t> </a:t>
            </a:r>
            <a:r>
              <a:rPr lang="en-ID" dirty="0" err="1"/>
              <a:t>ghi</a:t>
            </a:r>
            <a:r>
              <a:rPr lang="en-ID" dirty="0"/>
              <a:t> </a:t>
            </a:r>
            <a:r>
              <a:rPr lang="en-ID" dirty="0" err="1"/>
              <a:t>hoặc</a:t>
            </a:r>
            <a:r>
              <a:rPr lang="en-ID" dirty="0"/>
              <a:t> </a:t>
            </a:r>
            <a:r>
              <a:rPr lang="en-ID" dirty="0" err="1"/>
              <a:t>theo</a:t>
            </a:r>
            <a:r>
              <a:rPr lang="en-ID" dirty="0"/>
              <a:t> </a:t>
            </a:r>
            <a:r>
              <a:rPr lang="en-ID" dirty="0" err="1"/>
              <a:t>những</a:t>
            </a:r>
            <a:r>
              <a:rPr lang="en-ID" dirty="0"/>
              <a:t> </a:t>
            </a:r>
            <a:r>
              <a:rPr lang="en-ID" dirty="0" err="1"/>
              <a:t>nhóm</a:t>
            </a:r>
            <a:r>
              <a:rPr lang="en-ID" dirty="0"/>
              <a:t> </a:t>
            </a:r>
            <a:r>
              <a:rPr lang="en-ID" dirty="0" err="1"/>
              <a:t>cực</a:t>
            </a:r>
            <a:r>
              <a:rPr lang="en-ID" dirty="0"/>
              <a:t> </a:t>
            </a:r>
            <a:r>
              <a:rPr lang="en-ID" dirty="0" err="1"/>
              <a:t>nhỏ</a:t>
            </a:r>
            <a:r>
              <a:rPr lang="en-ID" dirty="0"/>
              <a:t> (micro-batch). </a:t>
            </a:r>
            <a:r>
              <a:rPr lang="en-ID" dirty="0" err="1"/>
              <a:t>Đặc</a:t>
            </a:r>
            <a:r>
              <a:rPr lang="en-ID" dirty="0"/>
              <a:t> </a:t>
            </a:r>
            <a:r>
              <a:rPr lang="en-ID" dirty="0" err="1"/>
              <a:t>điểm</a:t>
            </a:r>
            <a:r>
              <a:rPr lang="en-ID" dirty="0"/>
              <a:t> </a:t>
            </a:r>
            <a:r>
              <a:rPr lang="en-ID" dirty="0" err="1"/>
              <a:t>cốt</a:t>
            </a:r>
            <a:r>
              <a:rPr lang="en-ID" dirty="0"/>
              <a:t> </a:t>
            </a:r>
            <a:r>
              <a:rPr lang="en-ID" dirty="0" err="1"/>
              <a:t>lõi</a:t>
            </a:r>
            <a:r>
              <a:rPr lang="en-ID" dirty="0"/>
              <a:t> </a:t>
            </a:r>
            <a:r>
              <a:rPr lang="en-ID" dirty="0" err="1"/>
              <a:t>của</a:t>
            </a:r>
            <a:r>
              <a:rPr lang="en-ID" dirty="0"/>
              <a:t> </a:t>
            </a:r>
            <a:r>
              <a:rPr lang="en-ID" dirty="0" err="1"/>
              <a:t>nó</a:t>
            </a:r>
            <a:r>
              <a:rPr lang="en-ID" dirty="0"/>
              <a:t> bao </a:t>
            </a:r>
            <a:r>
              <a:rPr lang="en-ID" dirty="0" err="1"/>
              <a:t>gồm</a:t>
            </a:r>
            <a:r>
              <a:rPr lang="en-ID" dirty="0"/>
              <a:t>:</a:t>
            </a:r>
          </a:p>
          <a:p>
            <a:pPr marL="285750" indent="-285750">
              <a:buFont typeface="Arial" panose="020B0604020202020204" pitchFamily="34" charset="0"/>
              <a:buChar char="•"/>
            </a:pPr>
            <a:r>
              <a:rPr lang="en-ID" dirty="0" err="1"/>
              <a:t>Độ</a:t>
            </a:r>
            <a:r>
              <a:rPr lang="en-ID" dirty="0"/>
              <a:t> </a:t>
            </a:r>
            <a:r>
              <a:rPr lang="en-ID" dirty="0" err="1"/>
              <a:t>trễ</a:t>
            </a:r>
            <a:r>
              <a:rPr lang="en-ID" dirty="0"/>
              <a:t> </a:t>
            </a:r>
            <a:r>
              <a:rPr lang="en-ID" dirty="0" err="1"/>
              <a:t>tối</a:t>
            </a:r>
            <a:r>
              <a:rPr lang="en-ID" dirty="0"/>
              <a:t> </a:t>
            </a:r>
            <a:r>
              <a:rPr lang="en-ID" dirty="0" err="1"/>
              <a:t>thiểu</a:t>
            </a:r>
            <a:r>
              <a:rPr lang="en-ID" dirty="0"/>
              <a:t> (Low Latency)</a:t>
            </a:r>
          </a:p>
          <a:p>
            <a:pPr marL="285750" indent="-285750">
              <a:buFont typeface="Arial" panose="020B0604020202020204" pitchFamily="34" charset="0"/>
              <a:buChar char="•"/>
            </a:pPr>
            <a:r>
              <a:rPr lang="en-ID" dirty="0" err="1"/>
              <a:t>Dòng</a:t>
            </a:r>
            <a:r>
              <a:rPr lang="en-ID" dirty="0"/>
              <a:t> </a:t>
            </a:r>
            <a:r>
              <a:rPr lang="en-ID" dirty="0" err="1"/>
              <a:t>dữ</a:t>
            </a:r>
            <a:r>
              <a:rPr lang="en-ID" dirty="0"/>
              <a:t> </a:t>
            </a:r>
            <a:r>
              <a:rPr lang="en-ID" dirty="0" err="1"/>
              <a:t>liệu</a:t>
            </a:r>
            <a:r>
              <a:rPr lang="en-ID" dirty="0"/>
              <a:t> </a:t>
            </a:r>
            <a:r>
              <a:rPr lang="en-ID" dirty="0" err="1"/>
              <a:t>vô</a:t>
            </a:r>
            <a:r>
              <a:rPr lang="en-ID" dirty="0"/>
              <a:t> </a:t>
            </a:r>
            <a:r>
              <a:rPr lang="en-ID" dirty="0" err="1"/>
              <a:t>hạn</a:t>
            </a:r>
            <a:r>
              <a:rPr lang="en-ID" dirty="0"/>
              <a:t> (Unbounded Data)</a:t>
            </a:r>
          </a:p>
          <a:p>
            <a:pPr marL="285750" indent="-285750">
              <a:buFont typeface="Arial" panose="020B0604020202020204" pitchFamily="34" charset="0"/>
              <a:buChar char="•"/>
            </a:pPr>
            <a:r>
              <a:rPr lang="en-ID" dirty="0" err="1"/>
              <a:t>Tải</a:t>
            </a:r>
            <a:r>
              <a:rPr lang="en-ID" dirty="0"/>
              <a:t> </a:t>
            </a:r>
            <a:r>
              <a:rPr lang="en-ID" dirty="0" err="1"/>
              <a:t>trọng</a:t>
            </a:r>
            <a:r>
              <a:rPr lang="en-ID" dirty="0"/>
              <a:t> </a:t>
            </a:r>
            <a:r>
              <a:rPr lang="en-ID" dirty="0" err="1"/>
              <a:t>phân</a:t>
            </a:r>
            <a:r>
              <a:rPr lang="en-ID" dirty="0"/>
              <a:t> </a:t>
            </a:r>
            <a:r>
              <a:rPr lang="en-ID" dirty="0" err="1"/>
              <a:t>phối</a:t>
            </a:r>
            <a:r>
              <a:rPr lang="en-ID" dirty="0"/>
              <a:t> (Distributed Load)</a:t>
            </a:r>
          </a:p>
        </p:txBody>
      </p:sp>
      <p:pic>
        <p:nvPicPr>
          <p:cNvPr id="5" name="Picture 4">
            <a:extLst>
              <a:ext uri="{FF2B5EF4-FFF2-40B4-BE49-F238E27FC236}">
                <a16:creationId xmlns:a16="http://schemas.microsoft.com/office/drawing/2014/main" id="{A6B584BB-27EE-85DA-40BB-5A2C8E4A8B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648" y="1981200"/>
            <a:ext cx="6251672" cy="3657228"/>
          </a:xfrm>
          <a:prstGeom prst="rect">
            <a:avLst/>
          </a:prstGeom>
        </p:spPr>
      </p:pic>
    </p:spTree>
    <p:extLst>
      <p:ext uri="{BB962C8B-B14F-4D97-AF65-F5344CB8AC3E}">
        <p14:creationId xmlns:p14="http://schemas.microsoft.com/office/powerpoint/2010/main" val="2636026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88CA0-D00D-D686-35DC-75E591FD572E}"/>
              </a:ext>
            </a:extLst>
          </p:cNvPr>
          <p:cNvSpPr>
            <a:spLocks noGrp="1"/>
          </p:cNvSpPr>
          <p:nvPr>
            <p:ph type="title"/>
          </p:nvPr>
        </p:nvSpPr>
        <p:spPr/>
        <p:txBody>
          <a:bodyPr/>
          <a:lstStyle/>
          <a:p>
            <a:r>
              <a:rPr lang="en-US" dirty="0" err="1"/>
              <a:t>cdc</a:t>
            </a:r>
            <a:endParaRPr lang="en-ID" dirty="0"/>
          </a:p>
        </p:txBody>
      </p:sp>
      <p:sp>
        <p:nvSpPr>
          <p:cNvPr id="3" name="Content Placeholder 2">
            <a:extLst>
              <a:ext uri="{FF2B5EF4-FFF2-40B4-BE49-F238E27FC236}">
                <a16:creationId xmlns:a16="http://schemas.microsoft.com/office/drawing/2014/main" id="{091ABF09-00B2-1537-797C-2D185BBD866D}"/>
              </a:ext>
            </a:extLst>
          </p:cNvPr>
          <p:cNvSpPr>
            <a:spLocks noGrp="1"/>
          </p:cNvSpPr>
          <p:nvPr>
            <p:ph idx="1"/>
          </p:nvPr>
        </p:nvSpPr>
        <p:spPr/>
        <p:txBody>
          <a:bodyPr/>
          <a:lstStyle/>
          <a:p>
            <a:r>
              <a:rPr lang="en-ID" dirty="0"/>
              <a:t>CDC (Change Data Capture) </a:t>
            </a:r>
            <a:r>
              <a:rPr lang="en-ID" dirty="0" err="1"/>
              <a:t>là</a:t>
            </a:r>
            <a:r>
              <a:rPr lang="en-ID" dirty="0"/>
              <a:t> </a:t>
            </a:r>
            <a:r>
              <a:rPr lang="en-ID" dirty="0" err="1"/>
              <a:t>phương</a:t>
            </a:r>
            <a:r>
              <a:rPr lang="en-ID" dirty="0"/>
              <a:t> </a:t>
            </a:r>
            <a:r>
              <a:rPr lang="en-ID" dirty="0" err="1"/>
              <a:t>pháp</a:t>
            </a:r>
            <a:r>
              <a:rPr lang="en-ID" dirty="0"/>
              <a:t> </a:t>
            </a:r>
            <a:r>
              <a:rPr lang="en-ID" dirty="0" err="1"/>
              <a:t>tự</a:t>
            </a:r>
            <a:r>
              <a:rPr lang="en-ID" dirty="0"/>
              <a:t> </a:t>
            </a:r>
            <a:r>
              <a:rPr lang="en-ID" dirty="0" err="1"/>
              <a:t>động</a:t>
            </a:r>
            <a:r>
              <a:rPr lang="en-ID" dirty="0"/>
              <a:t> </a:t>
            </a:r>
            <a:r>
              <a:rPr lang="en-ID" dirty="0" err="1"/>
              <a:t>theo</a:t>
            </a:r>
            <a:r>
              <a:rPr lang="en-ID" dirty="0"/>
              <a:t> </a:t>
            </a:r>
            <a:r>
              <a:rPr lang="en-ID" dirty="0" err="1"/>
              <a:t>dõi</a:t>
            </a:r>
            <a:r>
              <a:rPr lang="en-ID" dirty="0"/>
              <a:t> </a:t>
            </a:r>
            <a:r>
              <a:rPr lang="en-ID" dirty="0" err="1"/>
              <a:t>và</a:t>
            </a:r>
            <a:r>
              <a:rPr lang="en-ID" dirty="0"/>
              <a:t> </a:t>
            </a:r>
            <a:r>
              <a:rPr lang="en-ID" dirty="0" err="1"/>
              <a:t>ghi</a:t>
            </a:r>
            <a:r>
              <a:rPr lang="en-ID" dirty="0"/>
              <a:t> </a:t>
            </a:r>
            <a:r>
              <a:rPr lang="en-ID" dirty="0" err="1"/>
              <a:t>lại</a:t>
            </a:r>
            <a:r>
              <a:rPr lang="en-ID" dirty="0"/>
              <a:t> </a:t>
            </a:r>
            <a:r>
              <a:rPr lang="en-ID" dirty="0" err="1"/>
              <a:t>các</a:t>
            </a:r>
            <a:r>
              <a:rPr lang="en-ID" dirty="0"/>
              <a:t> </a:t>
            </a:r>
            <a:r>
              <a:rPr lang="en-ID" dirty="0" err="1"/>
              <a:t>thay</a:t>
            </a:r>
            <a:r>
              <a:rPr lang="en-ID" dirty="0"/>
              <a:t> </a:t>
            </a:r>
            <a:r>
              <a:rPr lang="en-ID" dirty="0" err="1"/>
              <a:t>đổi</a:t>
            </a:r>
            <a:r>
              <a:rPr lang="en-ID" dirty="0"/>
              <a:t> </a:t>
            </a:r>
            <a:r>
              <a:rPr lang="en-ID" dirty="0" err="1"/>
              <a:t>dữ</a:t>
            </a:r>
            <a:r>
              <a:rPr lang="en-ID" dirty="0"/>
              <a:t> </a:t>
            </a:r>
            <a:r>
              <a:rPr lang="en-ID" dirty="0" err="1"/>
              <a:t>liệu</a:t>
            </a:r>
            <a:r>
              <a:rPr lang="en-ID" dirty="0"/>
              <a:t> (</a:t>
            </a:r>
            <a:r>
              <a:rPr lang="en-ID" dirty="0" err="1"/>
              <a:t>thêm</a:t>
            </a:r>
            <a:r>
              <a:rPr lang="en-ID" dirty="0"/>
              <a:t>, </a:t>
            </a:r>
            <a:r>
              <a:rPr lang="en-ID" dirty="0" err="1"/>
              <a:t>sửa</a:t>
            </a:r>
            <a:r>
              <a:rPr lang="en-ID" dirty="0"/>
              <a:t>, </a:t>
            </a:r>
            <a:r>
              <a:rPr lang="en-ID" dirty="0" err="1"/>
              <a:t>xóa</a:t>
            </a:r>
            <a:r>
              <a:rPr lang="en-ID" dirty="0"/>
              <a:t>) </a:t>
            </a:r>
            <a:r>
              <a:rPr lang="en-ID" dirty="0" err="1"/>
              <a:t>ngay</a:t>
            </a:r>
            <a:r>
              <a:rPr lang="en-ID" dirty="0"/>
              <a:t> </a:t>
            </a:r>
            <a:r>
              <a:rPr lang="en-ID" dirty="0" err="1"/>
              <a:t>khi</a:t>
            </a:r>
            <a:r>
              <a:rPr lang="en-ID" dirty="0"/>
              <a:t> </a:t>
            </a:r>
            <a:r>
              <a:rPr lang="en-ID" dirty="0" err="1"/>
              <a:t>chúng</a:t>
            </a:r>
            <a:r>
              <a:rPr lang="en-ID" dirty="0"/>
              <a:t> </a:t>
            </a:r>
            <a:r>
              <a:rPr lang="en-ID" dirty="0" err="1"/>
              <a:t>xảy</a:t>
            </a:r>
            <a:r>
              <a:rPr lang="en-ID" dirty="0"/>
              <a:t> </a:t>
            </a:r>
            <a:r>
              <a:rPr lang="en-ID" dirty="0" err="1"/>
              <a:t>ra</a:t>
            </a:r>
            <a:r>
              <a:rPr lang="en-ID" dirty="0"/>
              <a:t> </a:t>
            </a:r>
            <a:r>
              <a:rPr lang="en-ID" dirty="0" err="1"/>
              <a:t>tại</a:t>
            </a:r>
            <a:r>
              <a:rPr lang="en-ID" dirty="0"/>
              <a:t> </a:t>
            </a:r>
            <a:r>
              <a:rPr lang="en-ID" dirty="0" err="1"/>
              <a:t>cơ</a:t>
            </a:r>
            <a:r>
              <a:rPr lang="en-ID" dirty="0"/>
              <a:t> </a:t>
            </a:r>
            <a:r>
              <a:rPr lang="en-ID" dirty="0" err="1"/>
              <a:t>sở</a:t>
            </a:r>
            <a:r>
              <a:rPr lang="en-ID" dirty="0"/>
              <a:t> </a:t>
            </a:r>
            <a:r>
              <a:rPr lang="en-ID" dirty="0" err="1"/>
              <a:t>dữ</a:t>
            </a:r>
            <a:r>
              <a:rPr lang="en-ID" dirty="0"/>
              <a:t> </a:t>
            </a:r>
            <a:r>
              <a:rPr lang="en-ID" dirty="0" err="1"/>
              <a:t>liệu</a:t>
            </a:r>
            <a:r>
              <a:rPr lang="en-ID" dirty="0"/>
              <a:t> </a:t>
            </a:r>
            <a:r>
              <a:rPr lang="en-ID" dirty="0" err="1"/>
              <a:t>nguồn</a:t>
            </a:r>
            <a:r>
              <a:rPr lang="en-ID" dirty="0"/>
              <a:t> </a:t>
            </a:r>
            <a:r>
              <a:rPr lang="en-ID" dirty="0" err="1"/>
              <a:t>để</a:t>
            </a:r>
            <a:r>
              <a:rPr lang="en-ID" dirty="0"/>
              <a:t> </a:t>
            </a:r>
            <a:r>
              <a:rPr lang="en-ID" dirty="0" err="1"/>
              <a:t>đồng</a:t>
            </a:r>
            <a:r>
              <a:rPr lang="en-ID" dirty="0"/>
              <a:t> </a:t>
            </a:r>
            <a:r>
              <a:rPr lang="en-ID" dirty="0" err="1"/>
              <a:t>bộ</a:t>
            </a:r>
            <a:r>
              <a:rPr lang="en-ID" dirty="0"/>
              <a:t> sang </a:t>
            </a:r>
            <a:r>
              <a:rPr lang="en-ID" dirty="0" err="1"/>
              <a:t>hệ</a:t>
            </a:r>
            <a:r>
              <a:rPr lang="en-ID" dirty="0"/>
              <a:t> </a:t>
            </a:r>
            <a:r>
              <a:rPr lang="en-ID" dirty="0" err="1"/>
              <a:t>thống</a:t>
            </a:r>
            <a:r>
              <a:rPr lang="en-ID" dirty="0"/>
              <a:t> </a:t>
            </a:r>
            <a:r>
              <a:rPr lang="en-ID" dirty="0" err="1"/>
              <a:t>đích</a:t>
            </a:r>
            <a:r>
              <a:rPr lang="en-ID" dirty="0"/>
              <a:t>. Thay </a:t>
            </a:r>
            <a:r>
              <a:rPr lang="en-ID" dirty="0" err="1"/>
              <a:t>vì</a:t>
            </a:r>
            <a:r>
              <a:rPr lang="en-ID" dirty="0"/>
              <a:t> </a:t>
            </a:r>
            <a:r>
              <a:rPr lang="en-ID" dirty="0" err="1"/>
              <a:t>sao</a:t>
            </a:r>
            <a:r>
              <a:rPr lang="en-ID" dirty="0"/>
              <a:t> </a:t>
            </a:r>
            <a:r>
              <a:rPr lang="en-ID" dirty="0" err="1"/>
              <a:t>chép</a:t>
            </a:r>
            <a:r>
              <a:rPr lang="en-ID" dirty="0"/>
              <a:t> </a:t>
            </a:r>
            <a:r>
              <a:rPr lang="en-ID" dirty="0" err="1"/>
              <a:t>lại</a:t>
            </a:r>
            <a:r>
              <a:rPr lang="en-ID" dirty="0"/>
              <a:t> </a:t>
            </a:r>
            <a:r>
              <a:rPr lang="en-ID" dirty="0" err="1"/>
              <a:t>toàn</a:t>
            </a:r>
            <a:r>
              <a:rPr lang="en-ID" dirty="0"/>
              <a:t> </a:t>
            </a:r>
            <a:r>
              <a:rPr lang="en-ID" dirty="0" err="1"/>
              <a:t>bộ</a:t>
            </a:r>
            <a:r>
              <a:rPr lang="en-ID" dirty="0"/>
              <a:t> </a:t>
            </a:r>
            <a:r>
              <a:rPr lang="en-ID" dirty="0" err="1"/>
              <a:t>dữ</a:t>
            </a:r>
            <a:r>
              <a:rPr lang="en-ID" dirty="0"/>
              <a:t> </a:t>
            </a:r>
            <a:r>
              <a:rPr lang="en-ID" dirty="0" err="1"/>
              <a:t>liệu</a:t>
            </a:r>
            <a:r>
              <a:rPr lang="en-ID" dirty="0"/>
              <a:t>, CDC </a:t>
            </a:r>
            <a:r>
              <a:rPr lang="en-ID" dirty="0" err="1"/>
              <a:t>chỉ</a:t>
            </a:r>
            <a:r>
              <a:rPr lang="en-ID" dirty="0"/>
              <a:t> </a:t>
            </a:r>
            <a:r>
              <a:rPr lang="en-ID" dirty="0" err="1"/>
              <a:t>lấy</a:t>
            </a:r>
            <a:r>
              <a:rPr lang="en-ID" dirty="0"/>
              <a:t> </a:t>
            </a:r>
            <a:r>
              <a:rPr lang="en-ID" dirty="0" err="1"/>
              <a:t>những</a:t>
            </a:r>
            <a:r>
              <a:rPr lang="en-ID" dirty="0"/>
              <a:t> </a:t>
            </a:r>
            <a:r>
              <a:rPr lang="en-ID" dirty="0" err="1"/>
              <a:t>phần</a:t>
            </a:r>
            <a:r>
              <a:rPr lang="en-ID" dirty="0"/>
              <a:t> </a:t>
            </a:r>
            <a:r>
              <a:rPr lang="en-ID" dirty="0" err="1"/>
              <a:t>dữ</a:t>
            </a:r>
            <a:r>
              <a:rPr lang="en-ID" dirty="0"/>
              <a:t> </a:t>
            </a:r>
            <a:r>
              <a:rPr lang="en-ID" dirty="0" err="1"/>
              <a:t>liệu</a:t>
            </a:r>
            <a:r>
              <a:rPr lang="en-ID" dirty="0"/>
              <a:t> </a:t>
            </a:r>
            <a:r>
              <a:rPr lang="en-ID" dirty="0" err="1"/>
              <a:t>bị</a:t>
            </a:r>
            <a:r>
              <a:rPr lang="en-ID" dirty="0"/>
              <a:t> </a:t>
            </a:r>
            <a:r>
              <a:rPr lang="en-ID" dirty="0" err="1"/>
              <a:t>biến</a:t>
            </a:r>
            <a:r>
              <a:rPr lang="en-ID" dirty="0"/>
              <a:t> </a:t>
            </a:r>
            <a:r>
              <a:rPr lang="en-ID" dirty="0" err="1"/>
              <a:t>động</a:t>
            </a:r>
            <a:r>
              <a:rPr lang="en-ID" dirty="0"/>
              <a:t>, </a:t>
            </a:r>
            <a:r>
              <a:rPr lang="en-ID" dirty="0" err="1"/>
              <a:t>giúp</a:t>
            </a:r>
            <a:r>
              <a:rPr lang="en-ID" dirty="0"/>
              <a:t> </a:t>
            </a:r>
            <a:r>
              <a:rPr lang="en-ID" dirty="0" err="1"/>
              <a:t>tối</a:t>
            </a:r>
            <a:r>
              <a:rPr lang="en-ID" dirty="0"/>
              <a:t> </a:t>
            </a:r>
            <a:r>
              <a:rPr lang="en-ID" dirty="0" err="1"/>
              <a:t>ưu</a:t>
            </a:r>
            <a:r>
              <a:rPr lang="en-ID" dirty="0"/>
              <a:t> </a:t>
            </a:r>
            <a:r>
              <a:rPr lang="en-ID" dirty="0" err="1"/>
              <a:t>hóa</a:t>
            </a:r>
            <a:r>
              <a:rPr lang="en-ID" dirty="0"/>
              <a:t> </a:t>
            </a:r>
            <a:r>
              <a:rPr lang="en-ID" dirty="0" err="1"/>
              <a:t>hiệu</a:t>
            </a:r>
            <a:r>
              <a:rPr lang="en-ID" dirty="0"/>
              <a:t> </a:t>
            </a:r>
            <a:r>
              <a:rPr lang="en-ID" dirty="0" err="1"/>
              <a:t>năng</a:t>
            </a:r>
            <a:r>
              <a:rPr lang="en-ID" dirty="0"/>
              <a:t> </a:t>
            </a:r>
            <a:r>
              <a:rPr lang="en-ID" dirty="0" err="1"/>
              <a:t>hệ</a:t>
            </a:r>
            <a:r>
              <a:rPr lang="en-ID" dirty="0"/>
              <a:t> </a:t>
            </a:r>
            <a:r>
              <a:rPr lang="en-ID" dirty="0" err="1"/>
              <a:t>thống</a:t>
            </a:r>
            <a:r>
              <a:rPr lang="en-ID" dirty="0"/>
              <a:t> </a:t>
            </a:r>
            <a:r>
              <a:rPr lang="en-ID" dirty="0" err="1"/>
              <a:t>một</a:t>
            </a:r>
            <a:r>
              <a:rPr lang="en-ID" dirty="0"/>
              <a:t> </a:t>
            </a:r>
            <a:r>
              <a:rPr lang="en-ID" dirty="0" err="1"/>
              <a:t>cách</a:t>
            </a:r>
            <a:r>
              <a:rPr lang="en-ID" dirty="0"/>
              <a:t> </a:t>
            </a:r>
            <a:r>
              <a:rPr lang="en-ID" dirty="0" err="1"/>
              <a:t>tối</a:t>
            </a:r>
            <a:r>
              <a:rPr lang="en-ID" dirty="0"/>
              <a:t> </a:t>
            </a:r>
            <a:r>
              <a:rPr lang="en-ID" dirty="0" err="1"/>
              <a:t>đa</a:t>
            </a:r>
            <a:r>
              <a:rPr lang="en-ID" dirty="0"/>
              <a:t>. Các </a:t>
            </a:r>
            <a:r>
              <a:rPr lang="en-ID" dirty="0" err="1"/>
              <a:t>cách</a:t>
            </a:r>
            <a:r>
              <a:rPr lang="en-ID" dirty="0"/>
              <a:t> </a:t>
            </a:r>
            <a:r>
              <a:rPr lang="en-ID" dirty="0" err="1"/>
              <a:t>thức</a:t>
            </a:r>
            <a:r>
              <a:rPr lang="en-ID" dirty="0"/>
              <a:t> </a:t>
            </a:r>
            <a:r>
              <a:rPr lang="en-ID" dirty="0" err="1"/>
              <a:t>hoạt</a:t>
            </a:r>
            <a:r>
              <a:rPr lang="en-ID" dirty="0"/>
              <a:t> </a:t>
            </a:r>
            <a:r>
              <a:rPr lang="en-ID" dirty="0" err="1"/>
              <a:t>động</a:t>
            </a:r>
            <a:r>
              <a:rPr lang="en-ID" dirty="0"/>
              <a:t> </a:t>
            </a:r>
            <a:r>
              <a:rPr lang="en-ID" dirty="0" err="1"/>
              <a:t>chính</a:t>
            </a:r>
            <a:r>
              <a:rPr lang="en-ID" dirty="0"/>
              <a:t> </a:t>
            </a:r>
            <a:r>
              <a:rPr lang="en-ID" dirty="0" err="1"/>
              <a:t>của</a:t>
            </a:r>
            <a:r>
              <a:rPr lang="en-ID" dirty="0"/>
              <a:t> CDC bao </a:t>
            </a:r>
            <a:r>
              <a:rPr lang="en-ID" dirty="0" err="1"/>
              <a:t>gồm</a:t>
            </a:r>
            <a:r>
              <a:rPr lang="en-ID" dirty="0"/>
              <a:t>:</a:t>
            </a:r>
          </a:p>
          <a:p>
            <a:pPr marL="285750" indent="-285750">
              <a:buFont typeface="Arial" panose="020B0604020202020204" pitchFamily="34" charset="0"/>
              <a:buChar char="•"/>
            </a:pPr>
            <a:r>
              <a:rPr lang="en-ID" dirty="0"/>
              <a:t>Log-based CDC</a:t>
            </a:r>
          </a:p>
          <a:p>
            <a:pPr marL="285750" indent="-285750">
              <a:buFont typeface="Arial" panose="020B0604020202020204" pitchFamily="34" charset="0"/>
              <a:buChar char="•"/>
            </a:pPr>
            <a:r>
              <a:rPr lang="en-ID" dirty="0"/>
              <a:t>Trigger-based CDC</a:t>
            </a:r>
          </a:p>
          <a:p>
            <a:pPr marL="285750" indent="-285750">
              <a:buFont typeface="Arial" panose="020B0604020202020204" pitchFamily="34" charset="0"/>
              <a:buChar char="•"/>
            </a:pPr>
            <a:r>
              <a:rPr lang="en-ID" dirty="0"/>
              <a:t>Query-based CDC</a:t>
            </a:r>
          </a:p>
        </p:txBody>
      </p:sp>
      <p:pic>
        <p:nvPicPr>
          <p:cNvPr id="5" name="Picture 4">
            <a:extLst>
              <a:ext uri="{FF2B5EF4-FFF2-40B4-BE49-F238E27FC236}">
                <a16:creationId xmlns:a16="http://schemas.microsoft.com/office/drawing/2014/main" id="{33BD6F45-079F-2350-AF91-0FDD9EDA91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2829001"/>
            <a:ext cx="6614916" cy="3724198"/>
          </a:xfrm>
          <a:prstGeom prst="rect">
            <a:avLst/>
          </a:prstGeom>
        </p:spPr>
      </p:pic>
    </p:spTree>
    <p:extLst>
      <p:ext uri="{BB962C8B-B14F-4D97-AF65-F5344CB8AC3E}">
        <p14:creationId xmlns:p14="http://schemas.microsoft.com/office/powerpoint/2010/main" val="1305506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89813-91B5-7247-6E02-D20530E46C8D}"/>
              </a:ext>
            </a:extLst>
          </p:cNvPr>
          <p:cNvSpPr>
            <a:spLocks noGrp="1"/>
          </p:cNvSpPr>
          <p:nvPr>
            <p:ph type="title"/>
          </p:nvPr>
        </p:nvSpPr>
        <p:spPr/>
        <p:txBody>
          <a:bodyPr/>
          <a:lstStyle/>
          <a:p>
            <a:r>
              <a:rPr lang="en-US" dirty="0"/>
              <a:t>hybrid</a:t>
            </a:r>
            <a:endParaRPr lang="en-ID" dirty="0"/>
          </a:p>
        </p:txBody>
      </p:sp>
      <p:sp>
        <p:nvSpPr>
          <p:cNvPr id="6" name="Text Placeholder 5">
            <a:extLst>
              <a:ext uri="{FF2B5EF4-FFF2-40B4-BE49-F238E27FC236}">
                <a16:creationId xmlns:a16="http://schemas.microsoft.com/office/drawing/2014/main" id="{BD43D877-2C15-9FAC-C9BE-5ADF9B8B84EC}"/>
              </a:ext>
            </a:extLst>
          </p:cNvPr>
          <p:cNvSpPr>
            <a:spLocks noGrp="1"/>
          </p:cNvSpPr>
          <p:nvPr>
            <p:ph type="body" idx="1"/>
          </p:nvPr>
        </p:nvSpPr>
        <p:spPr>
          <a:xfrm>
            <a:off x="609918" y="1878566"/>
            <a:ext cx="5074920" cy="559834"/>
          </a:xfrm>
        </p:spPr>
        <p:txBody>
          <a:bodyPr/>
          <a:lstStyle/>
          <a:p>
            <a:r>
              <a:rPr lang="en-US" dirty="0"/>
              <a:t>Lambda architecture</a:t>
            </a:r>
            <a:endParaRPr lang="en-ID" dirty="0"/>
          </a:p>
        </p:txBody>
      </p:sp>
      <p:sp>
        <p:nvSpPr>
          <p:cNvPr id="7" name="Text Placeholder 6">
            <a:extLst>
              <a:ext uri="{FF2B5EF4-FFF2-40B4-BE49-F238E27FC236}">
                <a16:creationId xmlns:a16="http://schemas.microsoft.com/office/drawing/2014/main" id="{2977AE63-7452-8E24-EBD5-8B6CE4D7A1EA}"/>
              </a:ext>
            </a:extLst>
          </p:cNvPr>
          <p:cNvSpPr>
            <a:spLocks noGrp="1"/>
          </p:cNvSpPr>
          <p:nvPr>
            <p:ph type="body" sz="quarter" idx="3"/>
          </p:nvPr>
        </p:nvSpPr>
        <p:spPr/>
        <p:txBody>
          <a:bodyPr/>
          <a:lstStyle/>
          <a:p>
            <a:r>
              <a:rPr lang="en-US" dirty="0"/>
              <a:t>Kappa architecture</a:t>
            </a:r>
            <a:endParaRPr lang="en-ID" dirty="0"/>
          </a:p>
        </p:txBody>
      </p:sp>
      <p:pic>
        <p:nvPicPr>
          <p:cNvPr id="11" name="Content Placeholder 10">
            <a:extLst>
              <a:ext uri="{FF2B5EF4-FFF2-40B4-BE49-F238E27FC236}">
                <a16:creationId xmlns:a16="http://schemas.microsoft.com/office/drawing/2014/main" id="{FC321FEC-54C0-668A-BEDB-7FE25945F211}"/>
              </a:ext>
            </a:extLst>
          </p:cNvPr>
          <p:cNvPicPr>
            <a:picLocks noGrp="1" noChangeAspect="1"/>
          </p:cNvPicPr>
          <p:nvPr>
            <p:ph sz="quarter" idx="15"/>
          </p:nvPr>
        </p:nvPicPr>
        <p:blipFill>
          <a:blip r:embed="rId2">
            <a:extLst>
              <a:ext uri="{28A0092B-C50C-407E-A947-70E740481C1C}">
                <a14:useLocalDpi xmlns:a14="http://schemas.microsoft.com/office/drawing/2010/main" val="0"/>
              </a:ext>
            </a:extLst>
          </a:blip>
          <a:stretch>
            <a:fillRect/>
          </a:stretch>
        </p:blipFill>
        <p:spPr>
          <a:xfrm>
            <a:off x="775494" y="2924969"/>
            <a:ext cx="4743450" cy="2838450"/>
          </a:xfrm>
          <a:prstGeom prst="rect">
            <a:avLst/>
          </a:prstGeom>
        </p:spPr>
      </p:pic>
      <p:pic>
        <p:nvPicPr>
          <p:cNvPr id="21" name="Content Placeholder 20">
            <a:extLst>
              <a:ext uri="{FF2B5EF4-FFF2-40B4-BE49-F238E27FC236}">
                <a16:creationId xmlns:a16="http://schemas.microsoft.com/office/drawing/2014/main" id="{DE53281E-461C-B4CC-0576-8DCE6C196B77}"/>
              </a:ext>
            </a:extLst>
          </p:cNvPr>
          <p:cNvPicPr>
            <a:picLocks noGrp="1" noChangeAspect="1"/>
          </p:cNvPicPr>
          <p:nvPr>
            <p:ph sz="quarter" idx="16"/>
          </p:nvPr>
        </p:nvPicPr>
        <p:blipFill>
          <a:blip r:embed="rId3">
            <a:extLst>
              <a:ext uri="{28A0092B-C50C-407E-A947-70E740481C1C}">
                <a14:useLocalDpi xmlns:a14="http://schemas.microsoft.com/office/drawing/2010/main" val="0"/>
              </a:ext>
            </a:extLst>
          </a:blip>
          <a:stretch>
            <a:fillRect/>
          </a:stretch>
        </p:blipFill>
        <p:spPr>
          <a:xfrm>
            <a:off x="6497638" y="3248855"/>
            <a:ext cx="5075237" cy="2190678"/>
          </a:xfrm>
          <a:prstGeom prst="rect">
            <a:avLst/>
          </a:prstGeom>
        </p:spPr>
      </p:pic>
    </p:spTree>
    <p:extLst>
      <p:ext uri="{BB962C8B-B14F-4D97-AF65-F5344CB8AC3E}">
        <p14:creationId xmlns:p14="http://schemas.microsoft.com/office/powerpoint/2010/main" val="3355300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BA28B-E15E-C399-FAD9-1AAD45B79843}"/>
              </a:ext>
            </a:extLst>
          </p:cNvPr>
          <p:cNvSpPr>
            <a:spLocks noGrp="1"/>
          </p:cNvSpPr>
          <p:nvPr>
            <p:ph type="title"/>
          </p:nvPr>
        </p:nvSpPr>
        <p:spPr/>
        <p:txBody>
          <a:bodyPr/>
          <a:lstStyle/>
          <a:p>
            <a:r>
              <a:rPr lang="en-US" dirty="0"/>
              <a:t>Etl vs ELT pipeline</a:t>
            </a:r>
            <a:endParaRPr lang="en-ID" dirty="0"/>
          </a:p>
        </p:txBody>
      </p:sp>
      <p:sp>
        <p:nvSpPr>
          <p:cNvPr id="3" name="Text Placeholder 2">
            <a:extLst>
              <a:ext uri="{FF2B5EF4-FFF2-40B4-BE49-F238E27FC236}">
                <a16:creationId xmlns:a16="http://schemas.microsoft.com/office/drawing/2014/main" id="{34C14C23-FCEB-2694-C4D9-4E42FCE4AD44}"/>
              </a:ext>
            </a:extLst>
          </p:cNvPr>
          <p:cNvSpPr>
            <a:spLocks noGrp="1"/>
          </p:cNvSpPr>
          <p:nvPr>
            <p:ph type="body" idx="1"/>
          </p:nvPr>
        </p:nvSpPr>
        <p:spPr>
          <a:xfrm>
            <a:off x="609600" y="1878566"/>
            <a:ext cx="5074920" cy="559834"/>
          </a:xfrm>
        </p:spPr>
        <p:txBody>
          <a:bodyPr/>
          <a:lstStyle/>
          <a:p>
            <a:r>
              <a:rPr lang="en-US" dirty="0"/>
              <a:t>Etl pipeline</a:t>
            </a:r>
            <a:endParaRPr lang="en-ID" dirty="0"/>
          </a:p>
        </p:txBody>
      </p:sp>
      <p:sp>
        <p:nvSpPr>
          <p:cNvPr id="4" name="Text Placeholder 3">
            <a:extLst>
              <a:ext uri="{FF2B5EF4-FFF2-40B4-BE49-F238E27FC236}">
                <a16:creationId xmlns:a16="http://schemas.microsoft.com/office/drawing/2014/main" id="{65D3AE7B-70BE-2879-4044-6351C692E4DC}"/>
              </a:ext>
            </a:extLst>
          </p:cNvPr>
          <p:cNvSpPr>
            <a:spLocks noGrp="1"/>
          </p:cNvSpPr>
          <p:nvPr>
            <p:ph type="body" sz="quarter" idx="3"/>
          </p:nvPr>
        </p:nvSpPr>
        <p:spPr/>
        <p:txBody>
          <a:bodyPr/>
          <a:lstStyle/>
          <a:p>
            <a:r>
              <a:rPr lang="en-US" dirty="0" err="1"/>
              <a:t>Elt</a:t>
            </a:r>
            <a:r>
              <a:rPr lang="en-US" dirty="0"/>
              <a:t> pipeline</a:t>
            </a:r>
            <a:endParaRPr lang="en-ID" dirty="0"/>
          </a:p>
        </p:txBody>
      </p:sp>
      <p:sp>
        <p:nvSpPr>
          <p:cNvPr id="5" name="Content Placeholder 4">
            <a:extLst>
              <a:ext uri="{FF2B5EF4-FFF2-40B4-BE49-F238E27FC236}">
                <a16:creationId xmlns:a16="http://schemas.microsoft.com/office/drawing/2014/main" id="{3A323913-7A18-E5B3-78F9-C854D643A74A}"/>
              </a:ext>
            </a:extLst>
          </p:cNvPr>
          <p:cNvSpPr>
            <a:spLocks noGrp="1"/>
          </p:cNvSpPr>
          <p:nvPr>
            <p:ph sz="quarter" idx="15"/>
          </p:nvPr>
        </p:nvSpPr>
        <p:spPr/>
        <p:txBody>
          <a:bodyPr/>
          <a:lstStyle/>
          <a:p>
            <a:r>
              <a:rPr lang="en-ID" dirty="0"/>
              <a:t>ETL (Extract, Transform, Load) </a:t>
            </a:r>
            <a:r>
              <a:rPr lang="en-ID" dirty="0" err="1"/>
              <a:t>là</a:t>
            </a:r>
            <a:r>
              <a:rPr lang="en-ID" dirty="0"/>
              <a:t> </a:t>
            </a:r>
            <a:r>
              <a:rPr lang="en-ID" dirty="0" err="1"/>
              <a:t>quy</a:t>
            </a:r>
            <a:r>
              <a:rPr lang="en-ID" dirty="0"/>
              <a:t> </a:t>
            </a:r>
            <a:r>
              <a:rPr lang="en-ID" dirty="0" err="1"/>
              <a:t>trình</a:t>
            </a:r>
            <a:r>
              <a:rPr lang="en-ID" dirty="0"/>
              <a:t> </a:t>
            </a:r>
            <a:r>
              <a:rPr lang="en-ID" dirty="0" err="1"/>
              <a:t>tích</a:t>
            </a:r>
            <a:r>
              <a:rPr lang="en-ID" dirty="0"/>
              <a:t> </a:t>
            </a:r>
            <a:r>
              <a:rPr lang="en-ID" dirty="0" err="1"/>
              <a:t>hợp</a:t>
            </a:r>
            <a:r>
              <a:rPr lang="en-ID" dirty="0"/>
              <a:t> </a:t>
            </a:r>
            <a:r>
              <a:rPr lang="en-ID" dirty="0" err="1"/>
              <a:t>dữ</a:t>
            </a:r>
            <a:r>
              <a:rPr lang="en-ID" dirty="0"/>
              <a:t> </a:t>
            </a:r>
            <a:r>
              <a:rPr lang="en-ID" dirty="0" err="1"/>
              <a:t>liệu</a:t>
            </a:r>
            <a:r>
              <a:rPr lang="en-ID" dirty="0"/>
              <a:t> </a:t>
            </a:r>
            <a:r>
              <a:rPr lang="en-ID" dirty="0" err="1"/>
              <a:t>truyền</a:t>
            </a:r>
            <a:r>
              <a:rPr lang="en-ID" dirty="0"/>
              <a:t> </a:t>
            </a:r>
            <a:r>
              <a:rPr lang="en-ID" dirty="0" err="1"/>
              <a:t>thống</a:t>
            </a:r>
            <a:r>
              <a:rPr lang="en-ID" dirty="0"/>
              <a:t>, </a:t>
            </a:r>
            <a:r>
              <a:rPr lang="en-ID" dirty="0" err="1"/>
              <a:t>tập</a:t>
            </a:r>
            <a:r>
              <a:rPr lang="en-ID" dirty="0"/>
              <a:t> </a:t>
            </a:r>
            <a:r>
              <a:rPr lang="en-ID" dirty="0" err="1"/>
              <a:t>trung</a:t>
            </a:r>
            <a:r>
              <a:rPr lang="en-ID" dirty="0"/>
              <a:t> </a:t>
            </a:r>
            <a:r>
              <a:rPr lang="en-ID" dirty="0" err="1"/>
              <a:t>vào</a:t>
            </a:r>
            <a:r>
              <a:rPr lang="en-ID" dirty="0"/>
              <a:t> </a:t>
            </a:r>
            <a:r>
              <a:rPr lang="en-ID" dirty="0" err="1"/>
              <a:t>việc</a:t>
            </a:r>
            <a:r>
              <a:rPr lang="en-ID" dirty="0"/>
              <a:t> </a:t>
            </a:r>
            <a:r>
              <a:rPr lang="en-ID" dirty="0" err="1"/>
              <a:t>làm</a:t>
            </a:r>
            <a:r>
              <a:rPr lang="en-ID" dirty="0"/>
              <a:t> </a:t>
            </a:r>
            <a:r>
              <a:rPr lang="en-ID" dirty="0" err="1"/>
              <a:t>sạch</a:t>
            </a:r>
            <a:r>
              <a:rPr lang="en-ID" dirty="0"/>
              <a:t> </a:t>
            </a:r>
            <a:r>
              <a:rPr lang="en-ID" dirty="0" err="1"/>
              <a:t>và</a:t>
            </a:r>
            <a:r>
              <a:rPr lang="en-ID" dirty="0"/>
              <a:t> </a:t>
            </a:r>
            <a:r>
              <a:rPr lang="en-ID" dirty="0" err="1"/>
              <a:t>chuẩn</a:t>
            </a:r>
            <a:r>
              <a:rPr lang="en-ID" dirty="0"/>
              <a:t> </a:t>
            </a:r>
            <a:r>
              <a:rPr lang="en-ID" dirty="0" err="1"/>
              <a:t>hóa</a:t>
            </a:r>
            <a:r>
              <a:rPr lang="en-ID" dirty="0"/>
              <a:t> </a:t>
            </a:r>
            <a:r>
              <a:rPr lang="en-ID" dirty="0" err="1"/>
              <a:t>dữ</a:t>
            </a:r>
            <a:r>
              <a:rPr lang="en-ID" dirty="0"/>
              <a:t> </a:t>
            </a:r>
            <a:r>
              <a:rPr lang="en-ID" dirty="0" err="1"/>
              <a:t>liệu</a:t>
            </a:r>
            <a:r>
              <a:rPr lang="en-ID" dirty="0"/>
              <a:t> </a:t>
            </a:r>
            <a:r>
              <a:rPr lang="en-ID" dirty="0" err="1"/>
              <a:t>trước</a:t>
            </a:r>
            <a:r>
              <a:rPr lang="en-ID" dirty="0"/>
              <a:t> </a:t>
            </a:r>
            <a:r>
              <a:rPr lang="en-ID" dirty="0" err="1"/>
              <a:t>khi</a:t>
            </a:r>
            <a:r>
              <a:rPr lang="en-ID" dirty="0"/>
              <a:t> </a:t>
            </a:r>
            <a:r>
              <a:rPr lang="en-ID" dirty="0" err="1"/>
              <a:t>lưu</a:t>
            </a:r>
            <a:r>
              <a:rPr lang="en-ID" dirty="0"/>
              <a:t> </a:t>
            </a:r>
            <a:r>
              <a:rPr lang="en-ID" dirty="0" err="1"/>
              <a:t>trữ</a:t>
            </a:r>
            <a:r>
              <a:rPr lang="en-ID" dirty="0"/>
              <a:t> </a:t>
            </a:r>
            <a:r>
              <a:rPr lang="en-ID" dirty="0" err="1"/>
              <a:t>vào</a:t>
            </a:r>
            <a:r>
              <a:rPr lang="en-ID" dirty="0"/>
              <a:t> </a:t>
            </a:r>
            <a:r>
              <a:rPr lang="en-ID" dirty="0" err="1"/>
              <a:t>kho</a:t>
            </a:r>
            <a:r>
              <a:rPr lang="en-ID" dirty="0"/>
              <a:t> </a:t>
            </a:r>
            <a:r>
              <a:rPr lang="en-ID" dirty="0" err="1"/>
              <a:t>dữ</a:t>
            </a:r>
            <a:r>
              <a:rPr lang="en-ID" dirty="0"/>
              <a:t> </a:t>
            </a:r>
            <a:r>
              <a:rPr lang="en-ID" dirty="0" err="1"/>
              <a:t>liệu</a:t>
            </a:r>
            <a:r>
              <a:rPr lang="en-ID" dirty="0"/>
              <a:t> (Data Warehouse).</a:t>
            </a:r>
          </a:p>
        </p:txBody>
      </p:sp>
      <p:sp>
        <p:nvSpPr>
          <p:cNvPr id="6" name="Content Placeholder 5">
            <a:extLst>
              <a:ext uri="{FF2B5EF4-FFF2-40B4-BE49-F238E27FC236}">
                <a16:creationId xmlns:a16="http://schemas.microsoft.com/office/drawing/2014/main" id="{D12B0127-9AF6-F071-FAA6-BDF12C471779}"/>
              </a:ext>
            </a:extLst>
          </p:cNvPr>
          <p:cNvSpPr>
            <a:spLocks noGrp="1"/>
          </p:cNvSpPr>
          <p:nvPr>
            <p:ph sz="quarter" idx="16"/>
          </p:nvPr>
        </p:nvSpPr>
        <p:spPr/>
        <p:txBody>
          <a:bodyPr/>
          <a:lstStyle/>
          <a:p>
            <a:r>
              <a:rPr lang="en-ID" dirty="0"/>
              <a:t>ELT (Extract, Load, Transform) </a:t>
            </a:r>
            <a:r>
              <a:rPr lang="en-ID" dirty="0" err="1"/>
              <a:t>là</a:t>
            </a:r>
            <a:r>
              <a:rPr lang="en-ID" dirty="0"/>
              <a:t> </a:t>
            </a:r>
            <a:r>
              <a:rPr lang="en-ID" dirty="0" err="1"/>
              <a:t>quy</a:t>
            </a:r>
            <a:r>
              <a:rPr lang="en-ID" dirty="0"/>
              <a:t> </a:t>
            </a:r>
            <a:r>
              <a:rPr lang="en-ID" dirty="0" err="1"/>
              <a:t>trình</a:t>
            </a:r>
            <a:r>
              <a:rPr lang="en-ID" dirty="0"/>
              <a:t> </a:t>
            </a:r>
            <a:r>
              <a:rPr lang="en-ID" dirty="0" err="1"/>
              <a:t>tích</a:t>
            </a:r>
            <a:r>
              <a:rPr lang="en-ID" dirty="0"/>
              <a:t> </a:t>
            </a:r>
            <a:r>
              <a:rPr lang="en-ID" dirty="0" err="1"/>
              <a:t>hợp</a:t>
            </a:r>
            <a:r>
              <a:rPr lang="en-ID" dirty="0"/>
              <a:t> </a:t>
            </a:r>
            <a:r>
              <a:rPr lang="en-ID" dirty="0" err="1"/>
              <a:t>dữ</a:t>
            </a:r>
            <a:r>
              <a:rPr lang="en-ID" dirty="0"/>
              <a:t> </a:t>
            </a:r>
            <a:r>
              <a:rPr lang="en-ID" dirty="0" err="1"/>
              <a:t>liệu</a:t>
            </a:r>
            <a:r>
              <a:rPr lang="en-ID" dirty="0"/>
              <a:t> </a:t>
            </a:r>
            <a:r>
              <a:rPr lang="en-ID" dirty="0" err="1"/>
              <a:t>hiện</a:t>
            </a:r>
            <a:r>
              <a:rPr lang="en-ID" dirty="0"/>
              <a:t> </a:t>
            </a:r>
            <a:r>
              <a:rPr lang="en-ID" dirty="0" err="1"/>
              <a:t>đại</a:t>
            </a:r>
            <a:r>
              <a:rPr lang="en-ID" dirty="0"/>
              <a:t>, </a:t>
            </a:r>
            <a:r>
              <a:rPr lang="en-ID" dirty="0" err="1"/>
              <a:t>tận</a:t>
            </a:r>
            <a:r>
              <a:rPr lang="en-ID" dirty="0"/>
              <a:t> </a:t>
            </a:r>
            <a:r>
              <a:rPr lang="en-ID" dirty="0" err="1"/>
              <a:t>dụng</a:t>
            </a:r>
            <a:r>
              <a:rPr lang="en-ID" dirty="0"/>
              <a:t> </a:t>
            </a:r>
            <a:r>
              <a:rPr lang="en-ID" dirty="0" err="1"/>
              <a:t>sức</a:t>
            </a:r>
            <a:r>
              <a:rPr lang="en-ID" dirty="0"/>
              <a:t> </a:t>
            </a:r>
            <a:r>
              <a:rPr lang="en-ID" dirty="0" err="1"/>
              <a:t>mạnh</a:t>
            </a:r>
            <a:r>
              <a:rPr lang="en-ID" dirty="0"/>
              <a:t> </a:t>
            </a:r>
            <a:r>
              <a:rPr lang="en-ID" dirty="0" err="1"/>
              <a:t>của</a:t>
            </a:r>
            <a:r>
              <a:rPr lang="en-ID" dirty="0"/>
              <a:t> </a:t>
            </a:r>
            <a:r>
              <a:rPr lang="en-ID" dirty="0" err="1"/>
              <a:t>điện</a:t>
            </a:r>
            <a:r>
              <a:rPr lang="en-ID" dirty="0"/>
              <a:t> </a:t>
            </a:r>
            <a:r>
              <a:rPr lang="en-ID" dirty="0" err="1"/>
              <a:t>toán</a:t>
            </a:r>
            <a:r>
              <a:rPr lang="en-ID" dirty="0"/>
              <a:t> </a:t>
            </a:r>
            <a:r>
              <a:rPr lang="en-ID" dirty="0" err="1"/>
              <a:t>đám</a:t>
            </a:r>
            <a:r>
              <a:rPr lang="en-ID" dirty="0"/>
              <a:t> </a:t>
            </a:r>
            <a:r>
              <a:rPr lang="en-ID" dirty="0" err="1"/>
              <a:t>mây</a:t>
            </a:r>
            <a:r>
              <a:rPr lang="en-ID" dirty="0"/>
              <a:t> </a:t>
            </a:r>
            <a:r>
              <a:rPr lang="en-ID" dirty="0" err="1"/>
              <a:t>để</a:t>
            </a:r>
            <a:r>
              <a:rPr lang="en-ID" dirty="0"/>
              <a:t> </a:t>
            </a:r>
            <a:r>
              <a:rPr lang="en-ID" dirty="0" err="1"/>
              <a:t>lưu</a:t>
            </a:r>
            <a:r>
              <a:rPr lang="en-ID" dirty="0"/>
              <a:t> </a:t>
            </a:r>
            <a:r>
              <a:rPr lang="en-ID" dirty="0" err="1"/>
              <a:t>trữ</a:t>
            </a:r>
            <a:r>
              <a:rPr lang="en-ID" dirty="0"/>
              <a:t> </a:t>
            </a:r>
            <a:r>
              <a:rPr lang="en-ID" dirty="0" err="1"/>
              <a:t>dữ</a:t>
            </a:r>
            <a:r>
              <a:rPr lang="en-ID" dirty="0"/>
              <a:t> </a:t>
            </a:r>
            <a:r>
              <a:rPr lang="en-ID" dirty="0" err="1"/>
              <a:t>liệu</a:t>
            </a:r>
            <a:r>
              <a:rPr lang="en-ID" dirty="0"/>
              <a:t> </a:t>
            </a:r>
            <a:r>
              <a:rPr lang="en-ID" dirty="0" err="1"/>
              <a:t>thô</a:t>
            </a:r>
            <a:r>
              <a:rPr lang="en-ID" dirty="0"/>
              <a:t> </a:t>
            </a:r>
            <a:r>
              <a:rPr lang="en-ID" dirty="0" err="1"/>
              <a:t>trước</a:t>
            </a:r>
            <a:r>
              <a:rPr lang="en-ID" dirty="0"/>
              <a:t> </a:t>
            </a:r>
            <a:r>
              <a:rPr lang="en-ID" dirty="0" err="1"/>
              <a:t>khi</a:t>
            </a:r>
            <a:r>
              <a:rPr lang="en-ID" dirty="0"/>
              <a:t> </a:t>
            </a:r>
            <a:r>
              <a:rPr lang="en-ID" dirty="0" err="1"/>
              <a:t>xử</a:t>
            </a:r>
            <a:r>
              <a:rPr lang="en-ID" dirty="0"/>
              <a:t> </a:t>
            </a:r>
            <a:r>
              <a:rPr lang="en-ID" dirty="0" err="1"/>
              <a:t>lý</a:t>
            </a:r>
            <a:r>
              <a:rPr lang="en-ID" dirty="0"/>
              <a:t>.</a:t>
            </a:r>
          </a:p>
        </p:txBody>
      </p:sp>
      <p:pic>
        <p:nvPicPr>
          <p:cNvPr id="8" name="Picture 7">
            <a:extLst>
              <a:ext uri="{FF2B5EF4-FFF2-40B4-BE49-F238E27FC236}">
                <a16:creationId xmlns:a16="http://schemas.microsoft.com/office/drawing/2014/main" id="{84338BA9-6F9A-8499-2299-E46B76A724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6685" y="3429000"/>
            <a:ext cx="7878630" cy="2905244"/>
          </a:xfrm>
          <a:prstGeom prst="rect">
            <a:avLst/>
          </a:prstGeom>
        </p:spPr>
      </p:pic>
    </p:spTree>
    <p:extLst>
      <p:ext uri="{BB962C8B-B14F-4D97-AF65-F5344CB8AC3E}">
        <p14:creationId xmlns:p14="http://schemas.microsoft.com/office/powerpoint/2010/main" val="3562360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0420D65-F74F-DD29-9EB5-33E8C2B2346E}"/>
              </a:ext>
            </a:extLst>
          </p:cNvPr>
          <p:cNvSpPr>
            <a:spLocks noGrp="1"/>
          </p:cNvSpPr>
          <p:nvPr>
            <p:ph type="title"/>
          </p:nvPr>
        </p:nvSpPr>
        <p:spPr/>
        <p:txBody>
          <a:bodyPr/>
          <a:lstStyle/>
          <a:p>
            <a:r>
              <a:rPr lang="en-US" dirty="0" err="1"/>
              <a:t>mapreduce</a:t>
            </a:r>
            <a:endParaRPr lang="en-ID" dirty="0"/>
          </a:p>
        </p:txBody>
      </p:sp>
      <p:sp>
        <p:nvSpPr>
          <p:cNvPr id="8" name="Content Placeholder 7">
            <a:extLst>
              <a:ext uri="{FF2B5EF4-FFF2-40B4-BE49-F238E27FC236}">
                <a16:creationId xmlns:a16="http://schemas.microsoft.com/office/drawing/2014/main" id="{101714A6-5E85-1D83-E50B-5C34BBDBE7AA}"/>
              </a:ext>
            </a:extLst>
          </p:cNvPr>
          <p:cNvSpPr>
            <a:spLocks noGrp="1"/>
          </p:cNvSpPr>
          <p:nvPr>
            <p:ph idx="1"/>
          </p:nvPr>
        </p:nvSpPr>
        <p:spPr/>
        <p:txBody>
          <a:bodyPr/>
          <a:lstStyle/>
          <a:p>
            <a:r>
              <a:rPr lang="en-ID" dirty="0"/>
              <a:t>MapReduce </a:t>
            </a:r>
            <a:r>
              <a:rPr lang="en-ID" dirty="0" err="1"/>
              <a:t>là</a:t>
            </a:r>
            <a:r>
              <a:rPr lang="en-ID" dirty="0"/>
              <a:t> </a:t>
            </a:r>
            <a:r>
              <a:rPr lang="en-ID" dirty="0" err="1"/>
              <a:t>một</a:t>
            </a:r>
            <a:r>
              <a:rPr lang="en-ID" dirty="0"/>
              <a:t> </a:t>
            </a:r>
            <a:r>
              <a:rPr lang="en-ID" dirty="0" err="1"/>
              <a:t>mô</a:t>
            </a:r>
            <a:r>
              <a:rPr lang="en-ID" dirty="0"/>
              <a:t> </a:t>
            </a:r>
            <a:r>
              <a:rPr lang="en-ID" dirty="0" err="1"/>
              <a:t>hình</a:t>
            </a:r>
            <a:r>
              <a:rPr lang="en-ID" dirty="0"/>
              <a:t> </a:t>
            </a:r>
            <a:r>
              <a:rPr lang="en-ID" dirty="0" err="1"/>
              <a:t>lập</a:t>
            </a:r>
            <a:r>
              <a:rPr lang="en-ID" dirty="0"/>
              <a:t> </a:t>
            </a:r>
            <a:r>
              <a:rPr lang="en-ID" dirty="0" err="1"/>
              <a:t>trình</a:t>
            </a:r>
            <a:r>
              <a:rPr lang="en-ID" dirty="0"/>
              <a:t> </a:t>
            </a:r>
            <a:r>
              <a:rPr lang="en-ID" dirty="0" err="1"/>
              <a:t>và</a:t>
            </a:r>
            <a:r>
              <a:rPr lang="en-ID" dirty="0"/>
              <a:t> </a:t>
            </a:r>
            <a:r>
              <a:rPr lang="en-ID" dirty="0" err="1"/>
              <a:t>khung</a:t>
            </a:r>
            <a:r>
              <a:rPr lang="en-ID" dirty="0"/>
              <a:t> </a:t>
            </a:r>
            <a:r>
              <a:rPr lang="en-ID" dirty="0" err="1"/>
              <a:t>xử</a:t>
            </a:r>
            <a:r>
              <a:rPr lang="en-ID" dirty="0"/>
              <a:t> </a:t>
            </a:r>
            <a:r>
              <a:rPr lang="en-ID" dirty="0" err="1"/>
              <a:t>lý</a:t>
            </a:r>
            <a:r>
              <a:rPr lang="en-ID" dirty="0"/>
              <a:t> </a:t>
            </a:r>
            <a:r>
              <a:rPr lang="en-ID" dirty="0" err="1"/>
              <a:t>dữ</a:t>
            </a:r>
            <a:r>
              <a:rPr lang="en-ID" dirty="0"/>
              <a:t> </a:t>
            </a:r>
            <a:r>
              <a:rPr lang="en-ID" dirty="0" err="1"/>
              <a:t>liệu</a:t>
            </a:r>
            <a:r>
              <a:rPr lang="en-ID" dirty="0"/>
              <a:t> </a:t>
            </a:r>
            <a:r>
              <a:rPr lang="en-ID" dirty="0" err="1"/>
              <a:t>phân</a:t>
            </a:r>
            <a:r>
              <a:rPr lang="en-ID" dirty="0"/>
              <a:t> </a:t>
            </a:r>
            <a:r>
              <a:rPr lang="en-ID" dirty="0" err="1"/>
              <a:t>tán</a:t>
            </a:r>
            <a:r>
              <a:rPr lang="en-ID" dirty="0"/>
              <a:t>, bao </a:t>
            </a:r>
            <a:r>
              <a:rPr lang="en-ID" dirty="0" err="1"/>
              <a:t>gồm</a:t>
            </a:r>
            <a:r>
              <a:rPr lang="en-ID" dirty="0"/>
              <a:t> </a:t>
            </a:r>
            <a:r>
              <a:rPr lang="en-ID" dirty="0" err="1"/>
              <a:t>hai</a:t>
            </a:r>
            <a:r>
              <a:rPr lang="en-ID" dirty="0"/>
              <a:t> </a:t>
            </a:r>
            <a:r>
              <a:rPr lang="en-ID" dirty="0" err="1"/>
              <a:t>giai</a:t>
            </a:r>
            <a:r>
              <a:rPr lang="en-ID" dirty="0"/>
              <a:t> </a:t>
            </a:r>
            <a:r>
              <a:rPr lang="en-ID" dirty="0" err="1"/>
              <a:t>đoạn</a:t>
            </a:r>
            <a:r>
              <a:rPr lang="en-ID" dirty="0"/>
              <a:t> </a:t>
            </a:r>
            <a:r>
              <a:rPr lang="en-ID" dirty="0" err="1"/>
              <a:t>chính</a:t>
            </a:r>
            <a:r>
              <a:rPr lang="en-ID" dirty="0"/>
              <a:t> </a:t>
            </a:r>
            <a:r>
              <a:rPr lang="en-ID" dirty="0" err="1"/>
              <a:t>là</a:t>
            </a:r>
            <a:r>
              <a:rPr lang="en-ID" dirty="0"/>
              <a:t> Map </a:t>
            </a:r>
            <a:r>
              <a:rPr lang="en-ID" dirty="0" err="1"/>
              <a:t>và</a:t>
            </a:r>
            <a:r>
              <a:rPr lang="en-ID" dirty="0"/>
              <a:t> Reduce. Công </a:t>
            </a:r>
            <a:r>
              <a:rPr lang="en-ID" dirty="0" err="1"/>
              <a:t>nghệ</a:t>
            </a:r>
            <a:r>
              <a:rPr lang="en-ID" dirty="0"/>
              <a:t> </a:t>
            </a:r>
            <a:r>
              <a:rPr lang="en-ID" dirty="0" err="1"/>
              <a:t>này</a:t>
            </a:r>
            <a:r>
              <a:rPr lang="en-ID" dirty="0"/>
              <a:t> </a:t>
            </a:r>
            <a:r>
              <a:rPr lang="en-ID" dirty="0" err="1"/>
              <a:t>giúp</a:t>
            </a:r>
            <a:r>
              <a:rPr lang="en-ID" dirty="0"/>
              <a:t> chia </a:t>
            </a:r>
            <a:r>
              <a:rPr lang="en-ID" dirty="0" err="1"/>
              <a:t>nhỏ</a:t>
            </a:r>
            <a:r>
              <a:rPr lang="en-ID" dirty="0"/>
              <a:t> </a:t>
            </a:r>
            <a:r>
              <a:rPr lang="en-ID" dirty="0" err="1"/>
              <a:t>dữ</a:t>
            </a:r>
            <a:r>
              <a:rPr lang="en-ID" dirty="0"/>
              <a:t> </a:t>
            </a:r>
            <a:r>
              <a:rPr lang="en-ID" dirty="0" err="1"/>
              <a:t>liệu</a:t>
            </a:r>
            <a:r>
              <a:rPr lang="en-ID" dirty="0"/>
              <a:t> </a:t>
            </a:r>
            <a:r>
              <a:rPr lang="en-ID" dirty="0" err="1"/>
              <a:t>lớn</a:t>
            </a:r>
            <a:r>
              <a:rPr lang="en-ID" dirty="0"/>
              <a:t> </a:t>
            </a:r>
            <a:r>
              <a:rPr lang="en-ID" dirty="0" err="1"/>
              <a:t>để</a:t>
            </a:r>
            <a:r>
              <a:rPr lang="en-ID" dirty="0"/>
              <a:t> </a:t>
            </a:r>
            <a:r>
              <a:rPr lang="en-ID" dirty="0" err="1"/>
              <a:t>xử</a:t>
            </a:r>
            <a:r>
              <a:rPr lang="en-ID" dirty="0"/>
              <a:t> </a:t>
            </a:r>
            <a:r>
              <a:rPr lang="en-ID" dirty="0" err="1"/>
              <a:t>lý</a:t>
            </a:r>
            <a:r>
              <a:rPr lang="en-ID" dirty="0"/>
              <a:t> song </a:t>
            </a:r>
            <a:r>
              <a:rPr lang="en-ID" dirty="0" err="1"/>
              <a:t>song</a:t>
            </a:r>
            <a:r>
              <a:rPr lang="en-ID" dirty="0"/>
              <a:t> </a:t>
            </a:r>
            <a:r>
              <a:rPr lang="en-ID" dirty="0" err="1"/>
              <a:t>trên</a:t>
            </a:r>
            <a:r>
              <a:rPr lang="en-ID" dirty="0"/>
              <a:t> </a:t>
            </a:r>
            <a:r>
              <a:rPr lang="en-ID" dirty="0" err="1"/>
              <a:t>nhiều</a:t>
            </a:r>
            <a:r>
              <a:rPr lang="en-ID" dirty="0"/>
              <a:t> </a:t>
            </a:r>
            <a:r>
              <a:rPr lang="en-ID" dirty="0" err="1"/>
              <a:t>máy</a:t>
            </a:r>
            <a:r>
              <a:rPr lang="en-ID" dirty="0"/>
              <a:t> </a:t>
            </a:r>
            <a:r>
              <a:rPr lang="en-ID" dirty="0" err="1"/>
              <a:t>tính</a:t>
            </a:r>
            <a:r>
              <a:rPr lang="en-ID" dirty="0"/>
              <a:t> </a:t>
            </a:r>
            <a:r>
              <a:rPr lang="en-ID" dirty="0" err="1"/>
              <a:t>cùng</a:t>
            </a:r>
            <a:r>
              <a:rPr lang="en-ID" dirty="0"/>
              <a:t> </a:t>
            </a:r>
            <a:r>
              <a:rPr lang="en-ID" dirty="0" err="1"/>
              <a:t>lúc</a:t>
            </a:r>
            <a:r>
              <a:rPr lang="en-ID" dirty="0"/>
              <a:t>. MapReduce </a:t>
            </a:r>
            <a:r>
              <a:rPr lang="en-ID" dirty="0" err="1"/>
              <a:t>hoạt</a:t>
            </a:r>
            <a:r>
              <a:rPr lang="en-ID" dirty="0"/>
              <a:t> </a:t>
            </a:r>
            <a:r>
              <a:rPr lang="en-ID" dirty="0" err="1"/>
              <a:t>động</a:t>
            </a:r>
            <a:r>
              <a:rPr lang="en-ID" dirty="0"/>
              <a:t> </a:t>
            </a:r>
            <a:r>
              <a:rPr lang="en-ID" dirty="0" err="1"/>
              <a:t>dựa</a:t>
            </a:r>
            <a:r>
              <a:rPr lang="en-ID" dirty="0"/>
              <a:t> </a:t>
            </a:r>
            <a:r>
              <a:rPr lang="en-ID" dirty="0" err="1"/>
              <a:t>trên</a:t>
            </a:r>
            <a:r>
              <a:rPr lang="en-ID" dirty="0"/>
              <a:t> </a:t>
            </a:r>
            <a:r>
              <a:rPr lang="en-ID" dirty="0" err="1"/>
              <a:t>nguyên</a:t>
            </a:r>
            <a:r>
              <a:rPr lang="en-ID" dirty="0"/>
              <a:t> </a:t>
            </a:r>
            <a:r>
              <a:rPr lang="en-ID" dirty="0" err="1"/>
              <a:t>lý</a:t>
            </a:r>
            <a:r>
              <a:rPr lang="en-ID" dirty="0"/>
              <a:t> “mang </a:t>
            </a:r>
            <a:r>
              <a:rPr lang="en-ID" dirty="0" err="1"/>
              <a:t>tính</a:t>
            </a:r>
            <a:r>
              <a:rPr lang="en-ID" dirty="0"/>
              <a:t> </a:t>
            </a:r>
            <a:r>
              <a:rPr lang="en-ID" dirty="0" err="1"/>
              <a:t>toán</a:t>
            </a:r>
            <a:r>
              <a:rPr lang="en-ID" dirty="0"/>
              <a:t> </a:t>
            </a:r>
            <a:r>
              <a:rPr lang="en-ID" dirty="0" err="1"/>
              <a:t>đến</a:t>
            </a:r>
            <a:r>
              <a:rPr lang="en-ID" dirty="0"/>
              <a:t> </a:t>
            </a:r>
            <a:r>
              <a:rPr lang="en-ID" dirty="0" err="1"/>
              <a:t>nơi</a:t>
            </a:r>
            <a:r>
              <a:rPr lang="en-ID" dirty="0"/>
              <a:t> </a:t>
            </a:r>
            <a:r>
              <a:rPr lang="en-ID" dirty="0" err="1"/>
              <a:t>lưu</a:t>
            </a:r>
            <a:r>
              <a:rPr lang="en-ID" dirty="0"/>
              <a:t> </a:t>
            </a:r>
            <a:r>
              <a:rPr lang="en-ID" dirty="0" err="1"/>
              <a:t>trữ</a:t>
            </a:r>
            <a:r>
              <a:rPr lang="en-ID" dirty="0"/>
              <a:t> </a:t>
            </a:r>
            <a:r>
              <a:rPr lang="en-ID" dirty="0" err="1"/>
              <a:t>dữ</a:t>
            </a:r>
            <a:r>
              <a:rPr lang="en-ID" dirty="0"/>
              <a:t> </a:t>
            </a:r>
            <a:r>
              <a:rPr lang="en-ID" dirty="0" err="1"/>
              <a:t>liệu</a:t>
            </a:r>
            <a:r>
              <a:rPr lang="en-ID" dirty="0"/>
              <a:t>” (Data Locality) </a:t>
            </a:r>
            <a:r>
              <a:rPr lang="en-ID" dirty="0" err="1"/>
              <a:t>thay</a:t>
            </a:r>
            <a:r>
              <a:rPr lang="en-ID" dirty="0"/>
              <a:t> </a:t>
            </a:r>
            <a:r>
              <a:rPr lang="en-ID" dirty="0" err="1"/>
              <a:t>vì</a:t>
            </a:r>
            <a:r>
              <a:rPr lang="en-ID" dirty="0"/>
              <a:t> di </a:t>
            </a:r>
            <a:r>
              <a:rPr lang="en-ID" dirty="0" err="1"/>
              <a:t>chuyển</a:t>
            </a:r>
            <a:r>
              <a:rPr lang="en-ID" dirty="0"/>
              <a:t> </a:t>
            </a:r>
            <a:r>
              <a:rPr lang="en-ID" dirty="0" err="1"/>
              <a:t>dữ</a:t>
            </a:r>
            <a:r>
              <a:rPr lang="en-ID" dirty="0"/>
              <a:t> </a:t>
            </a:r>
            <a:r>
              <a:rPr lang="en-ID" dirty="0" err="1"/>
              <a:t>liệu</a:t>
            </a:r>
            <a:r>
              <a:rPr lang="en-ID" dirty="0"/>
              <a:t> qua </a:t>
            </a:r>
            <a:r>
              <a:rPr lang="en-ID" dirty="0" err="1"/>
              <a:t>mạng</a:t>
            </a:r>
            <a:r>
              <a:rPr lang="en-ID" dirty="0"/>
              <a:t>. </a:t>
            </a:r>
            <a:r>
              <a:rPr lang="en-ID" dirty="0" err="1"/>
              <a:t>Tận</a:t>
            </a:r>
            <a:r>
              <a:rPr lang="en-ID" dirty="0"/>
              <a:t> </a:t>
            </a:r>
            <a:r>
              <a:rPr lang="en-ID" dirty="0" err="1"/>
              <a:t>dụng</a:t>
            </a:r>
            <a:r>
              <a:rPr lang="en-ID" dirty="0"/>
              <a:t> </a:t>
            </a:r>
            <a:r>
              <a:rPr lang="en-ID" dirty="0" err="1"/>
              <a:t>kiến</a:t>
            </a:r>
            <a:r>
              <a:rPr lang="en-ID" dirty="0"/>
              <a:t> </a:t>
            </a:r>
            <a:r>
              <a:rPr lang="en-ID" dirty="0" err="1"/>
              <a:t>trúc</a:t>
            </a:r>
            <a:r>
              <a:rPr lang="en-ID" dirty="0"/>
              <a:t> Master-Slave:</a:t>
            </a:r>
          </a:p>
          <a:p>
            <a:pPr marL="285750" indent="-285750" fontAlgn="base">
              <a:buFont typeface="Arial" panose="020B0604020202020204" pitchFamily="34" charset="0"/>
              <a:buChar char="•"/>
            </a:pPr>
            <a:r>
              <a:rPr lang="en-ID" dirty="0" err="1"/>
              <a:t>ResourceManager</a:t>
            </a:r>
            <a:r>
              <a:rPr lang="en-ID" dirty="0"/>
              <a:t> </a:t>
            </a:r>
            <a:r>
              <a:rPr lang="en-ID" dirty="0" err="1"/>
              <a:t>của</a:t>
            </a:r>
            <a:r>
              <a:rPr lang="en-ID" dirty="0"/>
              <a:t> MapReduce </a:t>
            </a:r>
            <a:r>
              <a:rPr lang="en-ID" dirty="0" err="1"/>
              <a:t>phối</a:t>
            </a:r>
            <a:r>
              <a:rPr lang="en-ID" dirty="0"/>
              <a:t> </a:t>
            </a:r>
            <a:r>
              <a:rPr lang="en-ID" dirty="0" err="1"/>
              <a:t>hợp</a:t>
            </a:r>
            <a:r>
              <a:rPr lang="en-ID" dirty="0"/>
              <a:t> </a:t>
            </a:r>
            <a:r>
              <a:rPr lang="en-ID" dirty="0" err="1"/>
              <a:t>với</a:t>
            </a:r>
            <a:r>
              <a:rPr lang="en-ID" dirty="0"/>
              <a:t> </a:t>
            </a:r>
            <a:r>
              <a:rPr lang="en-ID" dirty="0" err="1"/>
              <a:t>NameNode</a:t>
            </a:r>
            <a:r>
              <a:rPr lang="en-ID" dirty="0"/>
              <a:t> </a:t>
            </a:r>
            <a:r>
              <a:rPr lang="en-ID" dirty="0" err="1"/>
              <a:t>của</a:t>
            </a:r>
            <a:r>
              <a:rPr lang="en-ID" dirty="0"/>
              <a:t> HDFS </a:t>
            </a:r>
            <a:r>
              <a:rPr lang="en-ID" dirty="0" err="1"/>
              <a:t>để</a:t>
            </a:r>
            <a:r>
              <a:rPr lang="en-ID" dirty="0"/>
              <a:t> </a:t>
            </a:r>
            <a:r>
              <a:rPr lang="en-ID" dirty="0" err="1"/>
              <a:t>biết</a:t>
            </a:r>
            <a:r>
              <a:rPr lang="en-ID" dirty="0"/>
              <a:t> </a:t>
            </a:r>
            <a:r>
              <a:rPr lang="en-ID" dirty="0" err="1"/>
              <a:t>chính</a:t>
            </a:r>
            <a:r>
              <a:rPr lang="en-ID" dirty="0"/>
              <a:t> </a:t>
            </a:r>
            <a:r>
              <a:rPr lang="en-ID" dirty="0" err="1"/>
              <a:t>xác</a:t>
            </a:r>
            <a:r>
              <a:rPr lang="en-ID" dirty="0"/>
              <a:t> </a:t>
            </a:r>
            <a:r>
              <a:rPr lang="en-ID" dirty="0" err="1"/>
              <a:t>vị</a:t>
            </a:r>
            <a:r>
              <a:rPr lang="en-ID" dirty="0"/>
              <a:t> </a:t>
            </a:r>
            <a:r>
              <a:rPr lang="en-ID" dirty="0" err="1"/>
              <a:t>trí</a:t>
            </a:r>
            <a:r>
              <a:rPr lang="en-ID" dirty="0"/>
              <a:t> </a:t>
            </a:r>
            <a:r>
              <a:rPr lang="en-ID" dirty="0" err="1"/>
              <a:t>các</a:t>
            </a:r>
            <a:r>
              <a:rPr lang="en-ID" dirty="0"/>
              <a:t> Block </a:t>
            </a:r>
            <a:r>
              <a:rPr lang="en-ID" dirty="0" err="1"/>
              <a:t>dữ</a:t>
            </a:r>
            <a:r>
              <a:rPr lang="en-ID" dirty="0"/>
              <a:t> </a:t>
            </a:r>
            <a:r>
              <a:rPr lang="en-ID" dirty="0" err="1"/>
              <a:t>liệu</a:t>
            </a:r>
            <a:endParaRPr lang="en-ID" dirty="0"/>
          </a:p>
          <a:p>
            <a:pPr marL="285750" indent="-285750" fontAlgn="base">
              <a:buFont typeface="Arial" panose="020B0604020202020204" pitchFamily="34" charset="0"/>
              <a:buChar char="•"/>
            </a:pPr>
            <a:r>
              <a:rPr lang="en-ID" dirty="0" err="1"/>
              <a:t>NodeManager</a:t>
            </a:r>
            <a:r>
              <a:rPr lang="en-ID" dirty="0"/>
              <a:t> </a:t>
            </a:r>
            <a:r>
              <a:rPr lang="en-ID" dirty="0" err="1"/>
              <a:t>của</a:t>
            </a:r>
            <a:r>
              <a:rPr lang="en-ID" dirty="0"/>
              <a:t> MapReduce </a:t>
            </a:r>
            <a:r>
              <a:rPr lang="en-ID" dirty="0" err="1"/>
              <a:t>sẽ</a:t>
            </a:r>
            <a:r>
              <a:rPr lang="en-ID" dirty="0"/>
              <a:t> </a:t>
            </a:r>
            <a:r>
              <a:rPr lang="en-ID" dirty="0" err="1"/>
              <a:t>kích</a:t>
            </a:r>
            <a:r>
              <a:rPr lang="en-ID" dirty="0"/>
              <a:t> </a:t>
            </a:r>
            <a:r>
              <a:rPr lang="en-ID" dirty="0" err="1"/>
              <a:t>thích</a:t>
            </a:r>
            <a:r>
              <a:rPr lang="en-ID" dirty="0"/>
              <a:t> </a:t>
            </a:r>
            <a:r>
              <a:rPr lang="en-ID" dirty="0" err="1"/>
              <a:t>các</a:t>
            </a:r>
            <a:r>
              <a:rPr lang="en-ID" dirty="0"/>
              <a:t> </a:t>
            </a:r>
            <a:r>
              <a:rPr lang="en-ID" dirty="0" err="1"/>
              <a:t>tác</a:t>
            </a:r>
            <a:r>
              <a:rPr lang="en-ID" dirty="0"/>
              <a:t> </a:t>
            </a:r>
            <a:r>
              <a:rPr lang="en-ID" dirty="0" err="1"/>
              <a:t>vụ</a:t>
            </a:r>
            <a:r>
              <a:rPr lang="en-ID" dirty="0"/>
              <a:t> </a:t>
            </a:r>
            <a:r>
              <a:rPr lang="en-ID" dirty="0" err="1"/>
              <a:t>tính</a:t>
            </a:r>
            <a:r>
              <a:rPr lang="en-ID" dirty="0"/>
              <a:t> </a:t>
            </a:r>
            <a:r>
              <a:rPr lang="en-ID" dirty="0" err="1"/>
              <a:t>toán</a:t>
            </a:r>
            <a:r>
              <a:rPr lang="en-ID" dirty="0"/>
              <a:t> </a:t>
            </a:r>
            <a:r>
              <a:rPr lang="en-ID" dirty="0" err="1"/>
              <a:t>ngay</a:t>
            </a:r>
            <a:r>
              <a:rPr lang="en-ID" dirty="0"/>
              <a:t> </a:t>
            </a:r>
            <a:r>
              <a:rPr lang="en-ID" dirty="0" err="1"/>
              <a:t>trên</a:t>
            </a:r>
            <a:r>
              <a:rPr lang="en-ID" dirty="0"/>
              <a:t> </a:t>
            </a:r>
            <a:r>
              <a:rPr lang="en-ID" dirty="0" err="1"/>
              <a:t>DataNode</a:t>
            </a:r>
            <a:r>
              <a:rPr lang="en-ID" dirty="0"/>
              <a:t> </a:t>
            </a:r>
            <a:r>
              <a:rPr lang="en-ID" dirty="0" err="1"/>
              <a:t>tương</a:t>
            </a:r>
            <a:r>
              <a:rPr lang="en-ID" dirty="0"/>
              <a:t> </a:t>
            </a:r>
            <a:r>
              <a:rPr lang="en-ID" dirty="0" err="1"/>
              <a:t>ứng</a:t>
            </a:r>
            <a:br>
              <a:rPr lang="en-ID" dirty="0"/>
            </a:br>
            <a:endParaRPr lang="en-ID" dirty="0"/>
          </a:p>
          <a:p>
            <a:endParaRPr lang="en-ID" dirty="0"/>
          </a:p>
        </p:txBody>
      </p:sp>
      <p:pic>
        <p:nvPicPr>
          <p:cNvPr id="10" name="Picture 9">
            <a:extLst>
              <a:ext uri="{FF2B5EF4-FFF2-40B4-BE49-F238E27FC236}">
                <a16:creationId xmlns:a16="http://schemas.microsoft.com/office/drawing/2014/main" id="{F7885320-BA42-EAF9-4005-63CEE2E71F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9100" y="3429000"/>
            <a:ext cx="9810750" cy="3200400"/>
          </a:xfrm>
          <a:prstGeom prst="rect">
            <a:avLst/>
          </a:prstGeom>
        </p:spPr>
      </p:pic>
    </p:spTree>
    <p:extLst>
      <p:ext uri="{BB962C8B-B14F-4D97-AF65-F5344CB8AC3E}">
        <p14:creationId xmlns:p14="http://schemas.microsoft.com/office/powerpoint/2010/main" val="1169183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86923-F3A8-76F0-72C7-6D2ED4185D01}"/>
              </a:ext>
            </a:extLst>
          </p:cNvPr>
          <p:cNvSpPr>
            <a:spLocks noGrp="1"/>
          </p:cNvSpPr>
          <p:nvPr>
            <p:ph type="title"/>
          </p:nvPr>
        </p:nvSpPr>
        <p:spPr/>
        <p:txBody>
          <a:bodyPr/>
          <a:lstStyle/>
          <a:p>
            <a:r>
              <a:rPr lang="en-US" dirty="0"/>
              <a:t>So </a:t>
            </a:r>
            <a:r>
              <a:rPr lang="en-US" dirty="0" err="1"/>
              <a:t>sánh</a:t>
            </a:r>
            <a:r>
              <a:rPr lang="en-US" dirty="0"/>
              <a:t> </a:t>
            </a:r>
            <a:r>
              <a:rPr lang="en-US" dirty="0" err="1"/>
              <a:t>mapreduce</a:t>
            </a:r>
            <a:r>
              <a:rPr lang="en-US" dirty="0"/>
              <a:t> </a:t>
            </a:r>
            <a:r>
              <a:rPr lang="en-US" dirty="0" err="1"/>
              <a:t>và</a:t>
            </a:r>
            <a:r>
              <a:rPr lang="en-US" dirty="0"/>
              <a:t> </a:t>
            </a:r>
            <a:r>
              <a:rPr lang="en-US" dirty="0" err="1"/>
              <a:t>tez</a:t>
            </a:r>
            <a:endParaRPr lang="en-ID" dirty="0"/>
          </a:p>
        </p:txBody>
      </p:sp>
      <p:sp>
        <p:nvSpPr>
          <p:cNvPr id="9" name="Text Placeholder 8">
            <a:extLst>
              <a:ext uri="{FF2B5EF4-FFF2-40B4-BE49-F238E27FC236}">
                <a16:creationId xmlns:a16="http://schemas.microsoft.com/office/drawing/2014/main" id="{480BDD90-BCE3-D4CC-C2FF-D1AF89D6984B}"/>
              </a:ext>
            </a:extLst>
          </p:cNvPr>
          <p:cNvSpPr>
            <a:spLocks noGrp="1"/>
          </p:cNvSpPr>
          <p:nvPr>
            <p:ph type="body" idx="1"/>
          </p:nvPr>
        </p:nvSpPr>
        <p:spPr/>
        <p:txBody>
          <a:bodyPr/>
          <a:lstStyle/>
          <a:p>
            <a:r>
              <a:rPr lang="en-US" dirty="0" err="1"/>
              <a:t>mapreduce</a:t>
            </a:r>
            <a:endParaRPr lang="en-ID" dirty="0"/>
          </a:p>
        </p:txBody>
      </p:sp>
      <p:sp>
        <p:nvSpPr>
          <p:cNvPr id="10" name="Text Placeholder 9">
            <a:extLst>
              <a:ext uri="{FF2B5EF4-FFF2-40B4-BE49-F238E27FC236}">
                <a16:creationId xmlns:a16="http://schemas.microsoft.com/office/drawing/2014/main" id="{33FCD975-4696-E848-1690-84E531126495}"/>
              </a:ext>
            </a:extLst>
          </p:cNvPr>
          <p:cNvSpPr>
            <a:spLocks noGrp="1"/>
          </p:cNvSpPr>
          <p:nvPr>
            <p:ph type="body" sz="quarter" idx="3"/>
          </p:nvPr>
        </p:nvSpPr>
        <p:spPr/>
        <p:txBody>
          <a:bodyPr/>
          <a:lstStyle/>
          <a:p>
            <a:r>
              <a:rPr lang="en-US" dirty="0"/>
              <a:t>Apache </a:t>
            </a:r>
            <a:r>
              <a:rPr lang="en-US" dirty="0" err="1"/>
              <a:t>tez</a:t>
            </a:r>
            <a:endParaRPr lang="en-ID" dirty="0"/>
          </a:p>
        </p:txBody>
      </p:sp>
      <p:sp>
        <p:nvSpPr>
          <p:cNvPr id="11" name="Content Placeholder 10">
            <a:extLst>
              <a:ext uri="{FF2B5EF4-FFF2-40B4-BE49-F238E27FC236}">
                <a16:creationId xmlns:a16="http://schemas.microsoft.com/office/drawing/2014/main" id="{97ED8057-68F8-B279-E74D-814B1161A69C}"/>
              </a:ext>
            </a:extLst>
          </p:cNvPr>
          <p:cNvSpPr>
            <a:spLocks noGrp="1"/>
          </p:cNvSpPr>
          <p:nvPr>
            <p:ph sz="quarter" idx="15"/>
          </p:nvPr>
        </p:nvSpPr>
        <p:spPr/>
        <p:txBody>
          <a:bodyPr/>
          <a:lstStyle/>
          <a:p>
            <a:r>
              <a:rPr lang="en-ID" dirty="0" err="1"/>
              <a:t>Mặc</a:t>
            </a:r>
            <a:r>
              <a:rPr lang="en-ID" dirty="0"/>
              <a:t> </a:t>
            </a:r>
            <a:r>
              <a:rPr lang="en-ID" dirty="0" err="1"/>
              <a:t>dù</a:t>
            </a:r>
            <a:r>
              <a:rPr lang="en-ID" dirty="0"/>
              <a:t> </a:t>
            </a:r>
            <a:r>
              <a:rPr lang="en-ID" dirty="0" err="1"/>
              <a:t>từng</a:t>
            </a:r>
            <a:r>
              <a:rPr lang="en-ID" dirty="0"/>
              <a:t> </a:t>
            </a:r>
            <a:r>
              <a:rPr lang="en-ID" dirty="0" err="1"/>
              <a:t>được</a:t>
            </a:r>
            <a:r>
              <a:rPr lang="en-ID" dirty="0"/>
              <a:t> </a:t>
            </a:r>
            <a:r>
              <a:rPr lang="en-ID" dirty="0" err="1"/>
              <a:t>sử</a:t>
            </a:r>
            <a:r>
              <a:rPr lang="en-ID" dirty="0"/>
              <a:t> </a:t>
            </a:r>
            <a:r>
              <a:rPr lang="en-ID" dirty="0" err="1"/>
              <a:t>dụng</a:t>
            </a:r>
            <a:r>
              <a:rPr lang="en-ID" dirty="0"/>
              <a:t> </a:t>
            </a:r>
            <a:r>
              <a:rPr lang="en-ID" dirty="0" err="1"/>
              <a:t>rất</a:t>
            </a:r>
            <a:r>
              <a:rPr lang="en-ID" dirty="0"/>
              <a:t> </a:t>
            </a:r>
            <a:r>
              <a:rPr lang="en-ID" dirty="0" err="1"/>
              <a:t>nhiều</a:t>
            </a:r>
            <a:r>
              <a:rPr lang="en-ID" dirty="0"/>
              <a:t> </a:t>
            </a:r>
            <a:r>
              <a:rPr lang="en-ID" dirty="0" err="1"/>
              <a:t>trong</a:t>
            </a:r>
            <a:r>
              <a:rPr lang="en-ID" dirty="0"/>
              <a:t> </a:t>
            </a:r>
            <a:r>
              <a:rPr lang="en-ID" dirty="0" err="1"/>
              <a:t>giai</a:t>
            </a:r>
            <a:r>
              <a:rPr lang="en-ID" dirty="0"/>
              <a:t> </a:t>
            </a:r>
            <a:r>
              <a:rPr lang="en-ID" dirty="0" err="1"/>
              <a:t>đoạn</a:t>
            </a:r>
            <a:r>
              <a:rPr lang="en-ID" dirty="0"/>
              <a:t> Hadoop 1.x, MapReduce </a:t>
            </a:r>
            <a:r>
              <a:rPr lang="en-ID" dirty="0" err="1"/>
              <a:t>có</a:t>
            </a:r>
            <a:r>
              <a:rPr lang="en-ID" dirty="0"/>
              <a:t> </a:t>
            </a:r>
            <a:r>
              <a:rPr lang="en-ID" dirty="0" err="1"/>
              <a:t>những</a:t>
            </a:r>
            <a:r>
              <a:rPr lang="en-ID" dirty="0"/>
              <a:t> </a:t>
            </a:r>
            <a:r>
              <a:rPr lang="en-ID" dirty="0" err="1"/>
              <a:t>điểm</a:t>
            </a:r>
            <a:r>
              <a:rPr lang="en-ID" dirty="0"/>
              <a:t> </a:t>
            </a:r>
            <a:r>
              <a:rPr lang="en-ID" dirty="0" err="1"/>
              <a:t>yếu</a:t>
            </a:r>
            <a:r>
              <a:rPr lang="en-ID" dirty="0"/>
              <a:t> </a:t>
            </a:r>
            <a:r>
              <a:rPr lang="en-ID" dirty="0" err="1"/>
              <a:t>chí</a:t>
            </a:r>
            <a:r>
              <a:rPr lang="en-ID" dirty="0"/>
              <a:t> </a:t>
            </a:r>
            <a:r>
              <a:rPr lang="en-ID" dirty="0" err="1"/>
              <a:t>mạng</a:t>
            </a:r>
            <a:r>
              <a:rPr lang="en-ID" dirty="0"/>
              <a:t> </a:t>
            </a:r>
            <a:r>
              <a:rPr lang="en-ID" dirty="0" err="1"/>
              <a:t>về</a:t>
            </a:r>
            <a:r>
              <a:rPr lang="en-ID" dirty="0"/>
              <a:t> </a:t>
            </a:r>
            <a:r>
              <a:rPr lang="en-ID" dirty="0" err="1"/>
              <a:t>hiệu</a:t>
            </a:r>
            <a:r>
              <a:rPr lang="en-ID" dirty="0"/>
              <a:t> </a:t>
            </a:r>
            <a:r>
              <a:rPr lang="en-ID" dirty="0" err="1"/>
              <a:t>năng</a:t>
            </a:r>
            <a:r>
              <a:rPr lang="en-ID" dirty="0"/>
              <a:t>:</a:t>
            </a:r>
          </a:p>
          <a:p>
            <a:pPr marL="285750" indent="-285750">
              <a:buFont typeface="Arial" panose="020B0604020202020204" pitchFamily="34" charset="0"/>
              <a:buChar char="•"/>
            </a:pPr>
            <a:r>
              <a:rPr lang="en-ID" dirty="0" err="1"/>
              <a:t>Lạm</a:t>
            </a:r>
            <a:r>
              <a:rPr lang="en-ID" dirty="0"/>
              <a:t> </a:t>
            </a:r>
            <a:r>
              <a:rPr lang="en-ID" dirty="0" err="1"/>
              <a:t>dụng</a:t>
            </a:r>
            <a:r>
              <a:rPr lang="en-ID" dirty="0"/>
              <a:t> </a:t>
            </a:r>
            <a:r>
              <a:rPr lang="en-ID" dirty="0" err="1"/>
              <a:t>ghi</a:t>
            </a:r>
            <a:r>
              <a:rPr lang="en-ID" dirty="0"/>
              <a:t> </a:t>
            </a:r>
            <a:r>
              <a:rPr lang="en-ID" dirty="0" err="1"/>
              <a:t>dữ</a:t>
            </a:r>
            <a:r>
              <a:rPr lang="en-ID" dirty="0"/>
              <a:t> </a:t>
            </a:r>
            <a:r>
              <a:rPr lang="en-ID" dirty="0" err="1"/>
              <a:t>liệu</a:t>
            </a:r>
            <a:r>
              <a:rPr lang="en-ID" dirty="0"/>
              <a:t> </a:t>
            </a:r>
            <a:r>
              <a:rPr lang="en-ID" dirty="0" err="1"/>
              <a:t>xuống</a:t>
            </a:r>
            <a:r>
              <a:rPr lang="en-ID" dirty="0"/>
              <a:t> </a:t>
            </a:r>
            <a:r>
              <a:rPr lang="en-ID" dirty="0" err="1"/>
              <a:t>đĩa</a:t>
            </a:r>
            <a:r>
              <a:rPr lang="en-ID" dirty="0"/>
              <a:t> </a:t>
            </a:r>
            <a:r>
              <a:rPr lang="en-ID" dirty="0" err="1"/>
              <a:t>cứng</a:t>
            </a:r>
            <a:r>
              <a:rPr lang="en-ID" dirty="0"/>
              <a:t> (I/O)</a:t>
            </a:r>
          </a:p>
          <a:p>
            <a:pPr marL="285750" indent="-285750">
              <a:buFont typeface="Arial" panose="020B0604020202020204" pitchFamily="34" charset="0"/>
              <a:buChar char="•"/>
            </a:pPr>
            <a:r>
              <a:rPr lang="en-ID" dirty="0" err="1"/>
              <a:t>Mô</a:t>
            </a:r>
            <a:r>
              <a:rPr lang="en-ID" dirty="0"/>
              <a:t> </a:t>
            </a:r>
            <a:r>
              <a:rPr lang="en-ID" dirty="0" err="1"/>
              <a:t>hình</a:t>
            </a:r>
            <a:r>
              <a:rPr lang="en-ID" dirty="0"/>
              <a:t> </a:t>
            </a:r>
            <a:r>
              <a:rPr lang="en-ID" dirty="0" err="1"/>
              <a:t>xử</a:t>
            </a:r>
            <a:r>
              <a:rPr lang="en-ID" dirty="0"/>
              <a:t> </a:t>
            </a:r>
            <a:r>
              <a:rPr lang="en-ID" dirty="0" err="1"/>
              <a:t>lý</a:t>
            </a:r>
            <a:r>
              <a:rPr lang="en-ID" dirty="0"/>
              <a:t> </a:t>
            </a:r>
            <a:r>
              <a:rPr lang="en-ID" dirty="0" err="1"/>
              <a:t>quá</a:t>
            </a:r>
            <a:r>
              <a:rPr lang="en-ID" dirty="0"/>
              <a:t> </a:t>
            </a:r>
            <a:r>
              <a:rPr lang="en-ID" dirty="0" err="1"/>
              <a:t>cứng</a:t>
            </a:r>
            <a:r>
              <a:rPr lang="en-ID" dirty="0"/>
              <a:t> </a:t>
            </a:r>
            <a:r>
              <a:rPr lang="en-ID" dirty="0" err="1"/>
              <a:t>nhắc</a:t>
            </a:r>
            <a:endParaRPr lang="en-ID" dirty="0"/>
          </a:p>
          <a:p>
            <a:pPr marL="285750" indent="-285750">
              <a:buFont typeface="Arial" panose="020B0604020202020204" pitchFamily="34" charset="0"/>
              <a:buChar char="•"/>
            </a:pPr>
            <a:r>
              <a:rPr lang="en-ID" dirty="0" err="1"/>
              <a:t>Khởi</a:t>
            </a:r>
            <a:r>
              <a:rPr lang="en-ID" dirty="0"/>
              <a:t> </a:t>
            </a:r>
            <a:r>
              <a:rPr lang="en-ID" dirty="0" err="1"/>
              <a:t>tạo</a:t>
            </a:r>
            <a:r>
              <a:rPr lang="en-ID" dirty="0"/>
              <a:t> </a:t>
            </a:r>
            <a:r>
              <a:rPr lang="en-ID" dirty="0" err="1"/>
              <a:t>tác</a:t>
            </a:r>
            <a:r>
              <a:rPr lang="en-ID" dirty="0"/>
              <a:t> </a:t>
            </a:r>
            <a:r>
              <a:rPr lang="en-ID" dirty="0" err="1"/>
              <a:t>vụ</a:t>
            </a:r>
            <a:r>
              <a:rPr lang="en-ID" dirty="0"/>
              <a:t> </a:t>
            </a:r>
            <a:r>
              <a:rPr lang="en-ID" dirty="0" err="1"/>
              <a:t>chậm</a:t>
            </a:r>
            <a:r>
              <a:rPr lang="en-ID" dirty="0"/>
              <a:t> (High Latency)</a:t>
            </a:r>
          </a:p>
          <a:p>
            <a:pPr marL="285750" indent="-285750">
              <a:buFont typeface="Arial" panose="020B0604020202020204" pitchFamily="34" charset="0"/>
              <a:buChar char="•"/>
            </a:pPr>
            <a:r>
              <a:rPr lang="en-ID" dirty="0" err="1"/>
              <a:t>Không</a:t>
            </a:r>
            <a:r>
              <a:rPr lang="en-ID" dirty="0"/>
              <a:t> </a:t>
            </a:r>
            <a:r>
              <a:rPr lang="en-ID" dirty="0" err="1"/>
              <a:t>tối</a:t>
            </a:r>
            <a:r>
              <a:rPr lang="en-ID" dirty="0"/>
              <a:t> </a:t>
            </a:r>
            <a:r>
              <a:rPr lang="en-ID" dirty="0" err="1"/>
              <a:t>ưu</a:t>
            </a:r>
            <a:r>
              <a:rPr lang="en-ID" dirty="0"/>
              <a:t> </a:t>
            </a:r>
            <a:r>
              <a:rPr lang="en-ID" dirty="0" err="1"/>
              <a:t>được</a:t>
            </a:r>
            <a:r>
              <a:rPr lang="en-ID" dirty="0"/>
              <a:t> </a:t>
            </a:r>
            <a:r>
              <a:rPr lang="en-ID" dirty="0" err="1"/>
              <a:t>cho</a:t>
            </a:r>
            <a:r>
              <a:rPr lang="en-ID" dirty="0"/>
              <a:t> </a:t>
            </a:r>
            <a:r>
              <a:rPr lang="en-ID" dirty="0" err="1"/>
              <a:t>các</a:t>
            </a:r>
            <a:r>
              <a:rPr lang="en-ID" dirty="0"/>
              <a:t> </a:t>
            </a:r>
            <a:r>
              <a:rPr lang="en-ID" dirty="0" err="1"/>
              <a:t>thuật</a:t>
            </a:r>
            <a:r>
              <a:rPr lang="en-ID" dirty="0"/>
              <a:t> </a:t>
            </a:r>
            <a:r>
              <a:rPr lang="en-ID" dirty="0" err="1"/>
              <a:t>toán</a:t>
            </a:r>
            <a:r>
              <a:rPr lang="en-ID" dirty="0"/>
              <a:t> </a:t>
            </a:r>
            <a:r>
              <a:rPr lang="en-ID" dirty="0" err="1"/>
              <a:t>lặp</a:t>
            </a:r>
            <a:r>
              <a:rPr lang="en-ID" dirty="0"/>
              <a:t> (Iterative Algorithms)</a:t>
            </a:r>
          </a:p>
        </p:txBody>
      </p:sp>
      <p:sp>
        <p:nvSpPr>
          <p:cNvPr id="12" name="Content Placeholder 11">
            <a:extLst>
              <a:ext uri="{FF2B5EF4-FFF2-40B4-BE49-F238E27FC236}">
                <a16:creationId xmlns:a16="http://schemas.microsoft.com/office/drawing/2014/main" id="{2438B2B9-A33F-EBD9-F308-A82E014AE441}"/>
              </a:ext>
            </a:extLst>
          </p:cNvPr>
          <p:cNvSpPr>
            <a:spLocks noGrp="1"/>
          </p:cNvSpPr>
          <p:nvPr>
            <p:ph sz="quarter" idx="16"/>
          </p:nvPr>
        </p:nvSpPr>
        <p:spPr/>
        <p:txBody>
          <a:bodyPr/>
          <a:lstStyle/>
          <a:p>
            <a:r>
              <a:rPr lang="en-ID" dirty="0"/>
              <a:t>Apache Tez </a:t>
            </a:r>
            <a:r>
              <a:rPr lang="en-ID" dirty="0" err="1"/>
              <a:t>là</a:t>
            </a:r>
            <a:r>
              <a:rPr lang="en-ID" dirty="0"/>
              <a:t> </a:t>
            </a:r>
            <a:r>
              <a:rPr lang="en-ID" dirty="0" err="1"/>
              <a:t>một</a:t>
            </a:r>
            <a:r>
              <a:rPr lang="en-ID" dirty="0"/>
              <a:t> framework </a:t>
            </a:r>
            <a:r>
              <a:rPr lang="en-ID" dirty="0" err="1"/>
              <a:t>mã</a:t>
            </a:r>
            <a:r>
              <a:rPr lang="en-ID" dirty="0"/>
              <a:t> </a:t>
            </a:r>
            <a:r>
              <a:rPr lang="en-ID" dirty="0" err="1"/>
              <a:t>nguồn</a:t>
            </a:r>
            <a:r>
              <a:rPr lang="en-ID" dirty="0"/>
              <a:t> </a:t>
            </a:r>
            <a:r>
              <a:rPr lang="en-ID" dirty="0" err="1"/>
              <a:t>mở</a:t>
            </a:r>
            <a:r>
              <a:rPr lang="en-ID" dirty="0"/>
              <a:t> </a:t>
            </a:r>
            <a:r>
              <a:rPr lang="en-ID" dirty="0" err="1"/>
              <a:t>trên</a:t>
            </a:r>
            <a:r>
              <a:rPr lang="en-ID" dirty="0"/>
              <a:t> </a:t>
            </a:r>
            <a:r>
              <a:rPr lang="en-ID" dirty="0" err="1"/>
              <a:t>hệ</a:t>
            </a:r>
            <a:r>
              <a:rPr lang="en-ID" dirty="0"/>
              <a:t> </a:t>
            </a:r>
            <a:r>
              <a:rPr lang="en-ID" dirty="0" err="1"/>
              <a:t>sinh</a:t>
            </a:r>
            <a:r>
              <a:rPr lang="en-ID" dirty="0"/>
              <a:t> </a:t>
            </a:r>
            <a:r>
              <a:rPr lang="en-ID" dirty="0" err="1"/>
              <a:t>thái</a:t>
            </a:r>
            <a:r>
              <a:rPr lang="en-ID" dirty="0"/>
              <a:t> Hadoop, </a:t>
            </a:r>
            <a:r>
              <a:rPr lang="en-ID" dirty="0" err="1"/>
              <a:t>ra</a:t>
            </a:r>
            <a:r>
              <a:rPr lang="en-ID" dirty="0"/>
              <a:t> </a:t>
            </a:r>
            <a:r>
              <a:rPr lang="en-ID" dirty="0" err="1"/>
              <a:t>đời</a:t>
            </a:r>
            <a:r>
              <a:rPr lang="en-ID" dirty="0"/>
              <a:t> </a:t>
            </a:r>
            <a:r>
              <a:rPr lang="en-ID" dirty="0" err="1"/>
              <a:t>nhằm</a:t>
            </a:r>
            <a:r>
              <a:rPr lang="en-ID" dirty="0"/>
              <a:t> </a:t>
            </a:r>
            <a:r>
              <a:rPr lang="en-ID" dirty="0" err="1"/>
              <a:t>thay</a:t>
            </a:r>
            <a:r>
              <a:rPr lang="en-ID" dirty="0"/>
              <a:t> </a:t>
            </a:r>
            <a:r>
              <a:rPr lang="en-ID" dirty="0" err="1"/>
              <a:t>thế</a:t>
            </a:r>
            <a:r>
              <a:rPr lang="en-ID" dirty="0"/>
              <a:t> </a:t>
            </a:r>
            <a:r>
              <a:rPr lang="en-ID" dirty="0" err="1"/>
              <a:t>mô</a:t>
            </a:r>
            <a:r>
              <a:rPr lang="en-ID" dirty="0"/>
              <a:t> </a:t>
            </a:r>
            <a:r>
              <a:rPr lang="en-ID" dirty="0" err="1"/>
              <a:t>hình</a:t>
            </a:r>
            <a:r>
              <a:rPr lang="en-ID" dirty="0"/>
              <a:t> MapReduce </a:t>
            </a:r>
            <a:r>
              <a:rPr lang="en-ID" dirty="0" err="1"/>
              <a:t>thế</a:t>
            </a:r>
            <a:r>
              <a:rPr lang="en-ID" dirty="0"/>
              <a:t> </a:t>
            </a:r>
            <a:r>
              <a:rPr lang="en-ID" dirty="0" err="1"/>
              <a:t>hệ</a:t>
            </a:r>
            <a:r>
              <a:rPr lang="en-ID" dirty="0"/>
              <a:t> </a:t>
            </a:r>
            <a:r>
              <a:rPr lang="en-ID" dirty="0" err="1"/>
              <a:t>cũ</a:t>
            </a:r>
            <a:r>
              <a:rPr lang="en-ID" dirty="0"/>
              <a:t> </a:t>
            </a:r>
            <a:r>
              <a:rPr lang="en-ID" dirty="0" err="1"/>
              <a:t>có</a:t>
            </a:r>
            <a:r>
              <a:rPr lang="en-ID" dirty="0"/>
              <a:t> </a:t>
            </a:r>
            <a:r>
              <a:rPr lang="en-ID" dirty="0" err="1"/>
              <a:t>nhiều</a:t>
            </a:r>
            <a:r>
              <a:rPr lang="en-ID" dirty="0"/>
              <a:t> </a:t>
            </a:r>
            <a:r>
              <a:rPr lang="en-ID" dirty="0" err="1"/>
              <a:t>hạn</a:t>
            </a:r>
            <a:r>
              <a:rPr lang="en-ID" dirty="0"/>
              <a:t> </a:t>
            </a:r>
            <a:r>
              <a:rPr lang="en-ID" dirty="0" err="1"/>
              <a:t>chế</a:t>
            </a:r>
            <a:r>
              <a:rPr lang="en-ID" dirty="0"/>
              <a:t> </a:t>
            </a:r>
            <a:r>
              <a:rPr lang="en-ID" dirty="0" err="1"/>
              <a:t>khi</a:t>
            </a:r>
            <a:r>
              <a:rPr lang="en-ID" dirty="0"/>
              <a:t> </a:t>
            </a:r>
            <a:r>
              <a:rPr lang="en-ID" dirty="0" err="1"/>
              <a:t>xử</a:t>
            </a:r>
            <a:r>
              <a:rPr lang="en-ID" dirty="0"/>
              <a:t> </a:t>
            </a:r>
            <a:r>
              <a:rPr lang="en-ID" dirty="0" err="1"/>
              <a:t>lý</a:t>
            </a:r>
            <a:r>
              <a:rPr lang="en-ID" dirty="0"/>
              <a:t> </a:t>
            </a:r>
            <a:r>
              <a:rPr lang="en-ID" dirty="0" err="1"/>
              <a:t>các</a:t>
            </a:r>
            <a:r>
              <a:rPr lang="en-ID" dirty="0"/>
              <a:t> </a:t>
            </a:r>
            <a:r>
              <a:rPr lang="en-ID" dirty="0" err="1"/>
              <a:t>luồng</a:t>
            </a:r>
            <a:r>
              <a:rPr lang="en-ID" dirty="0"/>
              <a:t> </a:t>
            </a:r>
            <a:r>
              <a:rPr lang="en-ID" dirty="0" err="1"/>
              <a:t>dữ</a:t>
            </a:r>
            <a:r>
              <a:rPr lang="en-ID" dirty="0"/>
              <a:t> </a:t>
            </a:r>
            <a:r>
              <a:rPr lang="en-ID" dirty="0" err="1"/>
              <a:t>liệu</a:t>
            </a:r>
            <a:r>
              <a:rPr lang="en-ID" dirty="0"/>
              <a:t> </a:t>
            </a:r>
            <a:r>
              <a:rPr lang="en-ID" dirty="0" err="1"/>
              <a:t>phức</a:t>
            </a:r>
            <a:r>
              <a:rPr lang="en-ID" dirty="0"/>
              <a:t> </a:t>
            </a:r>
            <a:r>
              <a:rPr lang="en-ID" dirty="0" err="1"/>
              <a:t>tạp</a:t>
            </a:r>
            <a:r>
              <a:rPr lang="en-ID" dirty="0"/>
              <a:t>.</a:t>
            </a:r>
          </a:p>
          <a:p>
            <a:pPr marL="285750" indent="-285750">
              <a:buFont typeface="Arial" panose="020B0604020202020204" pitchFamily="34" charset="0"/>
              <a:buChar char="•"/>
            </a:pPr>
            <a:r>
              <a:rPr lang="en-ID" dirty="0" err="1"/>
              <a:t>Mô</a:t>
            </a:r>
            <a:r>
              <a:rPr lang="en-ID" dirty="0"/>
              <a:t> </a:t>
            </a:r>
            <a:r>
              <a:rPr lang="en-ID" dirty="0" err="1"/>
              <a:t>hình</a:t>
            </a:r>
            <a:r>
              <a:rPr lang="en-ID" dirty="0"/>
              <a:t> </a:t>
            </a:r>
            <a:r>
              <a:rPr lang="en-ID" dirty="0" err="1"/>
              <a:t>dữ</a:t>
            </a:r>
            <a:r>
              <a:rPr lang="en-ID" dirty="0"/>
              <a:t> </a:t>
            </a:r>
            <a:r>
              <a:rPr lang="en-ID" dirty="0" err="1"/>
              <a:t>liệu</a:t>
            </a:r>
            <a:r>
              <a:rPr lang="en-ID" dirty="0"/>
              <a:t> DAG (Directed Acyclic Graph)</a:t>
            </a:r>
          </a:p>
          <a:p>
            <a:pPr marL="285750" indent="-285750">
              <a:buFont typeface="Arial" panose="020B0604020202020204" pitchFamily="34" charset="0"/>
              <a:buChar char="•"/>
            </a:pPr>
            <a:r>
              <a:rPr lang="en-ID" dirty="0" err="1"/>
              <a:t>Bộ</a:t>
            </a:r>
            <a:r>
              <a:rPr lang="en-ID" dirty="0"/>
              <a:t> </a:t>
            </a:r>
            <a:r>
              <a:rPr lang="en-ID" dirty="0" err="1"/>
              <a:t>quản</a:t>
            </a:r>
            <a:r>
              <a:rPr lang="en-ID" dirty="0"/>
              <a:t> </a:t>
            </a:r>
            <a:r>
              <a:rPr lang="en-ID" dirty="0" err="1"/>
              <a:t>lý</a:t>
            </a:r>
            <a:r>
              <a:rPr lang="en-ID" dirty="0"/>
              <a:t> </a:t>
            </a:r>
            <a:r>
              <a:rPr lang="en-ID" dirty="0" err="1"/>
              <a:t>tài</a:t>
            </a:r>
            <a:r>
              <a:rPr lang="en-ID" dirty="0"/>
              <a:t> </a:t>
            </a:r>
            <a:r>
              <a:rPr lang="en-ID" dirty="0" err="1"/>
              <a:t>nguyên</a:t>
            </a:r>
            <a:r>
              <a:rPr lang="en-ID" dirty="0"/>
              <a:t> </a:t>
            </a:r>
            <a:r>
              <a:rPr lang="en-ID" dirty="0" err="1"/>
              <a:t>và</a:t>
            </a:r>
            <a:r>
              <a:rPr lang="en-ID" dirty="0"/>
              <a:t> </a:t>
            </a:r>
            <a:r>
              <a:rPr lang="en-ID" dirty="0" err="1"/>
              <a:t>điều</a:t>
            </a:r>
            <a:r>
              <a:rPr lang="en-ID" dirty="0"/>
              <a:t> </a:t>
            </a:r>
            <a:r>
              <a:rPr lang="en-ID" dirty="0" err="1"/>
              <a:t>phối</a:t>
            </a:r>
            <a:r>
              <a:rPr lang="en-ID" dirty="0"/>
              <a:t> </a:t>
            </a:r>
            <a:r>
              <a:rPr lang="en-ID" dirty="0" err="1"/>
              <a:t>tác</a:t>
            </a:r>
            <a:r>
              <a:rPr lang="en-ID" dirty="0"/>
              <a:t> </a:t>
            </a:r>
            <a:r>
              <a:rPr lang="en-ID" dirty="0" err="1"/>
              <a:t>vụ</a:t>
            </a:r>
            <a:r>
              <a:rPr lang="en-ID" dirty="0"/>
              <a:t> (Tez Engine &amp; AM)</a:t>
            </a:r>
          </a:p>
          <a:p>
            <a:pPr marL="285750" indent="-285750">
              <a:buFont typeface="Arial" panose="020B0604020202020204" pitchFamily="34" charset="0"/>
              <a:buChar char="•"/>
            </a:pPr>
            <a:r>
              <a:rPr lang="en-ID" dirty="0" err="1"/>
              <a:t>Khả</a:t>
            </a:r>
            <a:r>
              <a:rPr lang="en-ID" dirty="0"/>
              <a:t> </a:t>
            </a:r>
            <a:r>
              <a:rPr lang="en-ID" dirty="0" err="1"/>
              <a:t>năng</a:t>
            </a:r>
            <a:r>
              <a:rPr lang="en-ID" dirty="0"/>
              <a:t> </a:t>
            </a:r>
            <a:r>
              <a:rPr lang="en-ID" dirty="0" err="1"/>
              <a:t>tái</a:t>
            </a:r>
            <a:r>
              <a:rPr lang="en-ID" dirty="0"/>
              <a:t> </a:t>
            </a:r>
            <a:r>
              <a:rPr lang="en-ID" dirty="0" err="1"/>
              <a:t>cấu</a:t>
            </a:r>
            <a:r>
              <a:rPr lang="en-ID" dirty="0"/>
              <a:t> </a:t>
            </a:r>
            <a:r>
              <a:rPr lang="en-ID" dirty="0" err="1"/>
              <a:t>trúc</a:t>
            </a:r>
            <a:r>
              <a:rPr lang="en-ID" dirty="0"/>
              <a:t> </a:t>
            </a:r>
            <a:r>
              <a:rPr lang="en-ID" dirty="0" err="1"/>
              <a:t>đồ</a:t>
            </a:r>
            <a:r>
              <a:rPr lang="en-ID" dirty="0"/>
              <a:t> </a:t>
            </a:r>
            <a:r>
              <a:rPr lang="en-ID" dirty="0" err="1"/>
              <a:t>thị</a:t>
            </a:r>
            <a:r>
              <a:rPr lang="en-ID" dirty="0"/>
              <a:t> </a:t>
            </a:r>
            <a:r>
              <a:rPr lang="en-ID" dirty="0" err="1"/>
              <a:t>động</a:t>
            </a:r>
            <a:r>
              <a:rPr lang="en-ID" dirty="0"/>
              <a:t> (Dynamic Graph Reconfiguration)</a:t>
            </a:r>
          </a:p>
          <a:p>
            <a:endParaRPr lang="en-ID" dirty="0"/>
          </a:p>
        </p:txBody>
      </p:sp>
      <p:pic>
        <p:nvPicPr>
          <p:cNvPr id="14" name="Picture 13">
            <a:extLst>
              <a:ext uri="{FF2B5EF4-FFF2-40B4-BE49-F238E27FC236}">
                <a16:creationId xmlns:a16="http://schemas.microsoft.com/office/drawing/2014/main" id="{0433BEA7-DEDC-5038-63E0-C145A512FB34}"/>
              </a:ext>
            </a:extLst>
          </p:cNvPr>
          <p:cNvPicPr>
            <a:picLocks noChangeAspect="1"/>
          </p:cNvPicPr>
          <p:nvPr/>
        </p:nvPicPr>
        <p:blipFill>
          <a:blip r:embed="rId2">
            <a:extLst>
              <a:ext uri="{28A0092B-C50C-407E-A947-70E740481C1C}">
                <a14:useLocalDpi xmlns:a14="http://schemas.microsoft.com/office/drawing/2010/main" val="0"/>
              </a:ext>
            </a:extLst>
          </a:blip>
          <a:srcRect t="29762" b="30002"/>
          <a:stretch>
            <a:fillRect/>
          </a:stretch>
        </p:blipFill>
        <p:spPr>
          <a:xfrm>
            <a:off x="1614379" y="4876800"/>
            <a:ext cx="8960190" cy="1514170"/>
          </a:xfrm>
          <a:prstGeom prst="rect">
            <a:avLst/>
          </a:prstGeom>
        </p:spPr>
      </p:pic>
    </p:spTree>
    <p:extLst>
      <p:ext uri="{BB962C8B-B14F-4D97-AF65-F5344CB8AC3E}">
        <p14:creationId xmlns:p14="http://schemas.microsoft.com/office/powerpoint/2010/main" val="439944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E1213D0-9FD9-0EAF-1664-E6AFE43CDB3C}"/>
              </a:ext>
            </a:extLst>
          </p:cNvPr>
          <p:cNvSpPr>
            <a:spLocks noGrp="1"/>
          </p:cNvSpPr>
          <p:nvPr>
            <p:ph type="title"/>
          </p:nvPr>
        </p:nvSpPr>
        <p:spPr/>
        <p:txBody>
          <a:bodyPr/>
          <a:lstStyle/>
          <a:p>
            <a:r>
              <a:rPr lang="en-US" dirty="0"/>
              <a:t>Yarn</a:t>
            </a:r>
            <a:endParaRPr lang="en-ID" dirty="0"/>
          </a:p>
        </p:txBody>
      </p:sp>
      <p:sp>
        <p:nvSpPr>
          <p:cNvPr id="8" name="Content Placeholder 7">
            <a:extLst>
              <a:ext uri="{FF2B5EF4-FFF2-40B4-BE49-F238E27FC236}">
                <a16:creationId xmlns:a16="http://schemas.microsoft.com/office/drawing/2014/main" id="{782937A9-0D4F-91F0-596C-86FBF09D4193}"/>
              </a:ext>
            </a:extLst>
          </p:cNvPr>
          <p:cNvSpPr>
            <a:spLocks noGrp="1"/>
          </p:cNvSpPr>
          <p:nvPr>
            <p:ph idx="1"/>
          </p:nvPr>
        </p:nvSpPr>
        <p:spPr/>
        <p:txBody>
          <a:bodyPr/>
          <a:lstStyle/>
          <a:p>
            <a:r>
              <a:rPr lang="en-ID" dirty="0"/>
              <a:t>YARN (Yet Another Resource Negotiator) </a:t>
            </a:r>
            <a:r>
              <a:rPr lang="en-ID" dirty="0" err="1"/>
              <a:t>là</a:t>
            </a:r>
            <a:r>
              <a:rPr lang="en-ID" dirty="0"/>
              <a:t> </a:t>
            </a:r>
            <a:r>
              <a:rPr lang="en-ID" dirty="0" err="1"/>
              <a:t>hệ</a:t>
            </a:r>
            <a:r>
              <a:rPr lang="en-ID" dirty="0"/>
              <a:t> </a:t>
            </a:r>
            <a:r>
              <a:rPr lang="en-ID" dirty="0" err="1"/>
              <a:t>điều</a:t>
            </a:r>
            <a:r>
              <a:rPr lang="en-ID" dirty="0"/>
              <a:t> </a:t>
            </a:r>
            <a:r>
              <a:rPr lang="en-ID" dirty="0" err="1"/>
              <a:t>hành</a:t>
            </a:r>
            <a:r>
              <a:rPr lang="en-ID" dirty="0"/>
              <a:t> </a:t>
            </a:r>
            <a:r>
              <a:rPr lang="en-ID" dirty="0" err="1"/>
              <a:t>phân</a:t>
            </a:r>
            <a:r>
              <a:rPr lang="en-ID" dirty="0"/>
              <a:t> </a:t>
            </a:r>
            <a:r>
              <a:rPr lang="en-ID" dirty="0" err="1"/>
              <a:t>tán</a:t>
            </a:r>
            <a:r>
              <a:rPr lang="en-ID" dirty="0"/>
              <a:t> </a:t>
            </a:r>
            <a:r>
              <a:rPr lang="en-ID" dirty="0" err="1"/>
              <a:t>và</a:t>
            </a:r>
            <a:r>
              <a:rPr lang="en-ID" dirty="0"/>
              <a:t> </a:t>
            </a:r>
            <a:r>
              <a:rPr lang="en-ID" dirty="0" err="1"/>
              <a:t>lớp</a:t>
            </a:r>
            <a:r>
              <a:rPr lang="en-ID" dirty="0"/>
              <a:t> </a:t>
            </a:r>
            <a:r>
              <a:rPr lang="en-ID" dirty="0" err="1"/>
              <a:t>quản</a:t>
            </a:r>
            <a:r>
              <a:rPr lang="en-ID" dirty="0"/>
              <a:t> </a:t>
            </a:r>
            <a:r>
              <a:rPr lang="en-ID" dirty="0" err="1"/>
              <a:t>lý</a:t>
            </a:r>
            <a:r>
              <a:rPr lang="en-ID" dirty="0"/>
              <a:t> </a:t>
            </a:r>
            <a:r>
              <a:rPr lang="en-ID" dirty="0" err="1"/>
              <a:t>tài</a:t>
            </a:r>
            <a:r>
              <a:rPr lang="en-ID" dirty="0"/>
              <a:t> </a:t>
            </a:r>
            <a:r>
              <a:rPr lang="en-ID" dirty="0" err="1"/>
              <a:t>nguyên</a:t>
            </a:r>
            <a:r>
              <a:rPr lang="en-ID" dirty="0"/>
              <a:t> </a:t>
            </a:r>
            <a:r>
              <a:rPr lang="en-ID" dirty="0" err="1"/>
              <a:t>của</a:t>
            </a:r>
            <a:r>
              <a:rPr lang="en-ID" dirty="0"/>
              <a:t> Apache Hadoop </a:t>
            </a:r>
            <a:r>
              <a:rPr lang="en-ID" dirty="0" err="1"/>
              <a:t>từ</a:t>
            </a:r>
            <a:r>
              <a:rPr lang="en-ID" dirty="0"/>
              <a:t> </a:t>
            </a:r>
            <a:r>
              <a:rPr lang="en-ID" dirty="0" err="1"/>
              <a:t>phiên</a:t>
            </a:r>
            <a:r>
              <a:rPr lang="en-ID" dirty="0"/>
              <a:t> </a:t>
            </a:r>
            <a:r>
              <a:rPr lang="en-ID" dirty="0" err="1"/>
              <a:t>bản</a:t>
            </a:r>
            <a:r>
              <a:rPr lang="en-ID" dirty="0"/>
              <a:t> 2.0 </a:t>
            </a:r>
            <a:r>
              <a:rPr lang="en-ID" dirty="0" err="1"/>
              <a:t>trở</a:t>
            </a:r>
            <a:r>
              <a:rPr lang="en-ID" dirty="0"/>
              <a:t> </a:t>
            </a:r>
            <a:r>
              <a:rPr lang="en-ID" dirty="0" err="1"/>
              <a:t>đi</a:t>
            </a:r>
            <a:r>
              <a:rPr lang="en-ID" dirty="0"/>
              <a:t>. </a:t>
            </a:r>
            <a:r>
              <a:rPr lang="en-ID" dirty="0" err="1"/>
              <a:t>Nếu</a:t>
            </a:r>
            <a:r>
              <a:rPr lang="en-ID" dirty="0"/>
              <a:t> </a:t>
            </a:r>
            <a:r>
              <a:rPr lang="en-ID" dirty="0" err="1"/>
              <a:t>như</a:t>
            </a:r>
            <a:r>
              <a:rPr lang="en-ID" dirty="0"/>
              <a:t> </a:t>
            </a:r>
            <a:r>
              <a:rPr lang="en-ID" dirty="0" err="1"/>
              <a:t>máy</a:t>
            </a:r>
            <a:r>
              <a:rPr lang="en-ID" dirty="0"/>
              <a:t> </a:t>
            </a:r>
            <a:r>
              <a:rPr lang="en-ID" dirty="0" err="1"/>
              <a:t>tính</a:t>
            </a:r>
            <a:r>
              <a:rPr lang="en-ID" dirty="0"/>
              <a:t> </a:t>
            </a:r>
            <a:r>
              <a:rPr lang="en-ID" dirty="0" err="1"/>
              <a:t>cần</a:t>
            </a:r>
            <a:r>
              <a:rPr lang="en-ID" dirty="0"/>
              <a:t> Windows </a:t>
            </a:r>
            <a:r>
              <a:rPr lang="en-ID" dirty="0" err="1"/>
              <a:t>hoặc</a:t>
            </a:r>
            <a:r>
              <a:rPr lang="en-ID" dirty="0"/>
              <a:t> Mac OS </a:t>
            </a:r>
            <a:r>
              <a:rPr lang="en-ID" dirty="0" err="1"/>
              <a:t>để</a:t>
            </a:r>
            <a:r>
              <a:rPr lang="en-ID" dirty="0"/>
              <a:t> </a:t>
            </a:r>
            <a:r>
              <a:rPr lang="en-ID" dirty="0" err="1"/>
              <a:t>quản</a:t>
            </a:r>
            <a:r>
              <a:rPr lang="en-ID" dirty="0"/>
              <a:t> </a:t>
            </a:r>
            <a:r>
              <a:rPr lang="en-ID" dirty="0" err="1"/>
              <a:t>lý</a:t>
            </a:r>
            <a:r>
              <a:rPr lang="en-ID" dirty="0"/>
              <a:t> RAM, CPU </a:t>
            </a:r>
            <a:r>
              <a:rPr lang="en-ID" dirty="0" err="1"/>
              <a:t>và</a:t>
            </a:r>
            <a:r>
              <a:rPr lang="en-ID" dirty="0"/>
              <a:t> </a:t>
            </a:r>
            <a:r>
              <a:rPr lang="en-ID" dirty="0" err="1"/>
              <a:t>chạy</a:t>
            </a:r>
            <a:r>
              <a:rPr lang="en-ID" dirty="0"/>
              <a:t> </a:t>
            </a:r>
            <a:r>
              <a:rPr lang="en-ID" dirty="0" err="1"/>
              <a:t>các</a:t>
            </a:r>
            <a:r>
              <a:rPr lang="en-ID" dirty="0"/>
              <a:t> </a:t>
            </a:r>
            <a:r>
              <a:rPr lang="en-ID" dirty="0" err="1"/>
              <a:t>phần</a:t>
            </a:r>
            <a:r>
              <a:rPr lang="en-ID" dirty="0"/>
              <a:t> </a:t>
            </a:r>
            <a:r>
              <a:rPr lang="en-ID" dirty="0" err="1"/>
              <a:t>mềm</a:t>
            </a:r>
            <a:r>
              <a:rPr lang="en-ID" dirty="0"/>
              <a:t>, </a:t>
            </a:r>
            <a:r>
              <a:rPr lang="en-ID" dirty="0" err="1"/>
              <a:t>thì</a:t>
            </a:r>
            <a:r>
              <a:rPr lang="en-ID" dirty="0"/>
              <a:t> </a:t>
            </a:r>
            <a:r>
              <a:rPr lang="en-ID" dirty="0" err="1"/>
              <a:t>một</a:t>
            </a:r>
            <a:r>
              <a:rPr lang="en-ID" dirty="0"/>
              <a:t> </a:t>
            </a:r>
            <a:r>
              <a:rPr lang="en-ID" dirty="0" err="1"/>
              <a:t>cụm</a:t>
            </a:r>
            <a:r>
              <a:rPr lang="en-ID" dirty="0"/>
              <a:t> </a:t>
            </a:r>
            <a:r>
              <a:rPr lang="en-ID" dirty="0" err="1"/>
              <a:t>hàm</a:t>
            </a:r>
            <a:r>
              <a:rPr lang="en-ID" dirty="0"/>
              <a:t> </a:t>
            </a:r>
            <a:r>
              <a:rPr lang="en-ID" dirty="0" err="1"/>
              <a:t>trăm</a:t>
            </a:r>
            <a:r>
              <a:rPr lang="en-ID" dirty="0"/>
              <a:t> </a:t>
            </a:r>
            <a:r>
              <a:rPr lang="en-ID" dirty="0" err="1"/>
              <a:t>hàng</a:t>
            </a:r>
            <a:r>
              <a:rPr lang="en-ID" dirty="0"/>
              <a:t> </a:t>
            </a:r>
            <a:r>
              <a:rPr lang="en-ID" dirty="0" err="1"/>
              <a:t>ngàn</a:t>
            </a:r>
            <a:r>
              <a:rPr lang="en-ID" dirty="0"/>
              <a:t> </a:t>
            </a:r>
            <a:r>
              <a:rPr lang="en-ID" dirty="0" err="1"/>
              <a:t>máy</a:t>
            </a:r>
            <a:r>
              <a:rPr lang="en-ID" dirty="0"/>
              <a:t> </a:t>
            </a:r>
            <a:r>
              <a:rPr lang="en-ID" dirty="0" err="1"/>
              <a:t>chủ</a:t>
            </a:r>
            <a:r>
              <a:rPr lang="en-ID" dirty="0"/>
              <a:t> Hadoop </a:t>
            </a:r>
            <a:r>
              <a:rPr lang="en-ID" dirty="0" err="1"/>
              <a:t>cần</a:t>
            </a:r>
            <a:r>
              <a:rPr lang="en-ID" dirty="0"/>
              <a:t> YARN </a:t>
            </a:r>
            <a:r>
              <a:rPr lang="en-ID" dirty="0" err="1"/>
              <a:t>để</a:t>
            </a:r>
            <a:r>
              <a:rPr lang="en-ID" dirty="0"/>
              <a:t> </a:t>
            </a:r>
            <a:r>
              <a:rPr lang="en-ID" dirty="0" err="1"/>
              <a:t>quản</a:t>
            </a:r>
            <a:r>
              <a:rPr lang="en-ID" dirty="0"/>
              <a:t> </a:t>
            </a:r>
            <a:r>
              <a:rPr lang="en-ID" dirty="0" err="1"/>
              <a:t>lý</a:t>
            </a:r>
            <a:r>
              <a:rPr lang="en-ID" dirty="0"/>
              <a:t> </a:t>
            </a:r>
            <a:r>
              <a:rPr lang="en-ID" dirty="0" err="1"/>
              <a:t>tài</a:t>
            </a:r>
            <a:r>
              <a:rPr lang="en-ID" dirty="0"/>
              <a:t> </a:t>
            </a:r>
            <a:r>
              <a:rPr lang="en-ID" dirty="0" err="1"/>
              <a:t>nguyên</a:t>
            </a:r>
            <a:r>
              <a:rPr lang="en-ID" dirty="0"/>
              <a:t> </a:t>
            </a:r>
            <a:r>
              <a:rPr lang="en-ID" dirty="0" err="1"/>
              <a:t>của</a:t>
            </a:r>
            <a:r>
              <a:rPr lang="en-ID" dirty="0"/>
              <a:t> </a:t>
            </a:r>
            <a:r>
              <a:rPr lang="en-ID" dirty="0" err="1"/>
              <a:t>toàn</a:t>
            </a:r>
            <a:r>
              <a:rPr lang="en-ID" dirty="0"/>
              <a:t> </a:t>
            </a:r>
            <a:r>
              <a:rPr lang="en-ID" dirty="0" err="1"/>
              <a:t>bộ</a:t>
            </a:r>
            <a:r>
              <a:rPr lang="en-ID" dirty="0"/>
              <a:t> </a:t>
            </a:r>
            <a:r>
              <a:rPr lang="en-ID" dirty="0" err="1"/>
              <a:t>các</a:t>
            </a:r>
            <a:r>
              <a:rPr lang="en-ID" dirty="0"/>
              <a:t> </a:t>
            </a:r>
            <a:r>
              <a:rPr lang="en-ID" dirty="0" err="1"/>
              <a:t>máy</a:t>
            </a:r>
            <a:r>
              <a:rPr lang="en-ID" dirty="0"/>
              <a:t> </a:t>
            </a:r>
            <a:r>
              <a:rPr lang="en-ID" dirty="0" err="1"/>
              <a:t>chủ</a:t>
            </a:r>
            <a:r>
              <a:rPr lang="en-ID" dirty="0"/>
              <a:t> </a:t>
            </a:r>
            <a:r>
              <a:rPr lang="en-ID" dirty="0" err="1"/>
              <a:t>đó</a:t>
            </a:r>
            <a:r>
              <a:rPr lang="en-ID" dirty="0"/>
              <a:t> </a:t>
            </a:r>
            <a:r>
              <a:rPr lang="en-ID" dirty="0" err="1"/>
              <a:t>và</a:t>
            </a:r>
            <a:r>
              <a:rPr lang="en-ID" dirty="0"/>
              <a:t> </a:t>
            </a:r>
            <a:r>
              <a:rPr lang="en-ID" dirty="0" err="1"/>
              <a:t>chạy</a:t>
            </a:r>
            <a:r>
              <a:rPr lang="en-ID" dirty="0"/>
              <a:t> </a:t>
            </a:r>
            <a:r>
              <a:rPr lang="en-ID" dirty="0" err="1"/>
              <a:t>các</a:t>
            </a:r>
            <a:r>
              <a:rPr lang="en-ID" dirty="0"/>
              <a:t> </a:t>
            </a:r>
            <a:r>
              <a:rPr lang="en-ID" dirty="0" err="1"/>
              <a:t>ứng</a:t>
            </a:r>
            <a:r>
              <a:rPr lang="en-ID" dirty="0"/>
              <a:t> </a:t>
            </a:r>
            <a:r>
              <a:rPr lang="en-ID" dirty="0" err="1"/>
              <a:t>dụng</a:t>
            </a:r>
            <a:r>
              <a:rPr lang="en-ID" dirty="0"/>
              <a:t> </a:t>
            </a:r>
            <a:r>
              <a:rPr lang="en-ID" dirty="0" err="1"/>
              <a:t>dữ</a:t>
            </a:r>
            <a:r>
              <a:rPr lang="en-ID" dirty="0"/>
              <a:t> </a:t>
            </a:r>
            <a:r>
              <a:rPr lang="en-ID" dirty="0" err="1"/>
              <a:t>liệu</a:t>
            </a:r>
            <a:r>
              <a:rPr lang="en-ID" dirty="0"/>
              <a:t> </a:t>
            </a:r>
            <a:r>
              <a:rPr lang="en-ID" dirty="0" err="1"/>
              <a:t>lớn</a:t>
            </a:r>
            <a:r>
              <a:rPr lang="en-ID" dirty="0"/>
              <a:t>. Trong </a:t>
            </a:r>
            <a:r>
              <a:rPr lang="en-ID" dirty="0" err="1"/>
              <a:t>kiến</a:t>
            </a:r>
            <a:r>
              <a:rPr lang="en-ID" dirty="0"/>
              <a:t> </a:t>
            </a:r>
            <a:r>
              <a:rPr lang="en-ID" dirty="0" err="1"/>
              <a:t>trúc</a:t>
            </a:r>
            <a:r>
              <a:rPr lang="en-ID" dirty="0"/>
              <a:t> Hadoop </a:t>
            </a:r>
            <a:r>
              <a:rPr lang="en-ID" dirty="0" err="1"/>
              <a:t>hiện</a:t>
            </a:r>
            <a:r>
              <a:rPr lang="en-ID" dirty="0"/>
              <a:t> </a:t>
            </a:r>
            <a:r>
              <a:rPr lang="en-ID" dirty="0" err="1"/>
              <a:t>đại</a:t>
            </a:r>
            <a:r>
              <a:rPr lang="en-ID" dirty="0"/>
              <a:t>, YARN </a:t>
            </a:r>
            <a:r>
              <a:rPr lang="en-ID" dirty="0" err="1"/>
              <a:t>đóng</a:t>
            </a:r>
            <a:r>
              <a:rPr lang="en-ID" dirty="0"/>
              <a:t> </a:t>
            </a:r>
            <a:r>
              <a:rPr lang="en-ID" dirty="0" err="1"/>
              <a:t>vai</a:t>
            </a:r>
            <a:r>
              <a:rPr lang="en-ID" dirty="0"/>
              <a:t> </a:t>
            </a:r>
            <a:r>
              <a:rPr lang="en-ID" dirty="0" err="1"/>
              <a:t>trò</a:t>
            </a:r>
            <a:r>
              <a:rPr lang="en-ID" dirty="0"/>
              <a:t> </a:t>
            </a:r>
            <a:r>
              <a:rPr lang="en-ID" dirty="0" err="1"/>
              <a:t>là</a:t>
            </a:r>
            <a:r>
              <a:rPr lang="en-ID" dirty="0"/>
              <a:t> </a:t>
            </a:r>
            <a:r>
              <a:rPr lang="en-ID" dirty="0" err="1"/>
              <a:t>cầu</a:t>
            </a:r>
            <a:r>
              <a:rPr lang="en-ID" dirty="0"/>
              <a:t> </a:t>
            </a:r>
            <a:r>
              <a:rPr lang="en-ID" dirty="0" err="1"/>
              <a:t>nối</a:t>
            </a:r>
            <a:r>
              <a:rPr lang="en-ID" dirty="0"/>
              <a:t> </a:t>
            </a:r>
            <a:r>
              <a:rPr lang="en-ID" dirty="0" err="1"/>
              <a:t>và</a:t>
            </a:r>
            <a:r>
              <a:rPr lang="en-ID" dirty="0"/>
              <a:t> </a:t>
            </a:r>
            <a:r>
              <a:rPr lang="en-ID" dirty="0" err="1"/>
              <a:t>trọng</a:t>
            </a:r>
            <a:r>
              <a:rPr lang="en-ID" dirty="0"/>
              <a:t> </a:t>
            </a:r>
            <a:r>
              <a:rPr lang="en-ID" dirty="0" err="1"/>
              <a:t>tài</a:t>
            </a:r>
            <a:r>
              <a:rPr lang="en-ID" dirty="0"/>
              <a:t> </a:t>
            </a:r>
            <a:r>
              <a:rPr lang="en-ID" dirty="0" err="1"/>
              <a:t>đứng</a:t>
            </a:r>
            <a:r>
              <a:rPr lang="en-ID" dirty="0"/>
              <a:t> </a:t>
            </a:r>
            <a:r>
              <a:rPr lang="en-ID" dirty="0" err="1"/>
              <a:t>giữa</a:t>
            </a:r>
            <a:r>
              <a:rPr lang="en-ID" dirty="0"/>
              <a:t> </a:t>
            </a:r>
            <a:r>
              <a:rPr lang="en-ID" dirty="0" err="1"/>
              <a:t>tầng</a:t>
            </a:r>
            <a:r>
              <a:rPr lang="en-ID" dirty="0"/>
              <a:t> </a:t>
            </a:r>
            <a:r>
              <a:rPr lang="en-ID" dirty="0" err="1"/>
              <a:t>lưu</a:t>
            </a:r>
            <a:r>
              <a:rPr lang="en-ID" dirty="0"/>
              <a:t> </a:t>
            </a:r>
            <a:r>
              <a:rPr lang="en-ID" dirty="0" err="1"/>
              <a:t>trữ</a:t>
            </a:r>
            <a:r>
              <a:rPr lang="en-ID" dirty="0"/>
              <a:t> </a:t>
            </a:r>
            <a:r>
              <a:rPr lang="en-ID" dirty="0" err="1"/>
              <a:t>dữ</a:t>
            </a:r>
            <a:r>
              <a:rPr lang="en-ID" dirty="0"/>
              <a:t> </a:t>
            </a:r>
            <a:r>
              <a:rPr lang="en-ID" dirty="0" err="1"/>
              <a:t>liệu</a:t>
            </a:r>
            <a:r>
              <a:rPr lang="en-ID" dirty="0"/>
              <a:t> </a:t>
            </a:r>
            <a:r>
              <a:rPr lang="en-ID" dirty="0" err="1"/>
              <a:t>và</a:t>
            </a:r>
            <a:r>
              <a:rPr lang="en-ID" dirty="0"/>
              <a:t> </a:t>
            </a:r>
            <a:r>
              <a:rPr lang="en-ID" dirty="0" err="1"/>
              <a:t>xử</a:t>
            </a:r>
            <a:r>
              <a:rPr lang="en-ID" dirty="0"/>
              <a:t> </a:t>
            </a:r>
            <a:r>
              <a:rPr lang="en-ID" dirty="0" err="1"/>
              <a:t>lý</a:t>
            </a:r>
            <a:r>
              <a:rPr lang="en-ID" dirty="0"/>
              <a:t> </a:t>
            </a:r>
            <a:r>
              <a:rPr lang="en-ID" dirty="0" err="1"/>
              <a:t>dữ</a:t>
            </a:r>
            <a:r>
              <a:rPr lang="en-ID" dirty="0"/>
              <a:t> </a:t>
            </a:r>
            <a:r>
              <a:rPr lang="en-ID" dirty="0" err="1"/>
              <a:t>liệu</a:t>
            </a:r>
            <a:r>
              <a:rPr lang="en-ID" dirty="0"/>
              <a:t>.</a:t>
            </a:r>
          </a:p>
        </p:txBody>
      </p:sp>
      <p:pic>
        <p:nvPicPr>
          <p:cNvPr id="10" name="Picture 9">
            <a:extLst>
              <a:ext uri="{FF2B5EF4-FFF2-40B4-BE49-F238E27FC236}">
                <a16:creationId xmlns:a16="http://schemas.microsoft.com/office/drawing/2014/main" id="{4A43B89D-E203-D8E6-E000-893C55B189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4150" y="3276600"/>
            <a:ext cx="6743700" cy="2690736"/>
          </a:xfrm>
          <a:prstGeom prst="rect">
            <a:avLst/>
          </a:prstGeom>
        </p:spPr>
      </p:pic>
    </p:spTree>
    <p:extLst>
      <p:ext uri="{BB962C8B-B14F-4D97-AF65-F5344CB8AC3E}">
        <p14:creationId xmlns:p14="http://schemas.microsoft.com/office/powerpoint/2010/main" val="2144850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85223-15C5-E839-9744-E072EFC92437}"/>
              </a:ext>
            </a:extLst>
          </p:cNvPr>
          <p:cNvSpPr>
            <a:spLocks noGrp="1"/>
          </p:cNvSpPr>
          <p:nvPr>
            <p:ph type="title"/>
          </p:nvPr>
        </p:nvSpPr>
        <p:spPr/>
        <p:txBody>
          <a:bodyPr/>
          <a:lstStyle/>
          <a:p>
            <a:r>
              <a:rPr lang="en-US" dirty="0" err="1"/>
              <a:t>Kiến</a:t>
            </a:r>
            <a:r>
              <a:rPr lang="en-US" dirty="0"/>
              <a:t> </a:t>
            </a:r>
            <a:r>
              <a:rPr lang="en-US" dirty="0" err="1"/>
              <a:t>trúc</a:t>
            </a:r>
            <a:r>
              <a:rPr lang="en-US" dirty="0"/>
              <a:t> </a:t>
            </a:r>
            <a:r>
              <a:rPr lang="en-US" dirty="0" err="1"/>
              <a:t>và</a:t>
            </a:r>
            <a:r>
              <a:rPr lang="en-US" dirty="0"/>
              <a:t> </a:t>
            </a:r>
            <a:r>
              <a:rPr lang="en-US" dirty="0" err="1"/>
              <a:t>vai</a:t>
            </a:r>
            <a:r>
              <a:rPr lang="en-US" dirty="0"/>
              <a:t> </a:t>
            </a:r>
            <a:r>
              <a:rPr lang="en-US" dirty="0" err="1"/>
              <a:t>trò</a:t>
            </a:r>
            <a:r>
              <a:rPr lang="en-US" dirty="0"/>
              <a:t> </a:t>
            </a:r>
            <a:r>
              <a:rPr lang="en-US" dirty="0" err="1"/>
              <a:t>của</a:t>
            </a:r>
            <a:r>
              <a:rPr lang="en-US" dirty="0"/>
              <a:t> yarn</a:t>
            </a:r>
            <a:endParaRPr lang="en-ID" dirty="0"/>
          </a:p>
        </p:txBody>
      </p:sp>
      <p:sp>
        <p:nvSpPr>
          <p:cNvPr id="3" name="Content Placeholder 2">
            <a:extLst>
              <a:ext uri="{FF2B5EF4-FFF2-40B4-BE49-F238E27FC236}">
                <a16:creationId xmlns:a16="http://schemas.microsoft.com/office/drawing/2014/main" id="{A0F6547B-1D40-4E61-0053-F38F0A8A770A}"/>
              </a:ext>
            </a:extLst>
          </p:cNvPr>
          <p:cNvSpPr>
            <a:spLocks noGrp="1"/>
          </p:cNvSpPr>
          <p:nvPr>
            <p:ph idx="1"/>
          </p:nvPr>
        </p:nvSpPr>
        <p:spPr/>
        <p:txBody>
          <a:bodyPr/>
          <a:lstStyle/>
          <a:p>
            <a:r>
              <a:rPr lang="en-ID" dirty="0"/>
              <a:t>YARN </a:t>
            </a:r>
            <a:r>
              <a:rPr lang="en-ID" dirty="0" err="1"/>
              <a:t>hoạt</a:t>
            </a:r>
            <a:r>
              <a:rPr lang="en-ID" dirty="0"/>
              <a:t> </a:t>
            </a:r>
            <a:r>
              <a:rPr lang="en-ID" dirty="0" err="1"/>
              <a:t>động</a:t>
            </a:r>
            <a:r>
              <a:rPr lang="en-ID" dirty="0"/>
              <a:t> </a:t>
            </a:r>
            <a:r>
              <a:rPr lang="en-ID" dirty="0" err="1"/>
              <a:t>theo</a:t>
            </a:r>
            <a:r>
              <a:rPr lang="en-ID" dirty="0"/>
              <a:t> </a:t>
            </a:r>
            <a:r>
              <a:rPr lang="en-ID" dirty="0" err="1"/>
              <a:t>mô</a:t>
            </a:r>
            <a:r>
              <a:rPr lang="en-ID" dirty="0"/>
              <a:t> </a:t>
            </a:r>
            <a:r>
              <a:rPr lang="en-ID" dirty="0" err="1"/>
              <a:t>hình</a:t>
            </a:r>
            <a:r>
              <a:rPr lang="en-ID" dirty="0"/>
              <a:t> Master-Slave </a:t>
            </a:r>
            <a:r>
              <a:rPr lang="en-ID" dirty="0" err="1"/>
              <a:t>với</a:t>
            </a:r>
            <a:r>
              <a:rPr lang="en-ID" dirty="0"/>
              <a:t> </a:t>
            </a:r>
            <a:r>
              <a:rPr lang="en-ID" dirty="0" err="1"/>
              <a:t>hai</a:t>
            </a:r>
            <a:r>
              <a:rPr lang="en-ID" dirty="0"/>
              <a:t> </a:t>
            </a:r>
            <a:r>
              <a:rPr lang="en-ID" dirty="0" err="1"/>
              <a:t>thành</a:t>
            </a:r>
            <a:r>
              <a:rPr lang="en-ID" dirty="0"/>
              <a:t> </a:t>
            </a:r>
            <a:r>
              <a:rPr lang="en-ID" dirty="0" err="1"/>
              <a:t>phần</a:t>
            </a:r>
            <a:r>
              <a:rPr lang="en-ID" dirty="0"/>
              <a:t> </a:t>
            </a:r>
            <a:r>
              <a:rPr lang="en-ID" dirty="0" err="1"/>
              <a:t>quản</a:t>
            </a:r>
            <a:r>
              <a:rPr lang="en-ID" dirty="0"/>
              <a:t> </a:t>
            </a:r>
            <a:r>
              <a:rPr lang="en-ID" dirty="0" err="1"/>
              <a:t>lý</a:t>
            </a:r>
            <a:r>
              <a:rPr lang="en-ID" dirty="0"/>
              <a:t> </a:t>
            </a:r>
            <a:r>
              <a:rPr lang="en-ID" dirty="0" err="1"/>
              <a:t>hạ</a:t>
            </a:r>
            <a:r>
              <a:rPr lang="en-ID" dirty="0"/>
              <a:t> </a:t>
            </a:r>
            <a:r>
              <a:rPr lang="en-ID" dirty="0" err="1"/>
              <a:t>tầng</a:t>
            </a:r>
            <a:r>
              <a:rPr lang="en-ID" dirty="0"/>
              <a:t> </a:t>
            </a:r>
            <a:r>
              <a:rPr lang="en-ID" dirty="0" err="1"/>
              <a:t>cố</a:t>
            </a:r>
            <a:r>
              <a:rPr lang="en-ID" dirty="0"/>
              <a:t> </a:t>
            </a:r>
            <a:r>
              <a:rPr lang="en-ID" dirty="0" err="1"/>
              <a:t>định</a:t>
            </a:r>
            <a:r>
              <a:rPr lang="en-ID" dirty="0"/>
              <a:t> </a:t>
            </a:r>
            <a:r>
              <a:rPr lang="en-ID" dirty="0" err="1"/>
              <a:t>và</a:t>
            </a:r>
            <a:r>
              <a:rPr lang="en-ID" dirty="0"/>
              <a:t> </a:t>
            </a:r>
            <a:r>
              <a:rPr lang="en-ID" dirty="0" err="1"/>
              <a:t>một</a:t>
            </a:r>
            <a:r>
              <a:rPr lang="en-ID" dirty="0"/>
              <a:t> </a:t>
            </a:r>
            <a:r>
              <a:rPr lang="en-ID" dirty="0" err="1"/>
              <a:t>phần</a:t>
            </a:r>
            <a:r>
              <a:rPr lang="en-ID" dirty="0"/>
              <a:t> </a:t>
            </a:r>
            <a:r>
              <a:rPr lang="en-ID" dirty="0" err="1"/>
              <a:t>linh</a:t>
            </a:r>
            <a:r>
              <a:rPr lang="en-ID" dirty="0"/>
              <a:t> </a:t>
            </a:r>
            <a:r>
              <a:rPr lang="en-ID" dirty="0" err="1"/>
              <a:t>hoạt</a:t>
            </a:r>
            <a:r>
              <a:rPr lang="en-ID" dirty="0"/>
              <a:t> </a:t>
            </a:r>
            <a:r>
              <a:rPr lang="en-ID" dirty="0" err="1"/>
              <a:t>theo</a:t>
            </a:r>
            <a:r>
              <a:rPr lang="en-ID" dirty="0"/>
              <a:t> </a:t>
            </a:r>
            <a:r>
              <a:rPr lang="en-ID" dirty="0" err="1"/>
              <a:t>ứng</a:t>
            </a:r>
            <a:r>
              <a:rPr lang="en-ID" dirty="0"/>
              <a:t> </a:t>
            </a:r>
            <a:r>
              <a:rPr lang="en-ID" dirty="0" err="1"/>
              <a:t>dụng</a:t>
            </a:r>
            <a:r>
              <a:rPr lang="en-ID" dirty="0"/>
              <a:t>:</a:t>
            </a:r>
          </a:p>
          <a:p>
            <a:pPr marL="285750" indent="-285750">
              <a:buFont typeface="Arial" panose="020B0604020202020204" pitchFamily="34" charset="0"/>
              <a:buChar char="•"/>
            </a:pPr>
            <a:r>
              <a:rPr lang="en-ID" dirty="0" err="1"/>
              <a:t>ResourceManager</a:t>
            </a:r>
            <a:r>
              <a:rPr lang="en-ID" dirty="0"/>
              <a:t> (RM), </a:t>
            </a:r>
            <a:r>
              <a:rPr lang="en-ID" dirty="0" err="1"/>
              <a:t>trong</a:t>
            </a:r>
            <a:r>
              <a:rPr lang="en-ID" dirty="0"/>
              <a:t> </a:t>
            </a:r>
            <a:r>
              <a:rPr lang="en-ID" dirty="0" err="1"/>
              <a:t>đó</a:t>
            </a:r>
            <a:r>
              <a:rPr lang="en-ID" dirty="0"/>
              <a:t> </a:t>
            </a:r>
            <a:r>
              <a:rPr lang="en-ID" dirty="0" err="1"/>
              <a:t>có</a:t>
            </a:r>
            <a:r>
              <a:rPr lang="en-ID" dirty="0"/>
              <a:t> Scheduler </a:t>
            </a:r>
            <a:r>
              <a:rPr lang="en-ID" dirty="0" err="1"/>
              <a:t>và</a:t>
            </a:r>
            <a:r>
              <a:rPr lang="en-ID" dirty="0"/>
              <a:t> </a:t>
            </a:r>
            <a:r>
              <a:rPr lang="en-ID" dirty="0" err="1"/>
              <a:t>ApplicationsManager</a:t>
            </a:r>
            <a:r>
              <a:rPr lang="en-ID" dirty="0"/>
              <a:t> (</a:t>
            </a:r>
            <a:r>
              <a:rPr lang="en-ID" dirty="0" err="1"/>
              <a:t>AsM</a:t>
            </a:r>
            <a:r>
              <a:rPr lang="en-ID" dirty="0"/>
              <a:t>)</a:t>
            </a:r>
          </a:p>
          <a:p>
            <a:pPr marL="285750" indent="-285750">
              <a:buFont typeface="Arial" panose="020B0604020202020204" pitchFamily="34" charset="0"/>
              <a:buChar char="•"/>
            </a:pPr>
            <a:r>
              <a:rPr lang="en-ID" dirty="0" err="1"/>
              <a:t>NodeManager</a:t>
            </a:r>
            <a:r>
              <a:rPr lang="en-ID" dirty="0"/>
              <a:t> (NM)</a:t>
            </a:r>
          </a:p>
          <a:p>
            <a:pPr marL="285750" indent="-285750">
              <a:buFont typeface="Arial" panose="020B0604020202020204" pitchFamily="34" charset="0"/>
              <a:buChar char="•"/>
            </a:pPr>
            <a:r>
              <a:rPr lang="en-ID" dirty="0" err="1"/>
              <a:t>ApplicationMaster</a:t>
            </a:r>
            <a:r>
              <a:rPr lang="en-ID" dirty="0"/>
              <a:t> (AM)</a:t>
            </a:r>
          </a:p>
          <a:p>
            <a:pPr marL="285750" indent="-285750">
              <a:buFont typeface="Arial" panose="020B0604020202020204" pitchFamily="34" charset="0"/>
              <a:buChar char="•"/>
            </a:pPr>
            <a:r>
              <a:rPr lang="en-ID" dirty="0"/>
              <a:t>Container (</a:t>
            </a:r>
            <a:r>
              <a:rPr lang="en-ID" dirty="0" err="1"/>
              <a:t>Thùng</a:t>
            </a:r>
            <a:r>
              <a:rPr lang="en-ID" dirty="0"/>
              <a:t> </a:t>
            </a:r>
            <a:r>
              <a:rPr lang="en-ID" dirty="0" err="1"/>
              <a:t>chứa</a:t>
            </a:r>
            <a:r>
              <a:rPr lang="en-ID" dirty="0"/>
              <a:t> </a:t>
            </a:r>
            <a:r>
              <a:rPr lang="en-ID" dirty="0" err="1"/>
              <a:t>tài</a:t>
            </a:r>
            <a:r>
              <a:rPr lang="en-ID" dirty="0"/>
              <a:t> </a:t>
            </a:r>
            <a:r>
              <a:rPr lang="en-ID" dirty="0" err="1"/>
              <a:t>nguyên</a:t>
            </a:r>
            <a:r>
              <a:rPr lang="en-ID" dirty="0"/>
              <a:t>)</a:t>
            </a:r>
          </a:p>
        </p:txBody>
      </p:sp>
      <p:pic>
        <p:nvPicPr>
          <p:cNvPr id="5" name="Picture 4">
            <a:extLst>
              <a:ext uri="{FF2B5EF4-FFF2-40B4-BE49-F238E27FC236}">
                <a16:creationId xmlns:a16="http://schemas.microsoft.com/office/drawing/2014/main" id="{DB611F1B-ABAD-0339-A094-316953B243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7800" y="2590800"/>
            <a:ext cx="5347710" cy="3892030"/>
          </a:xfrm>
          <a:prstGeom prst="rect">
            <a:avLst/>
          </a:prstGeom>
        </p:spPr>
      </p:pic>
    </p:spTree>
    <p:extLst>
      <p:ext uri="{BB962C8B-B14F-4D97-AF65-F5344CB8AC3E}">
        <p14:creationId xmlns:p14="http://schemas.microsoft.com/office/powerpoint/2010/main" val="1618494707"/>
      </p:ext>
    </p:extLst>
  </p:cSld>
  <p:clrMapOvr>
    <a:masterClrMapping/>
  </p:clrMapOvr>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fcaeb239-e0ad-43c4-9739-4084ddd7c62f_wac_v2" id="{21E82CDE-DB0F-446A-AB1C-C548E4C4E61C}" vid="{FC4C4127-EA88-45F9-9442-09B36E6C91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EA42C18-4C38-43BB-8CE3-C963EDA9CBB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CC3B381C-6232-408C-B65A-8475398E4C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DE0AE46-2EED-447A-8B24-DFD65B70D448}">
  <ds:schemaRefs>
    <ds:schemaRef ds:uri="http://schemas.microsoft.com/sharepoint/v3/contenttype/forms"/>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{7DAA69D8-4081-41AA-AF90-59615CB54555}0f45c1b8-b519-4737-8f12-a18148944ef7-TFfcaeb239-e0ad-43c4-9739-4084ddd7c62fe496f549_win32</Template>
  <TotalTime>762</TotalTime>
  <Words>1093</Words>
  <Application>Microsoft Office PowerPoint</Application>
  <PresentationFormat>Widescreen</PresentationFormat>
  <Paragraphs>64</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Bahnschrift SemiLight</vt:lpstr>
      <vt:lpstr>Blockwork elegance</vt:lpstr>
      <vt:lpstr>Xử lý phân tán</vt:lpstr>
      <vt:lpstr>Mục lục</vt:lpstr>
      <vt:lpstr>Cơ chế xử lý phân tán</vt:lpstr>
      <vt:lpstr>Data ingestion</vt:lpstr>
      <vt:lpstr>Batch processing</vt:lpstr>
      <vt:lpstr>Real-time processing</vt:lpstr>
      <vt:lpstr>cdc</vt:lpstr>
      <vt:lpstr>hybrid</vt:lpstr>
      <vt:lpstr>Etl vs ELT pipeline</vt:lpstr>
      <vt:lpstr>mapreduce</vt:lpstr>
      <vt:lpstr>So sánh mapreduce và tez</vt:lpstr>
      <vt:lpstr>Yarn</vt:lpstr>
      <vt:lpstr>Kiến trúc và vai trò của yarn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 Anh Quan  (S.CECS)</dc:creator>
  <cp:lastModifiedBy>Le Anh Quan  (S.CECS)</cp:lastModifiedBy>
  <cp:revision>1</cp:revision>
  <dcterms:created xsi:type="dcterms:W3CDTF">2026-07-23T13:38:05Z</dcterms:created>
  <dcterms:modified xsi:type="dcterms:W3CDTF">2026-07-24T02:20:42Z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