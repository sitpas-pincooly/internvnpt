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1"/>
  </p:notesMasterIdLst>
  <p:handoutMasterIdLst>
    <p:handoutMasterId r:id="rId22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7/14/2026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8150354" cy="4007406"/>
          </a:xfrm>
        </p:spPr>
        <p:txBody>
          <a:bodyPr>
            <a:noAutofit/>
          </a:bodyPr>
          <a:lstStyle/>
          <a:p>
            <a:r>
              <a:rPr lang="en-US" dirty="0"/>
              <a:t>Data modeling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0E8B-B65F-5001-9970-D4313507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D855C-AC91-7091-2F53-4BF539975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I. Data Modeling</a:t>
            </a:r>
          </a:p>
          <a:p>
            <a:r>
              <a:rPr lang="en-US" sz="2000" dirty="0"/>
              <a:t>II. Data Modeling </a:t>
            </a:r>
            <a:r>
              <a:rPr lang="en-US" sz="2000" dirty="0" err="1"/>
              <a:t>trong</a:t>
            </a:r>
            <a:r>
              <a:rPr lang="en-US" sz="2000" dirty="0"/>
              <a:t> OLTP DB</a:t>
            </a:r>
            <a:br>
              <a:rPr lang="en-US" sz="2000" dirty="0"/>
            </a:br>
            <a:r>
              <a:rPr lang="en-US" sz="2000" dirty="0"/>
              <a:t>	1. ERD</a:t>
            </a:r>
            <a:br>
              <a:rPr lang="en-US" sz="2000" dirty="0"/>
            </a:br>
            <a:r>
              <a:rPr lang="en-US" sz="2000" dirty="0"/>
              <a:t>	2. PK, FK </a:t>
            </a:r>
            <a:r>
              <a:rPr lang="en-US" sz="2000" dirty="0" err="1"/>
              <a:t>và</a:t>
            </a:r>
            <a:r>
              <a:rPr lang="en-US" sz="2000" dirty="0"/>
              <a:t> Constraint</a:t>
            </a:r>
            <a:br>
              <a:rPr lang="en-US" sz="2000" dirty="0"/>
            </a:br>
            <a:r>
              <a:rPr lang="en-US" sz="2000" dirty="0"/>
              <a:t>	3. NF (Normal Forms)</a:t>
            </a:r>
            <a:br>
              <a:rPr lang="en-US" sz="2000" dirty="0"/>
            </a:br>
            <a:r>
              <a:rPr lang="en-US" sz="2000" dirty="0"/>
              <a:t>	4. Soft Delete, Hard Delete, Archive</a:t>
            </a:r>
          </a:p>
          <a:p>
            <a:r>
              <a:rPr lang="en-US" sz="2000" dirty="0"/>
              <a:t>III. Data Modeling </a:t>
            </a:r>
            <a:r>
              <a:rPr lang="en-US" sz="2000" dirty="0" err="1"/>
              <a:t>trong</a:t>
            </a:r>
            <a:r>
              <a:rPr lang="en-US" sz="2000" dirty="0"/>
              <a:t> Data Warehouse</a:t>
            </a:r>
            <a:br>
              <a:rPr lang="en-US" sz="2000" dirty="0"/>
            </a:br>
            <a:r>
              <a:rPr lang="en-US" sz="2000" dirty="0"/>
              <a:t>	1. Dimension/Fact Table, Grain</a:t>
            </a:r>
            <a:br>
              <a:rPr lang="en-US" sz="2000" dirty="0"/>
            </a:br>
            <a:r>
              <a:rPr lang="en-US" sz="2000" dirty="0"/>
              <a:t>	2. Star Schema </a:t>
            </a:r>
            <a:r>
              <a:rPr lang="en-US" sz="2000" dirty="0" err="1"/>
              <a:t>và</a:t>
            </a:r>
            <a:r>
              <a:rPr lang="en-US" sz="2000" dirty="0"/>
              <a:t> Snowflake Schema</a:t>
            </a:r>
          </a:p>
          <a:p>
            <a:r>
              <a:rPr lang="en-US" sz="2000" dirty="0"/>
              <a:t>IV. Data Modeling </a:t>
            </a:r>
            <a:r>
              <a:rPr lang="en-US" sz="2000" dirty="0" err="1"/>
              <a:t>trong</a:t>
            </a:r>
            <a:r>
              <a:rPr lang="en-US" sz="2000" dirty="0"/>
              <a:t> NoSQL</a:t>
            </a:r>
            <a:br>
              <a:rPr lang="en-ID" sz="2000" dirty="0"/>
            </a:br>
            <a:r>
              <a:rPr lang="en-ID" sz="2000" dirty="0"/>
              <a:t>	1. Denormalization</a:t>
            </a:r>
            <a:br>
              <a:rPr lang="en-ID" sz="2000" dirty="0"/>
            </a:br>
            <a:r>
              <a:rPr lang="en-ID" sz="2000" dirty="0"/>
              <a:t>	2. Embedded Document</a:t>
            </a:r>
            <a:br>
              <a:rPr lang="en-ID" sz="2000" dirty="0"/>
            </a:br>
            <a:r>
              <a:rPr lang="en-ID" sz="2000" dirty="0"/>
              <a:t>	3. Reference Document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708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B2D4-A07E-31C4-DF6F-062EC987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2AAA4-9680-4F1C-861E-433D5A2C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5" cy="4343400"/>
          </a:xfrm>
        </p:spPr>
        <p:txBody>
          <a:bodyPr/>
          <a:lstStyle/>
          <a:p>
            <a:r>
              <a:rPr lang="en-ID" dirty="0"/>
              <a:t>Data </a:t>
            </a:r>
            <a:r>
              <a:rPr lang="en-ID" dirty="0" err="1"/>
              <a:t>Modeling</a:t>
            </a:r>
            <a:r>
              <a:rPr lang="en-ID" dirty="0"/>
              <a:t> (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, </a:t>
            </a:r>
            <a:r>
              <a:rPr lang="en-ID" dirty="0" err="1"/>
              <a:t>sắp</a:t>
            </a:r>
            <a:r>
              <a:rPr lang="en-ID" dirty="0"/>
              <a:t> </a:t>
            </a:r>
            <a:r>
              <a:rPr lang="en-ID" dirty="0" err="1"/>
              <a:t>xếp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biểu</a:t>
            </a:r>
            <a:r>
              <a:rPr lang="en-ID" dirty="0"/>
              <a:t> </a:t>
            </a:r>
            <a:r>
              <a:rPr lang="en-ID" dirty="0" err="1"/>
              <a:t>diễn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nhằm</a:t>
            </a:r>
            <a:r>
              <a:rPr lang="en-ID" dirty="0"/>
              <a:t> </a:t>
            </a:r>
            <a:r>
              <a:rPr lang="en-ID" dirty="0" err="1"/>
              <a:t>xác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,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chi </a:t>
            </a:r>
            <a:r>
              <a:rPr lang="en-ID" dirty="0" err="1"/>
              <a:t>tiết</a:t>
            </a:r>
            <a:r>
              <a:rPr lang="en-ID" dirty="0"/>
              <a:t>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ngôi</a:t>
            </a:r>
            <a:r>
              <a:rPr lang="en-ID" dirty="0"/>
              <a:t> </a:t>
            </a:r>
            <a:r>
              <a:rPr lang="en-ID" dirty="0" err="1"/>
              <a:t>nhà</a:t>
            </a:r>
            <a:r>
              <a:rPr lang="en-ID" dirty="0"/>
              <a:t>.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làm</a:t>
            </a:r>
            <a:r>
              <a:rPr lang="en-ID" dirty="0"/>
              <a:t> 3 </a:t>
            </a:r>
            <a:r>
              <a:rPr lang="en-ID" dirty="0" err="1"/>
              <a:t>giai</a:t>
            </a:r>
            <a:r>
              <a:rPr lang="en-ID" dirty="0"/>
              <a:t> </a:t>
            </a:r>
            <a:r>
              <a:rPr lang="en-ID" dirty="0" err="1"/>
              <a:t>đoạn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Khái</a:t>
            </a:r>
            <a:r>
              <a:rPr lang="en-ID" dirty="0"/>
              <a:t> </a:t>
            </a:r>
            <a:r>
              <a:rPr lang="en-ID" dirty="0" err="1"/>
              <a:t>niệm</a:t>
            </a:r>
            <a:r>
              <a:rPr lang="en-ID" dirty="0"/>
              <a:t> (Conceptual Data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Logic (Logical Data Model)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(Physical Data Model)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BBE37-7C5C-75F2-D7B1-331DF4BE3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1" y="3733800"/>
            <a:ext cx="3462582" cy="2953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94B26-1CF3-4398-1708-DE334362A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595" y="3332780"/>
            <a:ext cx="3357447" cy="3357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1E3F9A-EB54-12D5-7A33-AEDC8F825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42" y="2841498"/>
            <a:ext cx="4399758" cy="384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B571-C998-C7F4-2DDE-4EBF7753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oltp</a:t>
            </a:r>
            <a:r>
              <a:rPr lang="en-US" dirty="0"/>
              <a:t> </a:t>
            </a:r>
            <a:r>
              <a:rPr lang="en-US" dirty="0" err="1"/>
              <a:t>db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8FC50-F397-4E07-2C19-C6F84A34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ERD (Entity-Relationship Diagram), hay </a:t>
            </a:r>
            <a:r>
              <a:rPr lang="en-ID" dirty="0" err="1"/>
              <a:t>sơ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,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tả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</a:t>
            </a:r>
            <a:r>
              <a:rPr lang="en-ID" dirty="0" err="1"/>
              <a:t>Đây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nhà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triển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dung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thế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.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sơ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ERD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chỉnh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3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(Entity)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(Attribute)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Mối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(Relationship)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6D6AD-E121-577E-617F-DF8C75F6D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303" y="2819400"/>
            <a:ext cx="6858000" cy="3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9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7565-D00B-39E3-06D9-77EE0CB02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</a:t>
            </a:r>
            <a:r>
              <a:rPr lang="en-US" dirty="0" err="1"/>
              <a:t>và</a:t>
            </a:r>
            <a:r>
              <a:rPr lang="en-US" dirty="0"/>
              <a:t> foreign key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FA6ED-5F30-23C3-AEEC-518D25AE95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2667000"/>
            <a:ext cx="5074920" cy="950701"/>
          </a:xfrm>
        </p:spPr>
        <p:txBody>
          <a:bodyPr/>
          <a:lstStyle/>
          <a:p>
            <a:r>
              <a:rPr lang="en-ID" dirty="0"/>
              <a:t>Primary Key (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(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)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danh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PK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trùng</a:t>
            </a:r>
            <a:r>
              <a:rPr lang="en-ID" dirty="0"/>
              <a:t> </a:t>
            </a:r>
            <a:r>
              <a:rPr lang="en-ID" dirty="0" err="1"/>
              <a:t>lặp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trống</a:t>
            </a:r>
            <a:r>
              <a:rPr lang="en-ID" dirty="0"/>
              <a:t> (NULL).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F09AE7-4EE8-0CDD-2193-C3088EABBE0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2209800"/>
            <a:ext cx="5075237" cy="1310640"/>
          </a:xfrm>
        </p:spPr>
        <p:txBody>
          <a:bodyPr/>
          <a:lstStyle/>
          <a:p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ngoại</a:t>
            </a:r>
            <a:r>
              <a:rPr lang="en-ID" dirty="0"/>
              <a:t> (Foreign Key)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(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tham</a:t>
            </a:r>
            <a:r>
              <a:rPr lang="en-ID" dirty="0"/>
              <a:t> </a:t>
            </a:r>
            <a:r>
              <a:rPr lang="en-ID" dirty="0" err="1"/>
              <a:t>chiếu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(Primary Key)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trì</a:t>
            </a:r>
            <a:r>
              <a:rPr lang="en-ID" dirty="0"/>
              <a:t> </a:t>
            </a:r>
            <a:r>
              <a:rPr lang="en-ID" dirty="0" err="1"/>
              <a:t>mối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BC83B0-2ED8-E139-8BE8-E797BBAED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89" y="3520439"/>
            <a:ext cx="5380892" cy="189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B3861B-6482-7164-E983-6DD0325EA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877" y="3520439"/>
            <a:ext cx="4377420" cy="23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5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6ADECC-AD3D-DE0A-DB74-F6FAC416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CB75B-6268-D977-C541-6C6B0E1A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036479"/>
            <a:ext cx="4111753" cy="1600200"/>
          </a:xfrm>
        </p:spPr>
        <p:txBody>
          <a:bodyPr/>
          <a:lstStyle/>
          <a:p>
            <a:r>
              <a:rPr lang="en-ID" dirty="0"/>
              <a:t>Trong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constraint (</a:t>
            </a:r>
            <a:r>
              <a:rPr lang="en-ID" dirty="0" err="1"/>
              <a:t>ràng</a:t>
            </a:r>
            <a:r>
              <a:rPr lang="en-ID" dirty="0"/>
              <a:t> </a:t>
            </a:r>
            <a:r>
              <a:rPr lang="en-ID" dirty="0" err="1"/>
              <a:t>buộc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tắc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áp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soát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đầu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. </a:t>
            </a:r>
            <a:r>
              <a:rPr lang="en-ID" dirty="0" err="1"/>
              <a:t>Chúng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xác</a:t>
            </a:r>
            <a:r>
              <a:rPr lang="en-ID" dirty="0"/>
              <a:t>,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tin, </a:t>
            </a:r>
            <a:r>
              <a:rPr lang="en-ID" dirty="0" err="1"/>
              <a:t>ngăn</a:t>
            </a:r>
            <a:r>
              <a:rPr lang="en-ID" dirty="0"/>
              <a:t> </a:t>
            </a:r>
            <a:r>
              <a:rPr lang="en-ID" dirty="0" err="1"/>
              <a:t>chặn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nhập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sai</a:t>
            </a:r>
            <a:r>
              <a:rPr lang="en-ID" dirty="0"/>
              <a:t> </a:t>
            </a:r>
            <a:r>
              <a:rPr lang="en-ID" dirty="0" err="1"/>
              <a:t>lệch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lệ</a:t>
            </a:r>
            <a:r>
              <a:rPr lang="en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AB1C0-70D5-CF53-6F28-7422640C4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257" y="1219200"/>
            <a:ext cx="6406046" cy="523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5A51-C325-474A-2E97-6A7324D8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Form (NF)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0C9C4-8B8F-A420-D05D-6AC3D0BE4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1720" y="3067741"/>
            <a:ext cx="5404103" cy="1600200"/>
          </a:xfrm>
        </p:spPr>
        <p:txBody>
          <a:bodyPr/>
          <a:lstStyle/>
          <a:p>
            <a:r>
              <a:rPr lang="en-ID" dirty="0"/>
              <a:t>Normal Form (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tắc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.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tổ</a:t>
            </a:r>
            <a:r>
              <a:rPr lang="en-ID" dirty="0"/>
              <a:t> </a:t>
            </a:r>
            <a:r>
              <a:rPr lang="en-ID" dirty="0" err="1"/>
              <a:t>chức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rã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</a:t>
            </a:r>
            <a:r>
              <a:rPr lang="en-ID" dirty="0" err="1"/>
              <a:t>nhằm</a:t>
            </a:r>
            <a:r>
              <a:rPr lang="en-ID" dirty="0"/>
              <a:t> </a:t>
            </a:r>
            <a:r>
              <a:rPr lang="en-ID" dirty="0" err="1"/>
              <a:t>giảm</a:t>
            </a:r>
            <a:r>
              <a:rPr lang="en-ID" dirty="0"/>
              <a:t> </a:t>
            </a:r>
            <a:r>
              <a:rPr lang="en-ID" dirty="0" err="1"/>
              <a:t>thiểu</a:t>
            </a:r>
            <a:r>
              <a:rPr lang="en-ID" dirty="0"/>
              <a:t> </a:t>
            </a:r>
            <a:r>
              <a:rPr lang="en-ID" dirty="0" err="1"/>
              <a:t>dư</a:t>
            </a:r>
            <a:r>
              <a:rPr lang="en-ID" dirty="0"/>
              <a:t> </a:t>
            </a:r>
            <a:r>
              <a:rPr lang="en-ID" dirty="0" err="1"/>
              <a:t>thừa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tránh</a:t>
            </a:r>
            <a:r>
              <a:rPr lang="en-ID" dirty="0"/>
              <a:t> </a:t>
            </a:r>
            <a:r>
              <a:rPr lang="en-ID" dirty="0" err="1"/>
              <a:t>dị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.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đi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thấp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,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đạt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đạt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thấp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C7433-C5C1-2086-902A-D8A8F030A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93962"/>
            <a:ext cx="4206676" cy="454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1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56C6-FC3C-2F6F-2F97-048C05E1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Delete </a:t>
            </a:r>
            <a:r>
              <a:rPr lang="en-US" dirty="0" err="1"/>
              <a:t>vS</a:t>
            </a:r>
            <a:r>
              <a:rPr lang="en-US" dirty="0"/>
              <a:t> hard delete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9D511-F089-2D17-3895-6AC082C69BB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D" dirty="0"/>
              <a:t>Soft Delete (</a:t>
            </a:r>
            <a:r>
              <a:rPr lang="en-ID" dirty="0" err="1"/>
              <a:t>xóa</a:t>
            </a:r>
            <a:r>
              <a:rPr lang="en-ID" dirty="0"/>
              <a:t> </a:t>
            </a:r>
            <a:r>
              <a:rPr lang="en-ID" dirty="0" err="1"/>
              <a:t>mềm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phương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xóa</a:t>
            </a:r>
            <a:r>
              <a:rPr lang="en-ID" dirty="0"/>
              <a:t> </a:t>
            </a:r>
            <a:r>
              <a:rPr lang="en-ID" dirty="0" err="1"/>
              <a:t>vĩnh</a:t>
            </a:r>
            <a:r>
              <a:rPr lang="en-ID" dirty="0"/>
              <a:t> </a:t>
            </a:r>
            <a:r>
              <a:rPr lang="en-ID" dirty="0" err="1"/>
              <a:t>viễn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yêu</a:t>
            </a:r>
            <a:r>
              <a:rPr lang="en-ID" dirty="0"/>
              <a:t> </a:t>
            </a:r>
            <a:r>
              <a:rPr lang="en-ID" dirty="0" err="1"/>
              <a:t>cầu</a:t>
            </a:r>
            <a:r>
              <a:rPr lang="en-ID" dirty="0"/>
              <a:t>,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đánh</a:t>
            </a:r>
            <a:r>
              <a:rPr lang="en-ID" dirty="0"/>
              <a:t> </a:t>
            </a:r>
            <a:r>
              <a:rPr lang="en-ID" dirty="0" err="1"/>
              <a:t>dấu</a:t>
            </a:r>
            <a:r>
              <a:rPr lang="en-ID" dirty="0"/>
              <a:t> </a:t>
            </a:r>
            <a:r>
              <a:rPr lang="en-ID" dirty="0" err="1"/>
              <a:t>trạng</a:t>
            </a:r>
            <a:r>
              <a:rPr lang="en-ID" dirty="0"/>
              <a:t> </a:t>
            </a:r>
            <a:r>
              <a:rPr lang="en-ID" dirty="0" err="1"/>
              <a:t>thái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vẫn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nhưng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ẩn</a:t>
            </a:r>
            <a:r>
              <a:rPr lang="en-ID" dirty="0"/>
              <a:t> </a:t>
            </a:r>
            <a:r>
              <a:rPr lang="en-ID" dirty="0" err="1"/>
              <a:t>khỏi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diện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E55122-55FE-2818-430A-76F7B8BCE01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D" dirty="0"/>
              <a:t>Hard Delete (</a:t>
            </a:r>
            <a:r>
              <a:rPr lang="en-ID" dirty="0" err="1"/>
              <a:t>Xóa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xóa</a:t>
            </a:r>
            <a:r>
              <a:rPr lang="en-ID" dirty="0"/>
              <a:t> </a:t>
            </a:r>
            <a:r>
              <a:rPr lang="en-ID" dirty="0" err="1"/>
              <a:t>vĩnh</a:t>
            </a:r>
            <a:r>
              <a:rPr lang="en-ID" dirty="0"/>
              <a:t> </a:t>
            </a:r>
            <a:r>
              <a:rPr lang="en-ID" dirty="0" err="1"/>
              <a:t>viễn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khỏi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Sau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,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mất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,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phóng</a:t>
            </a:r>
            <a:r>
              <a:rPr lang="en-ID" dirty="0"/>
              <a:t> dung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khôi</a:t>
            </a:r>
            <a:r>
              <a:rPr lang="en-ID" dirty="0"/>
              <a:t> </a:t>
            </a:r>
            <a:r>
              <a:rPr lang="en-ID" dirty="0" err="1"/>
              <a:t>phục</a:t>
            </a:r>
            <a:r>
              <a:rPr lang="en-ID" dirty="0"/>
              <a:t> </a:t>
            </a:r>
            <a:r>
              <a:rPr lang="en-ID" dirty="0" err="1"/>
              <a:t>trừ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(backup)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93C10-2687-EDF5-7B9C-8C0CEB84A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32" y="3124200"/>
            <a:ext cx="6427126" cy="350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1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1F00-47D2-82B0-DC15-B533EE85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archive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9BDE2B-C9E7-C1BD-BB26-75B6CF9EC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Trong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Archive (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di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cũ</a:t>
            </a:r>
            <a:r>
              <a:rPr lang="en-ID" dirty="0"/>
              <a:t>, </a:t>
            </a:r>
            <a:r>
              <a:rPr lang="en-ID" dirty="0" err="1"/>
              <a:t>ít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khỏi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.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đích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phóng</a:t>
            </a:r>
            <a:r>
              <a:rPr lang="en-ID" dirty="0"/>
              <a:t> dung </a:t>
            </a:r>
            <a:r>
              <a:rPr lang="en-ID" dirty="0" err="1"/>
              <a:t>lượng</a:t>
            </a:r>
            <a:r>
              <a:rPr lang="en-ID" dirty="0"/>
              <a:t>, </a:t>
            </a:r>
            <a:r>
              <a:rPr lang="en-ID" dirty="0" err="1"/>
              <a:t>cải</a:t>
            </a:r>
            <a:r>
              <a:rPr lang="en-ID" dirty="0"/>
              <a:t> </a:t>
            </a:r>
            <a:r>
              <a:rPr lang="en-ID" dirty="0" err="1"/>
              <a:t>thiện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chi </a:t>
            </a:r>
            <a:r>
              <a:rPr lang="en-ID" dirty="0" err="1"/>
              <a:t>phí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,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vẫn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đích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89EB4-12F7-4B96-6456-D2345E8C4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81" y="2590800"/>
            <a:ext cx="7835187" cy="41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21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22E07-6319-5D8D-8A42-DA288467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table vs fact table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5A761E-9750-42F4-53E6-F9863A99F8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918573" y="2887980"/>
            <a:ext cx="2663825" cy="1844039"/>
          </a:xfrm>
        </p:spPr>
        <p:txBody>
          <a:bodyPr/>
          <a:lstStyle/>
          <a:p>
            <a:r>
              <a:rPr lang="en-ID" dirty="0"/>
              <a:t>Fact Table (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tâm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kinh</a:t>
            </a:r>
            <a:r>
              <a:rPr lang="en-ID" dirty="0"/>
              <a:t> </a:t>
            </a:r>
            <a:r>
              <a:rPr lang="en-ID" dirty="0" err="1"/>
              <a:t>doanh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đo</a:t>
            </a:r>
            <a:r>
              <a:rPr lang="en-ID" dirty="0"/>
              <a:t> </a:t>
            </a:r>
            <a:r>
              <a:rPr lang="en-ID" dirty="0" err="1"/>
              <a:t>lường</a:t>
            </a:r>
            <a:r>
              <a:rPr lang="en-ID" dirty="0"/>
              <a:t> (</a:t>
            </a:r>
            <a:r>
              <a:rPr lang="en-ID" dirty="0" err="1"/>
              <a:t>doanh</a:t>
            </a:r>
            <a:r>
              <a:rPr lang="en-ID" dirty="0"/>
              <a:t> </a:t>
            </a:r>
            <a:r>
              <a:rPr lang="en-ID" dirty="0" err="1"/>
              <a:t>thu</a:t>
            </a:r>
            <a:r>
              <a:rPr lang="en-ID" dirty="0"/>
              <a:t>,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bán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)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ngoại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chiều</a:t>
            </a:r>
            <a:r>
              <a:rPr lang="en-ID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936F2-AEF8-943E-B656-9C536C8FA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6549" y="2659379"/>
            <a:ext cx="2663825" cy="2301240"/>
          </a:xfrm>
        </p:spPr>
        <p:txBody>
          <a:bodyPr/>
          <a:lstStyle/>
          <a:p>
            <a:r>
              <a:rPr lang="en-ID" dirty="0"/>
              <a:t>Dimension table (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chiều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tả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</a:t>
            </a:r>
            <a:r>
              <a:rPr lang="en-ID" dirty="0" err="1"/>
              <a:t>cảnh</a:t>
            </a:r>
            <a:r>
              <a:rPr lang="en-ID" dirty="0"/>
              <a:t> (ai, </a:t>
            </a:r>
            <a:r>
              <a:rPr lang="en-ID" dirty="0" err="1"/>
              <a:t>cái</a:t>
            </a:r>
            <a:r>
              <a:rPr lang="en-ID" dirty="0"/>
              <a:t> </a:t>
            </a:r>
            <a:r>
              <a:rPr lang="en-ID" dirty="0" err="1"/>
              <a:t>gì</a:t>
            </a:r>
            <a:r>
              <a:rPr lang="en-ID" dirty="0"/>
              <a:t>, ở </a:t>
            </a:r>
            <a:r>
              <a:rPr lang="en-ID" dirty="0" err="1"/>
              <a:t>đâu</a:t>
            </a:r>
            <a:r>
              <a:rPr lang="en-ID" dirty="0"/>
              <a:t>,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)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kho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(data warehouse).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“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nghĩa</a:t>
            </a:r>
            <a:r>
              <a:rPr lang="en-ID" dirty="0"/>
              <a:t>”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báo</a:t>
            </a:r>
            <a:r>
              <a:rPr lang="en-ID" dirty="0"/>
              <a:t> </a:t>
            </a:r>
            <a:r>
              <a:rPr lang="en-ID" dirty="0" err="1"/>
              <a:t>cáo</a:t>
            </a:r>
            <a:r>
              <a:rPr lang="en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92D6D-E900-70E2-77C5-CC6A62E6A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583" y="1982723"/>
            <a:ext cx="5293781" cy="41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2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25A3D-41A5-3740-B13C-4B3A40E5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Grain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06909-C7E4-54E9-7B9D-7FDA76C0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Grain (</a:t>
            </a:r>
            <a:r>
              <a:rPr lang="en-ID" dirty="0" err="1"/>
              <a:t>độ</a:t>
            </a:r>
            <a:r>
              <a:rPr lang="en-ID" dirty="0"/>
              <a:t> chi </a:t>
            </a:r>
            <a:r>
              <a:rPr lang="en-ID" dirty="0" err="1"/>
              <a:t>tiết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Data Warehouse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mức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cụ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xác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xác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rõ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đại</a:t>
            </a:r>
            <a:r>
              <a:rPr lang="en-ID" dirty="0"/>
              <a:t> </a:t>
            </a:r>
            <a:r>
              <a:rPr lang="en-ID" dirty="0" err="1"/>
              <a:t>diện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cái</a:t>
            </a:r>
            <a:r>
              <a:rPr lang="en-ID" dirty="0"/>
              <a:t> </a:t>
            </a:r>
            <a:r>
              <a:rPr lang="en-ID" dirty="0" err="1"/>
              <a:t>gì</a:t>
            </a:r>
            <a:r>
              <a:rPr lang="en-ID" dirty="0"/>
              <a:t>, </a:t>
            </a:r>
            <a:r>
              <a:rPr lang="en-ID" dirty="0" err="1"/>
              <a:t>ví</a:t>
            </a:r>
            <a:r>
              <a:rPr lang="en-ID" dirty="0"/>
              <a:t> </a:t>
            </a:r>
            <a:r>
              <a:rPr lang="en-ID" dirty="0" err="1"/>
              <a:t>dụ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Grain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(Transaction Grain - </a:t>
            </a:r>
            <a:r>
              <a:rPr lang="en-ID" dirty="0" err="1"/>
              <a:t>mức</a:t>
            </a:r>
            <a:r>
              <a:rPr lang="en-ID" dirty="0"/>
              <a:t> chi </a:t>
            </a:r>
            <a:r>
              <a:rPr lang="en-ID" dirty="0" err="1"/>
              <a:t>tiết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):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sản</a:t>
            </a:r>
            <a:r>
              <a:rPr lang="en-ID" dirty="0"/>
              <a:t> </a:t>
            </a:r>
            <a:r>
              <a:rPr lang="en-ID" dirty="0" err="1"/>
              <a:t>phẩm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 </a:t>
            </a:r>
            <a:r>
              <a:rPr lang="en-ID" dirty="0" err="1"/>
              <a:t>thanh</a:t>
            </a:r>
            <a:r>
              <a:rPr lang="en-ID" dirty="0"/>
              <a:t> </a:t>
            </a:r>
            <a:r>
              <a:rPr lang="en-ID" dirty="0" err="1"/>
              <a:t>toán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Grain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ngày</a:t>
            </a:r>
            <a:r>
              <a:rPr lang="en-ID" dirty="0"/>
              <a:t> (Daily Grain):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doanh</a:t>
            </a:r>
            <a:r>
              <a:rPr lang="en-ID" dirty="0"/>
              <a:t>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sản</a:t>
            </a:r>
            <a:r>
              <a:rPr lang="en-ID" dirty="0"/>
              <a:t> </a:t>
            </a:r>
            <a:r>
              <a:rPr lang="en-ID" dirty="0" err="1"/>
              <a:t>phẩm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ngày</a:t>
            </a:r>
            <a:endParaRPr lang="en-ID" dirty="0"/>
          </a:p>
          <a:p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21AF60-D44E-D497-121E-35FD4D132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856" y="3110456"/>
            <a:ext cx="6275237" cy="374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7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D26C-E5C5-E927-3029-28B5D713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vs snowflake schema</a:t>
            </a:r>
            <a:endParaRPr lang="en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0BDE7A-D210-9726-AD21-0A7BE52FD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128" y="1676400"/>
            <a:ext cx="7582693" cy="485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6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260C-02B3-D351-FC67-965535BB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vault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EB2C-452D-E892-2C1C-BA416766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086100"/>
            <a:ext cx="4492753" cy="1828800"/>
          </a:xfrm>
        </p:spPr>
        <p:txBody>
          <a:bodyPr/>
          <a:lstStyle/>
          <a:p>
            <a:r>
              <a:rPr lang="en-ID" dirty="0"/>
              <a:t>Data Vault (</a:t>
            </a:r>
            <a:r>
              <a:rPr lang="en-ID" dirty="0" err="1"/>
              <a:t>hầm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phương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luận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sáng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bởi</a:t>
            </a:r>
            <a:r>
              <a:rPr lang="en-ID" dirty="0"/>
              <a:t> Dan Linstedt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năm</a:t>
            </a:r>
            <a:r>
              <a:rPr lang="en-ID" dirty="0"/>
              <a:t> 2000.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kho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doanh</a:t>
            </a:r>
            <a:r>
              <a:rPr lang="en-ID" dirty="0"/>
              <a:t> </a:t>
            </a:r>
            <a:r>
              <a:rPr lang="en-ID" dirty="0" err="1"/>
              <a:t>nghiệp</a:t>
            </a:r>
            <a:r>
              <a:rPr lang="en-ID" dirty="0"/>
              <a:t> (Enterprise Data Warehouse - EDW)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,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đại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Data Vault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làm</a:t>
            </a:r>
            <a:r>
              <a:rPr lang="en-ID" dirty="0"/>
              <a:t> 3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, bao </a:t>
            </a:r>
            <a:r>
              <a:rPr lang="en-ID" dirty="0" err="1"/>
              <a:t>gồm</a:t>
            </a:r>
            <a:r>
              <a:rPr lang="en-ID" dirty="0"/>
              <a:t> Hub, Link </a:t>
            </a:r>
            <a:r>
              <a:rPr lang="en-ID" dirty="0" err="1"/>
              <a:t>và</a:t>
            </a:r>
            <a:r>
              <a:rPr lang="en-ID" dirty="0"/>
              <a:t> Satellite.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8E861-1CB0-4BAA-C22B-E75D336F4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180881"/>
            <a:ext cx="6076950" cy="363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5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D111-E257-7DB1-2B56-BE02A045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denormalization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CEBF9-F819-506E-68AD-DAE84687C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7" y="3276599"/>
            <a:ext cx="4870702" cy="1447800"/>
          </a:xfrm>
        </p:spPr>
        <p:txBody>
          <a:bodyPr/>
          <a:lstStyle/>
          <a:p>
            <a:r>
              <a:rPr lang="en-ID" dirty="0"/>
              <a:t>Trong NoSQL, denormalization (phi </a:t>
            </a:r>
            <a:r>
              <a:rPr lang="en-ID" dirty="0" err="1"/>
              <a:t>chuẩn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trùng</a:t>
            </a:r>
            <a:r>
              <a:rPr lang="en-ID" dirty="0"/>
              <a:t> </a:t>
            </a:r>
            <a:r>
              <a:rPr lang="en-ID" dirty="0" err="1"/>
              <a:t>lặp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gộp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/</a:t>
            </a:r>
            <a:r>
              <a:rPr lang="en-ID" dirty="0" err="1"/>
              <a:t>sưu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(collection)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(document)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(Read Performance)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tránh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(JOIN) </a:t>
            </a:r>
            <a:r>
              <a:rPr lang="en-ID" dirty="0" err="1"/>
              <a:t>phức</a:t>
            </a:r>
            <a:r>
              <a:rPr lang="en-ID" dirty="0"/>
              <a:t> </a:t>
            </a:r>
            <a:r>
              <a:rPr lang="en-ID" dirty="0" err="1"/>
              <a:t>tạp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83260-D411-E4A6-0F3B-262F21222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71" y="1992839"/>
            <a:ext cx="5485828" cy="40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8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40D5-6DC6-3CAF-9595-EC64D9C0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Embedded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32D8-B49F-B452-F3D8-95A3E233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Embedded Document (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thấy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MongoDB)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khái</a:t>
            </a:r>
            <a:r>
              <a:rPr lang="en-ID" dirty="0"/>
              <a:t> </a:t>
            </a:r>
            <a:r>
              <a:rPr lang="en-ID" dirty="0" err="1"/>
              <a:t>niệm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chỉnh</a:t>
            </a:r>
            <a:r>
              <a:rPr lang="en-ID" dirty="0"/>
              <a:t> (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mảng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lồng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trường</a:t>
            </a:r>
            <a:r>
              <a:rPr lang="en-ID" dirty="0"/>
              <a:t> (field)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chia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/collection </a:t>
            </a:r>
            <a:r>
              <a:rPr lang="en-ID" dirty="0" err="1"/>
              <a:t>như</a:t>
            </a:r>
            <a:r>
              <a:rPr lang="en-ID" dirty="0"/>
              <a:t> SQL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, </a:t>
            </a:r>
            <a:r>
              <a:rPr lang="en-ID" dirty="0" err="1"/>
              <a:t>tất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gộp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4621F-FFB4-E996-AB1D-0488024AA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664857"/>
            <a:ext cx="5791200" cy="391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26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5CCE-ACA5-5AA6-98E3-9E88D669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Reference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3650-B16F-46B7-4B4D-F1EA76856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Trong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NoSQL Reference (</a:t>
            </a:r>
            <a:r>
              <a:rPr lang="en-ID" dirty="0" err="1"/>
              <a:t>tham</a:t>
            </a:r>
            <a:r>
              <a:rPr lang="en-ID" dirty="0"/>
              <a:t> </a:t>
            </a:r>
            <a:r>
              <a:rPr lang="en-ID" dirty="0" err="1"/>
              <a:t>chiếu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mối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ID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. </a:t>
            </a:r>
            <a:r>
              <a:rPr lang="en-ID" dirty="0" err="1"/>
              <a:t>Khái</a:t>
            </a:r>
            <a:r>
              <a:rPr lang="en-ID" dirty="0"/>
              <a:t> </a:t>
            </a:r>
            <a:r>
              <a:rPr lang="en-ID" dirty="0" err="1"/>
              <a:t>niệm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ngoại</a:t>
            </a:r>
            <a:r>
              <a:rPr lang="en-ID" dirty="0"/>
              <a:t> (Foreign Key)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SQL.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BA685-CBED-3882-3C43-256EF7CFE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225" y="2667000"/>
            <a:ext cx="62865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8575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{7DAA69D8-4081-41AA-AF90-59615CB54555}0f45c1b8-b519-4737-8f12-a18148944ef7-TFfcaeb239-e0ad-43c4-9739-4084ddd7c62fe496f549_win32</Template>
  <TotalTime>83</TotalTime>
  <Words>1318</Words>
  <Application>Microsoft Office PowerPoint</Application>
  <PresentationFormat>Widescreen</PresentationFormat>
  <Paragraphs>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Bahnschrift SemiLight</vt:lpstr>
      <vt:lpstr>Blockwork elegance</vt:lpstr>
      <vt:lpstr>Data modeling</vt:lpstr>
      <vt:lpstr>MỤc lục</vt:lpstr>
      <vt:lpstr>Data modeling</vt:lpstr>
      <vt:lpstr>Data modeling trong oltp db</vt:lpstr>
      <vt:lpstr>Primary key và foreign key</vt:lpstr>
      <vt:lpstr>constraint</vt:lpstr>
      <vt:lpstr>Normal Form (NF)</vt:lpstr>
      <vt:lpstr>SOFT Delete vS hard delete</vt:lpstr>
      <vt:lpstr>archive</vt:lpstr>
      <vt:lpstr>dimension table vs fact table</vt:lpstr>
      <vt:lpstr>Grain</vt:lpstr>
      <vt:lpstr>Star vs snowflake schema</vt:lpstr>
      <vt:lpstr>Data vault</vt:lpstr>
      <vt:lpstr>denormalization</vt:lpstr>
      <vt:lpstr>Embedded Document</vt:lpstr>
      <vt:lpstr>Reference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1</cp:revision>
  <dcterms:created xsi:type="dcterms:W3CDTF">2026-07-14T02:17:43Z</dcterms:created>
  <dcterms:modified xsi:type="dcterms:W3CDTF">2026-07-14T03:41:37Z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